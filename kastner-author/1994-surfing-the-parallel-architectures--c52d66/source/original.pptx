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vml" ContentType="application/vnd.openxmlformats-officedocument.vmlDrawing"/>
  <Default Extension="bin" ContentType="application/vnd.openxmlformats-officedocument.oleObject"/>
  <Default Extension="fntdata" ContentType="application/x-fontdata"/>
  <Default Extension="wmf" ContentType="image/x-wmf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0.6-->
<p:presentation xmlns:r="http://schemas.openxmlformats.org/officeDocument/2006/relationships" xmlns:a="http://schemas.openxmlformats.org/drawingml/2006/main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9144000" cy="6858000" type="letter"/>
  <p:notesSz cx="6858000" cy="9144000"/>
  <p:embeddedFontLst>
    <p:embeddedFont>
      <p:font typeface="Book Antiqua" panose="02040602050305030304" pitchFamily="18" charset="0"/>
      <p:regular r:id="rId46"/>
      <p:bold r:id="rId47"/>
      <p:italic r:id="rId48"/>
      <p:boldItalic r:id="rId49"/>
    </p:embeddedFont>
  </p:embeddedFontLst>
  <p:custDataLst>
    <p:tags r:id="rId45"/>
  </p:custDataLst>
  <p:defaultTextStyle>
    <a:defPPr>
      <a:defRPr lang="en-US"/>
    </a:defPPr>
    <a:lvl1pPr marL="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Arial" pitchFamily="34" charset="0"/>
      </a:defRPr>
    </a:lvl1pPr>
    <a:lvl2pPr marL="4572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Arial" pitchFamily="34" charset="0"/>
      </a:defRPr>
    </a:lvl2pPr>
    <a:lvl3pPr marL="9144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Arial" pitchFamily="34" charset="0"/>
      </a:defRPr>
    </a:lvl3pPr>
    <a:lvl4pPr marL="13716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Arial" pitchFamily="34" charset="0"/>
      </a:defRPr>
    </a:lvl4pPr>
    <a:lvl5pPr marL="18288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Arial" pitchFamily="34" charset="0"/>
      </a:defRPr>
    </a:lvl5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0" y="0"/>
      </p:cViewPr>
    </p:cSldViewPr>
  </p:slideViewPr>
  <p:notesViewPr>
    <p:cSldViewPr>
      <p:cViewPr varScale="1"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slide" Target="slides/slide26.xml" /><Relationship Id="rId3" Type="http://schemas.openxmlformats.org/officeDocument/2006/relationships/handoutMaster" Target="handoutMasters/handoutMaster1.xml" /><Relationship Id="rId30" Type="http://schemas.openxmlformats.org/officeDocument/2006/relationships/slide" Target="slides/slide27.xml" /><Relationship Id="rId31" Type="http://schemas.openxmlformats.org/officeDocument/2006/relationships/slide" Target="slides/slide28.xml" /><Relationship Id="rId32" Type="http://schemas.openxmlformats.org/officeDocument/2006/relationships/slide" Target="slides/slide29.xml" /><Relationship Id="rId33" Type="http://schemas.openxmlformats.org/officeDocument/2006/relationships/slide" Target="slides/slide30.xml" /><Relationship Id="rId34" Type="http://schemas.openxmlformats.org/officeDocument/2006/relationships/slide" Target="slides/slide31.xml" /><Relationship Id="rId35" Type="http://schemas.openxmlformats.org/officeDocument/2006/relationships/slide" Target="slides/slide32.xml" /><Relationship Id="rId36" Type="http://schemas.openxmlformats.org/officeDocument/2006/relationships/slide" Target="slides/slide33.xml" /><Relationship Id="rId37" Type="http://schemas.openxmlformats.org/officeDocument/2006/relationships/slide" Target="slides/slide34.xml" /><Relationship Id="rId38" Type="http://schemas.openxmlformats.org/officeDocument/2006/relationships/slide" Target="slides/slide35.xml" /><Relationship Id="rId39" Type="http://schemas.openxmlformats.org/officeDocument/2006/relationships/slide" Target="slides/slide36.xml" /><Relationship Id="rId4" Type="http://schemas.openxmlformats.org/officeDocument/2006/relationships/slide" Target="slides/slide1.xml" /><Relationship Id="rId40" Type="http://schemas.openxmlformats.org/officeDocument/2006/relationships/slide" Target="slides/slide37.xml" /><Relationship Id="rId41" Type="http://schemas.openxmlformats.org/officeDocument/2006/relationships/slide" Target="slides/slide38.xml" /><Relationship Id="rId42" Type="http://schemas.openxmlformats.org/officeDocument/2006/relationships/slide" Target="slides/slide39.xml" /><Relationship Id="rId43" Type="http://schemas.openxmlformats.org/officeDocument/2006/relationships/slide" Target="slides/slide40.xml" /><Relationship Id="rId44" Type="http://schemas.openxmlformats.org/officeDocument/2006/relationships/slide" Target="slides/slide41.xml" /><Relationship Id="rId45" Type="http://schemas.openxmlformats.org/officeDocument/2006/relationships/tags" Target="tags/tag1.xml" /><Relationship Id="rId46" Type="http://schemas.openxmlformats.org/officeDocument/2006/relationships/font" Target="fonts/font1.fntdata" /><Relationship Id="rId47" Type="http://schemas.openxmlformats.org/officeDocument/2006/relationships/font" Target="fonts/font2.fntdata" /><Relationship Id="rId48" Type="http://schemas.openxmlformats.org/officeDocument/2006/relationships/font" Target="fonts/font3.fntdata" /><Relationship Id="rId49" Type="http://schemas.openxmlformats.org/officeDocument/2006/relationships/font" Target="fonts/font4.fntdata" /><Relationship Id="rId5" Type="http://schemas.openxmlformats.org/officeDocument/2006/relationships/slide" Target="slides/slide2.xml" /><Relationship Id="rId50" Type="http://schemas.openxmlformats.org/officeDocument/2006/relationships/presProps" Target="presProps.xml" /><Relationship Id="rId51" Type="http://schemas.openxmlformats.org/officeDocument/2006/relationships/viewProps" Target="viewProps.xml" /><Relationship Id="rId52" Type="http://schemas.openxmlformats.org/officeDocument/2006/relationships/theme" Target="theme/theme1.xml" /><Relationship Id="rId53" Type="http://schemas.openxmlformats.org/officeDocument/2006/relationships/tableStyles" Target="tableStyles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drawings/_rels/vmlDrawing1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wmf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/>
      <p:sp>
        <p:nvSpPr>
          <p:cNvPr id="3074" name=""/>
          <p:cNvSpPr/>
          <p:nvPr/>
        </p:nvSpPr>
        <p:spPr>
          <a:xfrm>
            <a:off x="3057525" y="8710613"/>
            <a:ext cx="742950" cy="2540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87313" tIns="44450" rIns="87313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ctr" defTabSz="868362" eaLnBrk="0" hangingPunct="0">
              <a:lnSpc>
                <a:spcPct val="90000"/>
              </a:lnSpc>
            </a:pPr>
            <a:r>
              <a:rPr sz="1200"/>
              <a:t>Page </a:t>
            </a:r>
            <a:fld id="{43CCED4F-7073-46CC-B37A-329B5B73B429}" type="slidenum">
              <a:rPr sz="1200"/>
              <a:t>*</a:t>
            </a:fld>
            <a:endParaRPr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/>
      <p:sp>
        <p:nvSpPr>
          <p:cNvPr id="2050" name="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>
            <a:noAutofit/>
          </a:bodyPr>
          <a:lstStyle>
            <a:lvl1pPr marL="0" indent="0" algn="l" defTabSz="914400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457200" indent="0" algn="l" defTabSz="914400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914400" indent="0" algn="l" defTabSz="914400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371600" indent="0" algn="l" defTabSz="914400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1828800" indent="0" algn="l" defTabSz="914400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Body Text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2051" name=""/>
          <p:cNvSpPr>
            <a:spLocks noRot="1" noTextEdit="1"/>
          </p:cNvSpPr>
          <p:nvPr>
            <p:ph type="sldImg" idx="2"/>
          </p:nvPr>
        </p:nvSpPr>
        <p:spPr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</p:sp>
      <p:sp>
        <p:nvSpPr>
          <p:cNvPr id="2052" name=""/>
          <p:cNvSpPr/>
          <p:nvPr/>
        </p:nvSpPr>
        <p:spPr>
          <a:xfrm>
            <a:off x="3057525" y="8710613"/>
            <a:ext cx="742950" cy="2540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87313" tIns="44450" rIns="87313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ctr" defTabSz="868362" eaLnBrk="0" hangingPunct="0">
              <a:lnSpc>
                <a:spcPct val="90000"/>
              </a:lnSpc>
            </a:pPr>
            <a:r>
              <a:rPr sz="1200"/>
              <a:t>Page </a:t>
            </a:r>
            <a:fld id="{04AE9935-EC94-4C32-B917-7841FD0196A7}" type="slidenum">
              <a:rPr sz="1200"/>
              <a:t>*</a:t>
            </a:fld>
            <a:endParaRPr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/>
      <p:sp>
        <p:nvSpPr>
          <p:cNvPr id="1026" name=""/>
          <p:cNvSpPr/>
          <p:nvPr/>
        </p:nvSpPr>
        <p:spPr>
          <a:xfrm>
            <a:off x="0" y="0"/>
            <a:ext cx="9132888" cy="1543050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</a:ln>
          <a:effectLst/>
        </p:spPr>
      </p:sp>
      <p:sp>
        <p:nvSpPr>
          <p:cNvPr id="1027" name=""/>
          <p:cNvSpPr/>
          <p:nvPr/>
        </p:nvSpPr>
        <p:spPr>
          <a:xfrm>
            <a:off x="0" y="1543050"/>
            <a:ext cx="9132888" cy="38100"/>
          </a:xfrm>
          <a:prstGeom prst="rect">
            <a:avLst/>
          </a:prstGeom>
          <a:solidFill>
            <a:schemeClr val="tx2"/>
          </a:solidFill>
          <a:ln w="12700">
            <a:noFill/>
            <a:miter lim="800000"/>
          </a:ln>
          <a:effectLst/>
        </p:spPr>
      </p:sp>
      <p:cxnSp>
        <p:nvCxnSpPr>
          <p:cNvPr id="1028" name=""/>
          <p:cNvCxnSpPr/>
          <p:nvPr/>
        </p:nvCxnSpPr>
        <p:spPr>
          <a:xfrm>
            <a:off x="0" y="1638300"/>
            <a:ext cx="9132888" cy="0"/>
          </a:xfrm>
          <a:prstGeom prst="line">
            <a:avLst/>
          </a:prstGeom>
          <a:noFill/>
          <a:ln w="12700">
            <a:solidFill>
              <a:schemeClr val="hlink"/>
            </a:solidFill>
            <a:miter lim="800000"/>
          </a:ln>
          <a:effectLst/>
        </p:spPr>
      </p:cxnSp>
      <p:sp>
        <p:nvSpPr>
          <p:cNvPr id="1029" name=""/>
          <p:cNvSpPr>
            <a:spLocks noGrp="1"/>
          </p:cNvSpPr>
          <p:nvPr>
            <p:ph type="title"/>
          </p:nvPr>
        </p:nvSpPr>
        <p:spPr>
          <a:xfrm>
            <a:off x="971550" y="323850"/>
            <a:ext cx="7162800" cy="11430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Slide Title</a:t>
            </a:r>
          </a:p>
        </p:txBody>
      </p:sp>
      <p:sp>
        <p:nvSpPr>
          <p:cNvPr id="1030" name=""/>
          <p:cNvSpPr>
            <a:spLocks noGrp="1"/>
          </p:cNvSpPr>
          <p:nvPr>
            <p:ph type="body" idx="1"/>
          </p:nvPr>
        </p:nvSpPr>
        <p:spPr>
          <a:xfrm>
            <a:off x="990600" y="1981200"/>
            <a:ext cx="7162800" cy="41148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Body Text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iming/>
  <p:txStyles>
    <p:titleStyle>
      <a:lvl1pPr marL="0" indent="0" algn="ctr" defTabSz="9144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3600" b="1" i="0" u="none" baseline="0">
          <a:solidFill>
            <a:schemeClr val="tx2"/>
          </a:solidFill>
          <a:effectLst/>
          <a:latin typeface="Book Antiqua" pitchFamily="18" charset="0"/>
          <a:ea typeface="Arial" pitchFamily="34" charset="0"/>
        </a:defRPr>
      </a:lvl1pPr>
    </p:titleStyle>
    <p:bodyStyle>
      <a:lvl1pPr marL="285750" indent="-285750" algn="l" defTabSz="91440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Tx/>
        <a:buSzTx/>
        <a:buFontTx/>
        <a:buChar char="•"/>
        <a:defRPr kumimoji="0" sz="2400" b="1" i="0" u="none" baseline="0">
          <a:solidFill>
            <a:schemeClr val="tx1"/>
          </a:solidFill>
          <a:effectLst/>
          <a:latin typeface="Book Antiqua" pitchFamily="18" charset="0"/>
          <a:ea typeface="Arial" pitchFamily="34" charset="0"/>
        </a:defRPr>
      </a:lvl1pPr>
      <a:lvl2pPr marL="685800" indent="-228600" algn="l" defTabSz="91440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Tx/>
        <a:buSzTx/>
        <a:buFontTx/>
        <a:buChar char="–"/>
        <a:defRPr kumimoji="0" sz="1800" b="1" i="0" u="none" baseline="0">
          <a:solidFill>
            <a:schemeClr val="tx1"/>
          </a:solidFill>
          <a:effectLst/>
          <a:latin typeface="Book Antiqua" pitchFamily="18" charset="0"/>
          <a:ea typeface="Arial" pitchFamily="34" charset="0"/>
        </a:defRPr>
      </a:lvl2pPr>
      <a:lvl3pPr marL="1143000" indent="-228600" algn="l" defTabSz="91440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Tx/>
        <a:buSzTx/>
        <a:buFontTx/>
        <a:buChar char="»"/>
        <a:defRPr kumimoji="0" sz="1800" b="1" i="0" u="none" baseline="0">
          <a:solidFill>
            <a:schemeClr val="tx1"/>
          </a:solidFill>
          <a:effectLst/>
          <a:latin typeface="Book Antiqua" pitchFamily="18" charset="0"/>
          <a:ea typeface="Arial" pitchFamily="34" charset="0"/>
        </a:defRPr>
      </a:lvl3pPr>
      <a:lvl4pPr marL="1543050" indent="-171450" algn="l" defTabSz="91440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Tx/>
        <a:buSzTx/>
        <a:buFontTx/>
        <a:buChar char="•"/>
        <a:defRPr kumimoji="0" sz="1400" b="1" i="0" u="none" baseline="0">
          <a:solidFill>
            <a:schemeClr val="tx1"/>
          </a:solidFill>
          <a:effectLst/>
          <a:latin typeface="Book Antiqua" pitchFamily="18" charset="0"/>
          <a:ea typeface="Arial" pitchFamily="34" charset="0"/>
        </a:defRPr>
      </a:lvl4pPr>
      <a:lvl5pPr marL="2000250" indent="-171450" algn="l" defTabSz="91440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Tx/>
        <a:buSzTx/>
        <a:buFontTx/>
        <a:buChar char="–"/>
        <a:defRPr kumimoji="0" sz="1400" b="1" i="0" u="none" baseline="0">
          <a:solidFill>
            <a:schemeClr val="tx1"/>
          </a:solidFill>
          <a:effectLst/>
          <a:latin typeface="Book Antiqua" pitchFamily="18" charset="0"/>
          <a:ea typeface="Arial" pitchFamily="34" charset="0"/>
        </a:defRPr>
      </a:lvl5pPr>
    </p:bodyStyle>
    <p:otherStyle/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wmf" /><Relationship Id="rId3" Type="http://schemas.openxmlformats.org/officeDocument/2006/relationships/image" Target="../media/image2.wmf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wmf" /><Relationship Id="rId3" Type="http://schemas.openxmlformats.org/officeDocument/2006/relationships/image" Target="../media/image2.wmf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oleObject" Target="../embeddings/oleObject1.bin" TargetMode="Internal" /><Relationship Id="rId3" Type="http://schemas.openxmlformats.org/officeDocument/2006/relationships/image" Target="../media/image3.wmf" /><Relationship Id="rId4" Type="http://schemas.openxmlformats.org/officeDocument/2006/relationships/vmlDrawing" Target="../drawings/vmlDrawing1.v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wmf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wmf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4098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Surfing the Parallel Architectures</a:t>
            </a:r>
          </a:p>
        </p:txBody>
      </p:sp>
      <p:sp>
        <p:nvSpPr>
          <p:cNvPr id="4099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 algn="ctr">
              <a:buNone/>
            </a:pPr>
            <a:r>
              <a:t>A Presentation to Tandem Computers’</a:t>
            </a:r>
            <a:br/>
            <a:r>
              <a:t>Board of Directors and</a:t>
            </a:r>
            <a:br/>
            <a:r>
              <a:t>Industry Advisory Panel</a:t>
            </a:r>
            <a:br/>
            <a:r>
              <a:t>September 27, 1994</a:t>
            </a:r>
          </a:p>
          <a:p>
            <a:pPr lvl="0">
              <a:buNone/>
            </a:pPr>
          </a:p>
          <a:p>
            <a:pPr lvl="0">
              <a:buNone/>
            </a:pPr>
          </a:p>
          <a:p>
            <a:pPr lvl="0" algn="ctr">
              <a:buNone/>
            </a:pPr>
            <a:r>
              <a:rPr>
                <a:latin typeface="TimesNewRomanPS" charset="0"/>
              </a:rPr>
              <a:t>Peter S. Kastner</a:t>
            </a:r>
            <a:br>
              <a:rPr>
                <a:latin typeface="TimesNewRomanPS" charset="0"/>
              </a:rPr>
            </a:br>
            <a:r>
              <a:rPr>
                <a:latin typeface="TimesNewRomanPS" charset="0"/>
              </a:rPr>
              <a:t>Vice President</a:t>
            </a:r>
            <a:br>
              <a:rPr>
                <a:latin typeface="TimesNewRomanPS" charset="0"/>
              </a:rPr>
            </a:br>
            <a:r>
              <a:rPr>
                <a:latin typeface="TimesNewRomanPS" charset="0"/>
              </a:rPr>
              <a:t>Aberdeen Group, Inc.</a:t>
            </a:r>
            <a:br>
              <a:rPr>
                <a:latin typeface="TimesNewRomanPS" charset="0"/>
              </a:rPr>
            </a:br>
            <a:r>
              <a:rPr>
                <a:latin typeface="TimesNewRomanPS" charset="0"/>
              </a:rPr>
              <a:t>One Boston Place</a:t>
            </a:r>
            <a:br>
              <a:rPr>
                <a:latin typeface="TimesNewRomanPS" charset="0"/>
              </a:rPr>
            </a:br>
            <a:r>
              <a:rPr>
                <a:latin typeface="TimesNewRomanPS" charset="0"/>
              </a:rPr>
              <a:t>Boston, Mass. 02108</a:t>
            </a:r>
            <a:br>
              <a:rPr>
                <a:latin typeface="TimesNewRomanPS" charset="0"/>
              </a:rPr>
            </a:br>
            <a:r>
              <a:rPr>
                <a:latin typeface="TimesNewRomanPS" charset="0"/>
              </a:rPr>
              <a:t>(617) 723-7890</a:t>
            </a:r>
            <a:endParaRPr>
              <a:latin typeface="TimesNewRomanPS" charset="0"/>
            </a:endParaRPr>
          </a:p>
        </p:txBody>
      </p:sp>
      <p:grpSp>
        <p:nvGrpSpPr>
          <p:cNvPr id="4111" name=""/>
          <p:cNvGrpSpPr/>
          <p:nvPr/>
        </p:nvGrpSpPr>
        <p:grpSpPr>
          <a:xfrm>
            <a:off x="381000" y="3084513"/>
            <a:ext cx="1635125" cy="2443162"/>
            <a:chOff x="240" y="1943"/>
            <a:chExt cx="1030" cy="1539"/>
          </a:xfrm>
        </p:grpSpPr>
        <p:grpSp>
          <p:nvGrpSpPr>
            <p:cNvPr id="4102" name=""/>
            <p:cNvGrpSpPr/>
            <p:nvPr/>
          </p:nvGrpSpPr>
          <p:grpSpPr>
            <a:xfrm>
              <a:off x="484" y="1943"/>
              <a:ext cx="786" cy="741"/>
              <a:chOff x="484" y="1943"/>
              <a:chExt cx="786" cy="741"/>
            </a:xfrm>
          </p:grpSpPr>
          <p:pic>
            <p:nvPicPr>
              <p:cNvPr id="4100" name="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9" y="1943"/>
                <a:ext cx="316" cy="664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</p:spPr>
          </p:pic>
          <p:sp>
            <p:nvSpPr>
              <p:cNvPr id="4101" name=""/>
              <p:cNvSpPr/>
              <p:nvPr/>
            </p:nvSpPr>
            <p:spPr>
              <a:xfrm>
                <a:off x="484" y="2595"/>
                <a:ext cx="786" cy="89"/>
              </a:xfrm>
              <a:prstGeom prst="ellipse">
                <a:avLst/>
              </a:prstGeom>
              <a:pattFill prst="solidDmnd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chemeClr val="tx1"/>
                </a:solidFill>
                <a:miter lim="800000"/>
              </a:ln>
              <a:effectLst>
                <a:outerShdw dist="107763" dir="2700000" algn="ctr">
                  <a:schemeClr val="bg2">
                    <a:alpha val="50000"/>
                  </a:schemeClr>
                </a:outerShdw>
              </a:effectLst>
            </p:spPr>
          </p:sp>
        </p:grpSp>
        <p:grpSp>
          <p:nvGrpSpPr>
            <p:cNvPr id="4110" name=""/>
            <p:cNvGrpSpPr/>
            <p:nvPr/>
          </p:nvGrpSpPr>
          <p:grpSpPr>
            <a:xfrm>
              <a:off x="240" y="2640"/>
              <a:ext cx="1030" cy="842"/>
              <a:chOff x="240" y="2640"/>
              <a:chExt cx="1030" cy="842"/>
            </a:xfrm>
          </p:grpSpPr>
          <p:grpSp>
            <p:nvGrpSpPr>
              <p:cNvPr id="4108" name=""/>
              <p:cNvGrpSpPr/>
              <p:nvPr/>
            </p:nvGrpSpPr>
            <p:grpSpPr>
              <a:xfrm>
                <a:off x="240" y="2640"/>
                <a:ext cx="934" cy="746"/>
                <a:chOff x="240" y="2640"/>
                <a:chExt cx="934" cy="746"/>
              </a:xfrm>
            </p:grpSpPr>
            <p:pic>
              <p:nvPicPr>
                <p:cNvPr id="4103" name="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0" y="2640"/>
                  <a:ext cx="550" cy="36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  <a:effectLst/>
              </p:spPr>
            </p:pic>
            <p:pic>
              <p:nvPicPr>
                <p:cNvPr id="4104" name="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6" y="2736"/>
                  <a:ext cx="550" cy="36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  <a:effectLst/>
              </p:spPr>
            </p:pic>
            <p:pic>
              <p:nvPicPr>
                <p:cNvPr id="4105" name="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2" y="2832"/>
                  <a:ext cx="550" cy="36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  <a:effectLst/>
              </p:spPr>
            </p:pic>
            <p:pic>
              <p:nvPicPr>
                <p:cNvPr id="4106" name="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8" y="2928"/>
                  <a:ext cx="550" cy="36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  <a:effectLst/>
              </p:spPr>
            </p:pic>
            <p:pic>
              <p:nvPicPr>
                <p:cNvPr id="4107" name="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4" y="3024"/>
                  <a:ext cx="550" cy="36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  <a:effectLst/>
              </p:spPr>
            </p:pic>
          </p:grpSp>
          <p:pic>
            <p:nvPicPr>
              <p:cNvPr id="4109" name="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0" y="3120"/>
                <a:ext cx="550" cy="362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</p:spPr>
          </p:pic>
        </p:grpSp>
      </p:grp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5122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Agenda</a:t>
            </a:r>
          </a:p>
        </p:txBody>
      </p:sp>
      <p:sp>
        <p:nvSpPr>
          <p:cNvPr id="5123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Why Parallel?</a:t>
            </a:r>
          </a:p>
          <a:p>
            <a:pPr lvl="0"/>
            <a:r>
              <a:t>Review of Parallel Architectures</a:t>
            </a:r>
          </a:p>
          <a:p>
            <a:pPr lvl="0"/>
            <a:r>
              <a:t>Review of Parallel Software</a:t>
            </a:r>
          </a:p>
          <a:p>
            <a:pPr lvl="0"/>
            <a:r>
              <a:t>Parallelism in Applications</a:t>
            </a:r>
          </a:p>
          <a:p>
            <a:pPr lvl="0"/>
            <a:r>
              <a:t>Supplier Approaches to Parallelism</a:t>
            </a:r>
          </a:p>
          <a:p>
            <a:pPr lvl="0"/>
            <a:r>
              <a:t>Aberdeen's Viewpoint on Tandem in a Parallel World</a:t>
            </a:r>
          </a:p>
        </p:txBody>
      </p:sp>
      <p:grpSp>
        <p:nvGrpSpPr>
          <p:cNvPr id="5135" name=""/>
          <p:cNvGrpSpPr/>
          <p:nvPr/>
        </p:nvGrpSpPr>
        <p:grpSpPr>
          <a:xfrm>
            <a:off x="7086600" y="1560513"/>
            <a:ext cx="1635125" cy="2443162"/>
            <a:chOff x="4464" y="983"/>
            <a:chExt cx="1030" cy="1539"/>
          </a:xfrm>
        </p:grpSpPr>
        <p:grpSp>
          <p:nvGrpSpPr>
            <p:cNvPr id="5126" name=""/>
            <p:cNvGrpSpPr/>
            <p:nvPr/>
          </p:nvGrpSpPr>
          <p:grpSpPr>
            <a:xfrm>
              <a:off x="4708" y="983"/>
              <a:ext cx="786" cy="741"/>
              <a:chOff x="4708" y="983"/>
              <a:chExt cx="786" cy="741"/>
            </a:xfrm>
          </p:grpSpPr>
          <p:pic>
            <p:nvPicPr>
              <p:cNvPr id="5124" name="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833" y="983"/>
                <a:ext cx="316" cy="664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</p:spPr>
          </p:pic>
          <p:sp>
            <p:nvSpPr>
              <p:cNvPr id="5125" name=""/>
              <p:cNvSpPr/>
              <p:nvPr/>
            </p:nvSpPr>
            <p:spPr>
              <a:xfrm>
                <a:off x="4708" y="1635"/>
                <a:ext cx="786" cy="89"/>
              </a:xfrm>
              <a:prstGeom prst="ellipse">
                <a:avLst/>
              </a:prstGeom>
              <a:pattFill prst="solidDmnd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chemeClr val="tx1"/>
                </a:solidFill>
                <a:miter lim="800000"/>
              </a:ln>
              <a:effectLst>
                <a:outerShdw dist="107763" dir="2700000" algn="ctr">
                  <a:schemeClr val="bg2">
                    <a:alpha val="50000"/>
                  </a:schemeClr>
                </a:outerShdw>
              </a:effectLst>
            </p:spPr>
          </p:sp>
        </p:grpSp>
        <p:grpSp>
          <p:nvGrpSpPr>
            <p:cNvPr id="5134" name=""/>
            <p:cNvGrpSpPr/>
            <p:nvPr/>
          </p:nvGrpSpPr>
          <p:grpSpPr>
            <a:xfrm>
              <a:off x="4464" y="1680"/>
              <a:ext cx="1030" cy="842"/>
              <a:chOff x="4464" y="1680"/>
              <a:chExt cx="1030" cy="842"/>
            </a:xfrm>
          </p:grpSpPr>
          <p:grpSp>
            <p:nvGrpSpPr>
              <p:cNvPr id="5132" name=""/>
              <p:cNvGrpSpPr/>
              <p:nvPr/>
            </p:nvGrpSpPr>
            <p:grpSpPr>
              <a:xfrm>
                <a:off x="4464" y="1680"/>
                <a:ext cx="934" cy="746"/>
                <a:chOff x="4464" y="1680"/>
                <a:chExt cx="934" cy="746"/>
              </a:xfrm>
            </p:grpSpPr>
            <p:pic>
              <p:nvPicPr>
                <p:cNvPr id="5127" name="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64" y="1680"/>
                  <a:ext cx="550" cy="36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  <a:effectLst/>
              </p:spPr>
            </p:pic>
            <p:pic>
              <p:nvPicPr>
                <p:cNvPr id="5128" name="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60" y="1776"/>
                  <a:ext cx="550" cy="36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  <a:effectLst/>
              </p:spPr>
            </p:pic>
            <p:pic>
              <p:nvPicPr>
                <p:cNvPr id="5129" name="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56" y="1872"/>
                  <a:ext cx="550" cy="36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  <a:effectLst/>
              </p:spPr>
            </p:pic>
            <p:pic>
              <p:nvPicPr>
                <p:cNvPr id="5130" name="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752" y="1968"/>
                  <a:ext cx="550" cy="36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  <a:effectLst/>
              </p:spPr>
            </p:pic>
            <p:pic>
              <p:nvPicPr>
                <p:cNvPr id="5131" name="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48" y="2064"/>
                  <a:ext cx="550" cy="36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  <a:effectLst/>
              </p:spPr>
            </p:pic>
          </p:grpSp>
          <p:pic>
            <p:nvPicPr>
              <p:cNvPr id="5133" name="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44" y="2160"/>
                <a:ext cx="550" cy="362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</p:spPr>
          </p:pic>
        </p:grpSp>
      </p:grp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6146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Why Parallel Processing?</a:t>
            </a:r>
          </a:p>
        </p:txBody>
      </p:sp>
      <p:sp>
        <p:nvSpPr>
          <p:cNvPr id="6147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Technology is an enabler</a:t>
            </a:r>
          </a:p>
          <a:p>
            <a:pPr lvl="1"/>
            <a:r>
              <a:t>Parallel hardware is widely available, inexpensive</a:t>
            </a:r>
          </a:p>
          <a:p>
            <a:pPr lvl="1"/>
            <a:r>
              <a:t>Parallel software (i.e., RDBMS)</a:t>
            </a:r>
          </a:p>
          <a:p>
            <a:pPr lvl="1"/>
            <a:r>
              <a:t>$2M per terabyte disk storage</a:t>
            </a:r>
          </a:p>
          <a:p>
            <a:pPr lvl="1"/>
            <a:r>
              <a:t>Scalability beyond traditional (mainframe) architectures ...</a:t>
            </a:r>
          </a:p>
          <a:p>
            <a:pPr lvl="0"/>
            <a:r>
              <a:t>Demand is price elastic, business driven</a:t>
            </a:r>
          </a:p>
          <a:p>
            <a:pPr lvl="1"/>
            <a:r>
              <a:t>Replace people with technology</a:t>
            </a:r>
          </a:p>
          <a:p>
            <a:pPr lvl="1"/>
            <a:r>
              <a:t>Time really is money</a:t>
            </a:r>
          </a:p>
          <a:p>
            <a:pPr lvl="1"/>
            <a:r>
              <a:t>“I can answer questions we never could before.”</a:t>
            </a:r>
          </a:p>
          <a:p>
            <a:pPr lvl="1"/>
            <a:r>
              <a:t>"I'm running out of night!"</a:t>
            </a:r>
          </a:p>
          <a:p>
            <a:pPr lvl="1"/>
            <a:r>
              <a:t>"I'm looking for a sustainable competitive advantage with IT."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7170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Very Quick Review of Parallel Architectures</a:t>
            </a:r>
          </a:p>
        </p:txBody>
      </p:sp>
      <p:sp>
        <p:nvSpPr>
          <p:cNvPr id="7171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Uniprocessor</a:t>
            </a:r>
          </a:p>
          <a:p>
            <a:pPr lvl="0"/>
            <a:r>
              <a:t>Symmetric Multiprocessor (SMP)</a:t>
            </a:r>
          </a:p>
          <a:p>
            <a:pPr lvl="0"/>
            <a:r>
              <a:t>Cluster (Loosely-coupled)</a:t>
            </a:r>
          </a:p>
          <a:p>
            <a:pPr lvl="0"/>
            <a:r>
              <a:t>Massively Parallel (MPP/SPP)</a:t>
            </a: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8194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Estimated Market Share by Architecture</a:t>
            </a:r>
          </a:p>
        </p:txBody>
      </p:sp>
      <p:sp>
        <p:nvSpPr>
          <p:cNvPr id="8195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/>
        </p:txBody>
      </p:sp>
      <p:graphicFrame>
        <p:nvGraphicFramePr>
          <p:cNvPr id="8196" name=""/>
          <p:cNvGraphicFramePr/>
          <p:nvPr/>
        </p:nvGraphicFramePr>
        <p:xfrm>
          <a:off x="1108075" y="1671638"/>
          <a:ext cx="7959725" cy="4027487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38" name="Microsoft Graph" r:id="rId2" imgW="7959725" imgH="4027487" progId="MSGraph">
                  <p:embed/>
                </p:oleObj>
              </mc:Choice>
              <mc:Fallback>
                <p:oleObj name="Microsoft Graph" r:id="rId2" imgW="7959725" imgH="4027487" progId="MSGraph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08075" y="1671638"/>
                        <a:ext cx="7959725" cy="4027487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"/>
          <p:cNvSpPr/>
          <p:nvPr/>
        </p:nvSpPr>
        <p:spPr>
          <a:xfrm>
            <a:off x="1584325" y="4922838"/>
            <a:ext cx="4316413" cy="27463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sz="1200" b="1"/>
              <a:t>Uniprocessor has the largest share but the lowest profits</a:t>
            </a:r>
            <a:endParaRPr sz="1200" b="1"/>
          </a:p>
        </p:txBody>
      </p:sp>
      <p:sp>
        <p:nvSpPr>
          <p:cNvPr id="8198" name=""/>
          <p:cNvSpPr/>
          <p:nvPr/>
        </p:nvSpPr>
        <p:spPr>
          <a:xfrm>
            <a:off x="6232525" y="2255838"/>
            <a:ext cx="1946275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sz="1200" b="1"/>
              <a:t>Tandem’s architectures:</a:t>
            </a:r>
            <a:br>
              <a:rPr sz="1200" b="1"/>
            </a:br>
            <a:r>
              <a:rPr sz="1200" b="1"/>
              <a:t>Enterprise Computing</a:t>
            </a:r>
            <a:endParaRPr sz="1200" b="1"/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9218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Uniprocessor</a:t>
            </a:r>
          </a:p>
        </p:txBody>
      </p:sp>
      <p:sp>
        <p:nvSpPr>
          <p:cNvPr id="9219" name=""/>
          <p:cNvSpPr/>
          <p:nvPr>
            <p:ph type="body" idx="1"/>
          </p:nvPr>
        </p:nvSpPr>
        <p:spPr>
          <a:xfrm>
            <a:off x="457200" y="1752600"/>
            <a:ext cx="4191000" cy="44196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rPr sz="1800"/>
              <a:t>Examples: Compaq PC servers, IBM RS/6000's to date, Integrity NR entry, each Himalaya node</a:t>
            </a:r>
            <a:endParaRPr sz="1800"/>
          </a:p>
          <a:p>
            <a:pPr lvl="0"/>
            <a:r>
              <a:rPr sz="1800"/>
              <a:t>No hardware parallelism</a:t>
            </a:r>
            <a:endParaRPr sz="1800"/>
          </a:p>
          <a:p>
            <a:pPr lvl="0"/>
            <a:r>
              <a:rPr sz="1800"/>
              <a:t>Useful as a software parallelism platform</a:t>
            </a:r>
            <a:endParaRPr sz="1800"/>
          </a:p>
          <a:p>
            <a:pPr lvl="0"/>
            <a:r>
              <a:rPr sz="1800"/>
              <a:t>Easy to design, manufacture, low selling price</a:t>
            </a:r>
            <a:endParaRPr sz="1800"/>
          </a:p>
          <a:p>
            <a:pPr lvl="0"/>
            <a:r>
              <a:rPr sz="1800"/>
              <a:t>Potential entry point for SMP</a:t>
            </a:r>
            <a:endParaRPr sz="1800"/>
          </a:p>
          <a:p>
            <a:pPr lvl="0"/>
            <a:r>
              <a:rPr sz="1800"/>
              <a:t>Benefits from 75% CAGR in processor/system performance</a:t>
            </a:r>
            <a:endParaRPr sz="1800"/>
          </a:p>
          <a:p>
            <a:pPr lvl="0"/>
            <a:r>
              <a:rPr sz="1800"/>
              <a:t>Problems: No scalability except to upgrade CPU.  </a:t>
            </a:r>
            <a:endParaRPr sz="1800"/>
          </a:p>
        </p:txBody>
      </p:sp>
      <p:sp>
        <p:nvSpPr>
          <p:cNvPr id="9220" name=""/>
          <p:cNvSpPr/>
          <p:nvPr/>
        </p:nvSpPr>
        <p:spPr>
          <a:xfrm>
            <a:off x="5200650" y="2076450"/>
            <a:ext cx="1562100" cy="3314700"/>
          </a:xfrm>
          <a:prstGeom prst="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miter lim="800000"/>
          </a:ln>
          <a:effectLst/>
        </p:spPr>
      </p:sp>
      <p:sp>
        <p:nvSpPr>
          <p:cNvPr id="9221" name=""/>
          <p:cNvSpPr/>
          <p:nvPr/>
        </p:nvSpPr>
        <p:spPr>
          <a:xfrm>
            <a:off x="7321550" y="2063750"/>
            <a:ext cx="1282700" cy="334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</p:sp>
      <p:sp>
        <p:nvSpPr>
          <p:cNvPr id="9222" name=""/>
          <p:cNvSpPr/>
          <p:nvPr/>
        </p:nvSpPr>
        <p:spPr>
          <a:xfrm>
            <a:off x="5165725" y="1652588"/>
            <a:ext cx="1149350" cy="36671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b="1"/>
              <a:t>Software</a:t>
            </a:r>
            <a:endParaRPr b="1"/>
          </a:p>
        </p:txBody>
      </p:sp>
      <p:sp>
        <p:nvSpPr>
          <p:cNvPr id="9223" name=""/>
          <p:cNvSpPr/>
          <p:nvPr/>
        </p:nvSpPr>
        <p:spPr>
          <a:xfrm>
            <a:off x="7299325" y="1652588"/>
            <a:ext cx="1225550" cy="36671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b="1"/>
              <a:t>Hardware</a:t>
            </a:r>
            <a:endParaRPr b="1"/>
          </a:p>
        </p:txBody>
      </p:sp>
      <p:sp>
        <p:nvSpPr>
          <p:cNvPr id="9224" name=""/>
          <p:cNvSpPr/>
          <p:nvPr/>
        </p:nvSpPr>
        <p:spPr>
          <a:xfrm>
            <a:off x="5394325" y="2185988"/>
            <a:ext cx="1263650" cy="201453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b="1"/>
              <a:t>Operating</a:t>
            </a:r>
            <a:br>
              <a:rPr b="1"/>
            </a:br>
            <a:r>
              <a:rPr b="1"/>
              <a:t>System</a:t>
            </a:r>
            <a:br>
              <a:rPr b="1"/>
            </a:br>
            <a:br>
              <a:rPr b="1"/>
            </a:br>
            <a:br>
              <a:rPr b="1"/>
            </a:br>
            <a:r>
              <a:rPr b="1"/>
              <a:t>Task1</a:t>
            </a:r>
            <a:endParaRPr b="1"/>
          </a:p>
          <a:p>
            <a:pPr lvl="0" eaLnBrk="0" hangingPunct="0"/>
            <a:r>
              <a:rPr b="1"/>
              <a:t>Task2</a:t>
            </a:r>
            <a:br>
              <a:rPr b="1"/>
            </a:br>
            <a:r>
              <a:rPr b="1"/>
              <a:t>Task3...</a:t>
            </a:r>
            <a:endParaRPr b="1"/>
          </a:p>
        </p:txBody>
      </p:sp>
      <p:cxnSp>
        <p:nvCxnSpPr>
          <p:cNvPr id="9225" name=""/>
          <p:cNvCxnSpPr/>
          <p:nvPr/>
        </p:nvCxnSpPr>
        <p:spPr>
          <a:xfrm>
            <a:off x="5181600" y="28194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</p:cxnSp>
      <p:cxnSp>
        <p:nvCxnSpPr>
          <p:cNvPr id="9226" name=""/>
          <p:cNvCxnSpPr/>
          <p:nvPr/>
        </p:nvCxnSpPr>
        <p:spPr>
          <a:xfrm>
            <a:off x="6553200" y="3581400"/>
            <a:ext cx="1447800" cy="0"/>
          </a:xfrm>
          <a:prstGeom prst="line">
            <a:avLst/>
          </a:prstGeom>
          <a:noFill/>
          <a:ln w="127000">
            <a:solidFill>
              <a:schemeClr val="tx1"/>
            </a:solidFill>
            <a:miter lim="800000"/>
            <a:tailEnd type="triangle"/>
          </a:ln>
          <a:effectLst/>
        </p:spPr>
      </p:cxn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0242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Symmetric Multiprocessors</a:t>
            </a:r>
          </a:p>
        </p:txBody>
      </p:sp>
      <p:sp>
        <p:nvSpPr>
          <p:cNvPr id="10243" name=""/>
          <p:cNvSpPr/>
          <p:nvPr>
            <p:ph type="body" idx="1"/>
          </p:nvPr>
        </p:nvSpPr>
        <p:spPr>
          <a:xfrm>
            <a:off x="381000" y="1752600"/>
            <a:ext cx="4495800" cy="43434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rPr sz="2000"/>
              <a:t>Examples: Tandem Integrity NR, HP 9000, IBM ES/9000, many more</a:t>
            </a:r>
            <a:endParaRPr sz="2000"/>
          </a:p>
          <a:p>
            <a:pPr lvl="0"/>
            <a:r>
              <a:rPr sz="2000"/>
              <a:t>Multiple CPUs share common data highway (bus), memory and operating system</a:t>
            </a:r>
            <a:endParaRPr sz="2000"/>
          </a:p>
          <a:p>
            <a:pPr lvl="0"/>
            <a:r>
              <a:rPr sz="2000"/>
              <a:t>Well understood technology.  New chip set accelerators. Inexpensive engineering.</a:t>
            </a:r>
            <a:endParaRPr sz="2000"/>
          </a:p>
          <a:p>
            <a:pPr lvl="0"/>
            <a:r>
              <a:rPr sz="2000"/>
              <a:t>Scalability: Good to 4 processors; fair to 8; few do more than 10</a:t>
            </a:r>
            <a:endParaRPr sz="2000"/>
          </a:p>
        </p:txBody>
      </p:sp>
      <p:sp>
        <p:nvSpPr>
          <p:cNvPr id="10244" name=""/>
          <p:cNvSpPr/>
          <p:nvPr/>
        </p:nvSpPr>
        <p:spPr>
          <a:xfrm>
            <a:off x="5200650" y="2076450"/>
            <a:ext cx="1562100" cy="3314700"/>
          </a:xfrm>
          <a:prstGeom prst="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miter lim="800000"/>
          </a:ln>
          <a:effectLst/>
        </p:spPr>
      </p:sp>
      <p:sp>
        <p:nvSpPr>
          <p:cNvPr id="10245" name=""/>
          <p:cNvSpPr/>
          <p:nvPr/>
        </p:nvSpPr>
        <p:spPr>
          <a:xfrm>
            <a:off x="7245350" y="2978150"/>
            <a:ext cx="1282700" cy="825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</p:sp>
      <p:sp>
        <p:nvSpPr>
          <p:cNvPr id="10246" name=""/>
          <p:cNvSpPr/>
          <p:nvPr/>
        </p:nvSpPr>
        <p:spPr>
          <a:xfrm>
            <a:off x="5165725" y="1652588"/>
            <a:ext cx="1149350" cy="36671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b="1"/>
              <a:t>Software</a:t>
            </a:r>
            <a:endParaRPr b="1"/>
          </a:p>
        </p:txBody>
      </p:sp>
      <p:sp>
        <p:nvSpPr>
          <p:cNvPr id="10247" name=""/>
          <p:cNvSpPr/>
          <p:nvPr/>
        </p:nvSpPr>
        <p:spPr>
          <a:xfrm>
            <a:off x="7299325" y="1652588"/>
            <a:ext cx="1225550" cy="36671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b="1"/>
              <a:t>Hardware</a:t>
            </a:r>
            <a:endParaRPr b="1"/>
          </a:p>
        </p:txBody>
      </p:sp>
      <p:sp>
        <p:nvSpPr>
          <p:cNvPr id="10248" name=""/>
          <p:cNvSpPr/>
          <p:nvPr/>
        </p:nvSpPr>
        <p:spPr>
          <a:xfrm>
            <a:off x="5394325" y="2185988"/>
            <a:ext cx="1263650" cy="256381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b="1"/>
              <a:t>Operating</a:t>
            </a:r>
            <a:br>
              <a:rPr b="1"/>
            </a:br>
            <a:r>
              <a:rPr b="1"/>
              <a:t>System</a:t>
            </a:r>
            <a:br>
              <a:rPr b="1"/>
            </a:br>
            <a:br>
              <a:rPr b="1"/>
            </a:br>
            <a:br>
              <a:rPr b="1"/>
            </a:br>
            <a:r>
              <a:rPr b="1"/>
              <a:t>Task1</a:t>
            </a:r>
            <a:endParaRPr b="1"/>
          </a:p>
          <a:p>
            <a:pPr lvl="0" eaLnBrk="0" hangingPunct="0"/>
            <a:r>
              <a:rPr b="1"/>
              <a:t>Task2</a:t>
            </a:r>
            <a:br>
              <a:rPr b="1"/>
            </a:br>
            <a:r>
              <a:rPr b="1"/>
              <a:t>Task3</a:t>
            </a:r>
            <a:br>
              <a:rPr b="1"/>
            </a:br>
            <a:r>
              <a:rPr b="1"/>
              <a:t>Task4</a:t>
            </a:r>
            <a:br>
              <a:rPr b="1"/>
            </a:br>
            <a:r>
              <a:rPr b="1"/>
              <a:t>Task n ...</a:t>
            </a:r>
            <a:endParaRPr b="1"/>
          </a:p>
        </p:txBody>
      </p:sp>
      <p:cxnSp>
        <p:nvCxnSpPr>
          <p:cNvPr id="10249" name=""/>
          <p:cNvCxnSpPr/>
          <p:nvPr/>
        </p:nvCxnSpPr>
        <p:spPr>
          <a:xfrm>
            <a:off x="5181600" y="28194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</p:cxnSp>
      <p:sp>
        <p:nvSpPr>
          <p:cNvPr id="10250" name=""/>
          <p:cNvSpPr/>
          <p:nvPr/>
        </p:nvSpPr>
        <p:spPr>
          <a:xfrm>
            <a:off x="7397750" y="3130550"/>
            <a:ext cx="1282700" cy="825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</p:sp>
      <p:sp>
        <p:nvSpPr>
          <p:cNvPr id="10251" name=""/>
          <p:cNvSpPr/>
          <p:nvPr/>
        </p:nvSpPr>
        <p:spPr>
          <a:xfrm>
            <a:off x="7550150" y="3282950"/>
            <a:ext cx="1282700" cy="825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</p:sp>
      <p:sp>
        <p:nvSpPr>
          <p:cNvPr id="10252" name=""/>
          <p:cNvSpPr/>
          <p:nvPr/>
        </p:nvSpPr>
        <p:spPr>
          <a:xfrm>
            <a:off x="7702550" y="3435350"/>
            <a:ext cx="1282700" cy="825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</p:sp>
      <p:cxnSp>
        <p:nvCxnSpPr>
          <p:cNvPr id="10253" name=""/>
          <p:cNvCxnSpPr/>
          <p:nvPr/>
        </p:nvCxnSpPr>
        <p:spPr>
          <a:xfrm>
            <a:off x="6553200" y="2362200"/>
            <a:ext cx="762000" cy="685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tailEnd type="triangle"/>
          </a:ln>
          <a:effectLst/>
        </p:spPr>
      </p:cxnSp>
      <p:cxnSp>
        <p:nvCxnSpPr>
          <p:cNvPr id="10254" name=""/>
          <p:cNvCxnSpPr/>
          <p:nvPr/>
        </p:nvCxnSpPr>
        <p:spPr>
          <a:xfrm flipV="1">
            <a:off x="6248400" y="3429000"/>
            <a:ext cx="1219200" cy="762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tailEnd type="triangle"/>
          </a:ln>
          <a:effectLst/>
        </p:spPr>
      </p:cxnSp>
      <p:cxnSp>
        <p:nvCxnSpPr>
          <p:cNvPr id="10255" name=""/>
          <p:cNvCxnSpPr/>
          <p:nvPr/>
        </p:nvCxnSpPr>
        <p:spPr>
          <a:xfrm flipV="1">
            <a:off x="6172200" y="3657600"/>
            <a:ext cx="1524000" cy="762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tailEnd type="triangle"/>
          </a:ln>
          <a:effectLst/>
        </p:spPr>
      </p:cxnSp>
      <p:cxnSp>
        <p:nvCxnSpPr>
          <p:cNvPr id="10256" name=""/>
          <p:cNvCxnSpPr/>
          <p:nvPr/>
        </p:nvCxnSpPr>
        <p:spPr>
          <a:xfrm flipV="1">
            <a:off x="6172200" y="3962400"/>
            <a:ext cx="1905000" cy="762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tailEnd type="triangle"/>
          </a:ln>
          <a:effectLst/>
        </p:spPr>
      </p:cxnSp>
      <p:sp>
        <p:nvSpPr>
          <p:cNvPr id="10257" name=""/>
          <p:cNvSpPr/>
          <p:nvPr/>
        </p:nvSpPr>
        <p:spPr>
          <a:xfrm>
            <a:off x="7258050" y="4743450"/>
            <a:ext cx="1714500" cy="876300"/>
          </a:xfrm>
          <a:prstGeom prst="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miter lim="800000"/>
          </a:ln>
          <a:effectLst>
            <a:outerShdw dist="107763" dir="2700000" algn="ctr">
              <a:schemeClr val="bg2">
                <a:alpha val="50000"/>
              </a:schemeClr>
            </a:outerShdw>
          </a:effectLst>
        </p:spPr>
        <p:txBody>
          <a:bodyPr wrap="none" lIns="90488" tIns="44450" rIns="90488" bIns="44450" anchor="ctr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ctr" eaLnBrk="0" hangingPunct="0"/>
            <a:r>
              <a:rPr sz="1200" b="1" i="1"/>
              <a:t>Memory access is</a:t>
            </a:r>
            <a:br>
              <a:rPr sz="1200" b="1" i="1"/>
            </a:br>
            <a:r>
              <a:rPr sz="1200" b="1" i="1"/>
              <a:t>a big problem</a:t>
            </a:r>
            <a:br>
              <a:rPr sz="1200" b="1" i="1"/>
            </a:br>
            <a:r>
              <a:rPr sz="1200" b="1" i="1"/>
              <a:t>getting worse</a:t>
            </a:r>
            <a:endParaRPr sz="1200" b="1" i="1"/>
          </a:p>
        </p:txBody>
      </p:sp>
      <p:sp>
        <p:nvSpPr>
          <p:cNvPr id="10258" name=""/>
          <p:cNvSpPr/>
          <p:nvPr/>
        </p:nvSpPr>
        <p:spPr>
          <a:xfrm>
            <a:off x="7299325" y="5691188"/>
            <a:ext cx="1657350" cy="36671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b="1"/>
              <a:t>Memory &amp; I/O</a:t>
            </a:r>
            <a:endParaRPr b="1"/>
          </a:p>
        </p:txBody>
      </p:sp>
      <p:cxnSp>
        <p:nvCxnSpPr>
          <p:cNvPr id="10259" name=""/>
          <p:cNvCxnSpPr/>
          <p:nvPr/>
        </p:nvCxnSpPr>
        <p:spPr>
          <a:xfrm flipH="1">
            <a:off x="8229600" y="41148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tailEnd type="triangle"/>
          </a:ln>
          <a:effectLst/>
        </p:spPr>
      </p:cxnSp>
      <p:cxnSp>
        <p:nvCxnSpPr>
          <p:cNvPr id="10260" name=""/>
          <p:cNvCxnSpPr/>
          <p:nvPr/>
        </p:nvCxnSpPr>
        <p:spPr>
          <a:xfrm flipH="1">
            <a:off x="8229600" y="3352800"/>
            <a:ext cx="609600" cy="1447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tailEnd type="triangle"/>
          </a:ln>
          <a:effectLst/>
        </p:spPr>
      </p:cxnSp>
      <p:cxnSp>
        <p:nvCxnSpPr>
          <p:cNvPr id="10261" name=""/>
          <p:cNvCxnSpPr/>
          <p:nvPr/>
        </p:nvCxnSpPr>
        <p:spPr>
          <a:xfrm flipH="1">
            <a:off x="8229600" y="3200400"/>
            <a:ext cx="381000" cy="16002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tailEnd type="triangle"/>
          </a:ln>
          <a:effectLst/>
        </p:spPr>
      </p:cxnSp>
      <p:cxnSp>
        <p:nvCxnSpPr>
          <p:cNvPr id="10262" name=""/>
          <p:cNvCxnSpPr/>
          <p:nvPr/>
        </p:nvCxnSpPr>
        <p:spPr>
          <a:xfrm flipH="1">
            <a:off x="8229600" y="3048000"/>
            <a:ext cx="228600" cy="1676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tailEnd type="triangle"/>
          </a:ln>
          <a:effectLst/>
        </p:spPr>
      </p:cxnSp>
      <p:sp>
        <p:nvSpPr>
          <p:cNvPr id="10263" name=""/>
          <p:cNvSpPr/>
          <p:nvPr/>
        </p:nvSpPr>
        <p:spPr>
          <a:xfrm>
            <a:off x="7299325" y="2789238"/>
            <a:ext cx="1014413" cy="27463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sz="1200" b="1"/>
              <a:t>Processors</a:t>
            </a:r>
            <a:endParaRPr sz="1200" b="1"/>
          </a:p>
        </p:txBody>
      </p:sp>
      <p:pic>
        <p:nvPicPr>
          <p:cNvPr id="10264" name=""/>
          <p:cNvPicPr/>
          <p:nvPr/>
        </p:nvPicPr>
        <p:blipFill>
          <a:blip r:embed="rId2"/>
          <a:stretch>
            <a:fillRect/>
          </a:stretch>
        </p:blipFill>
        <p:spPr>
          <a:xfrm>
            <a:off x="7162800" y="4191000"/>
            <a:ext cx="773113" cy="66992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</p:pic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1266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Clusters</a:t>
            </a:r>
          </a:p>
        </p:txBody>
      </p:sp>
      <p:sp>
        <p:nvSpPr>
          <p:cNvPr id="11267" name=""/>
          <p:cNvSpPr/>
          <p:nvPr>
            <p:ph type="body" idx="1"/>
          </p:nvPr>
        </p:nvSpPr>
        <p:spPr>
          <a:xfrm>
            <a:off x="457200" y="1905000"/>
            <a:ext cx="3429000" cy="44196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rPr sz="1800"/>
              <a:t>Examples: Tandem Himalaya, Digital VAXcluster, IBM SP2 &amp; ES/9000 Sysplex</a:t>
            </a:r>
            <a:endParaRPr sz="1800"/>
          </a:p>
          <a:p>
            <a:pPr lvl="0"/>
            <a:r>
              <a:rPr sz="1800"/>
              <a:t>Each node can be a uniprocessor or SMP</a:t>
            </a:r>
            <a:endParaRPr sz="1800"/>
          </a:p>
          <a:p>
            <a:pPr lvl="0"/>
            <a:r>
              <a:rPr sz="1800"/>
              <a:t>Multiple, independent computing nodes cooperate via messages</a:t>
            </a:r>
            <a:endParaRPr sz="1800"/>
          </a:p>
          <a:p>
            <a:pPr lvl="0"/>
            <a:r>
              <a:rPr sz="1800"/>
              <a:t>Most common use is for high availability; second is resource sharing</a:t>
            </a:r>
            <a:endParaRPr sz="1800"/>
          </a:p>
          <a:p>
            <a:pPr lvl="0"/>
            <a:r>
              <a:rPr sz="1800"/>
              <a:t>Issue: Message-passing resource expense</a:t>
            </a:r>
            <a:endParaRPr sz="1800"/>
          </a:p>
        </p:txBody>
      </p:sp>
      <p:grpSp>
        <p:nvGrpSpPr>
          <p:cNvPr id="11312" name=""/>
          <p:cNvGrpSpPr/>
          <p:nvPr/>
        </p:nvGrpSpPr>
        <p:grpSpPr>
          <a:xfrm>
            <a:off x="4349750" y="1911350"/>
            <a:ext cx="3644900" cy="3263900"/>
            <a:chOff x="2740" y="1204"/>
            <a:chExt cx="2296" cy="2056"/>
          </a:xfrm>
        </p:grpSpPr>
        <p:grpSp>
          <p:nvGrpSpPr>
            <p:cNvPr id="11278" name=""/>
            <p:cNvGrpSpPr/>
            <p:nvPr/>
          </p:nvGrpSpPr>
          <p:grpSpPr>
            <a:xfrm>
              <a:off x="2740" y="1204"/>
              <a:ext cx="424" cy="2056"/>
              <a:chOff x="2740" y="1204"/>
              <a:chExt cx="424" cy="2056"/>
            </a:xfrm>
          </p:grpSpPr>
          <p:sp>
            <p:nvSpPr>
              <p:cNvPr id="11268" name=""/>
              <p:cNvSpPr/>
              <p:nvPr/>
            </p:nvSpPr>
            <p:spPr>
              <a:xfrm>
                <a:off x="2740" y="1204"/>
                <a:ext cx="424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</p:sp>
          <p:sp>
            <p:nvSpPr>
              <p:cNvPr id="11269" name=""/>
              <p:cNvSpPr/>
              <p:nvPr/>
            </p:nvSpPr>
            <p:spPr>
              <a:xfrm>
                <a:off x="2740" y="2884"/>
                <a:ext cx="424" cy="37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</p:sp>
          <p:pic>
            <p:nvPicPr>
              <p:cNvPr id="11270" name="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21" y="2322"/>
                <a:ext cx="251" cy="356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</p:spPr>
          </p:pic>
          <p:cxnSp>
            <p:nvCxnSpPr>
              <p:cNvPr id="11271" name=""/>
              <p:cNvCxnSpPr/>
              <p:nvPr/>
            </p:nvCxnSpPr>
            <p:spPr>
              <a:xfrm flipH="1">
                <a:off x="2880" y="2016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272" name=""/>
              <p:cNvCxnSpPr/>
              <p:nvPr/>
            </p:nvCxnSpPr>
            <p:spPr>
              <a:xfrm flipH="1">
                <a:off x="3024" y="2016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273" name=""/>
              <p:cNvCxnSpPr/>
              <p:nvPr/>
            </p:nvCxnSpPr>
            <p:spPr>
              <a:xfrm flipH="1">
                <a:off x="2976" y="2016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274" name=""/>
              <p:cNvCxnSpPr/>
              <p:nvPr/>
            </p:nvCxnSpPr>
            <p:spPr>
              <a:xfrm flipH="1">
                <a:off x="2880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275" name=""/>
              <p:cNvCxnSpPr/>
              <p:nvPr/>
            </p:nvCxnSpPr>
            <p:spPr>
              <a:xfrm flipH="1">
                <a:off x="297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276" name=""/>
              <p:cNvCxnSpPr/>
              <p:nvPr/>
            </p:nvCxnSpPr>
            <p:spPr>
              <a:xfrm flipH="1">
                <a:off x="3024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sp>
            <p:nvSpPr>
              <p:cNvPr id="11277" name=""/>
              <p:cNvSpPr/>
              <p:nvPr/>
            </p:nvSpPr>
            <p:spPr>
              <a:xfrm>
                <a:off x="2880" y="2976"/>
                <a:ext cx="241" cy="241"/>
              </a:xfrm>
              <a:custGeom>
                <a:pathLst>
                  <a:path w="241" h="241">
                    <a:moveTo>
                      <a:pt x="0" y="0"/>
                    </a:moveTo>
                    <a:lnTo>
                      <a:pt x="144" y="96"/>
                    </a:lnTo>
                    <a:lnTo>
                      <a:pt x="48" y="96"/>
                    </a:lnTo>
                    <a:lnTo>
                      <a:pt x="240" y="240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/>
                <a:tailEnd type="none"/>
              </a:ln>
              <a:effectLst/>
            </p:spPr>
          </p:sp>
        </p:grpSp>
        <p:grpSp>
          <p:nvGrpSpPr>
            <p:cNvPr id="11289" name=""/>
            <p:cNvGrpSpPr/>
            <p:nvPr/>
          </p:nvGrpSpPr>
          <p:grpSpPr>
            <a:xfrm>
              <a:off x="3364" y="1204"/>
              <a:ext cx="424" cy="2056"/>
              <a:chOff x="3364" y="1204"/>
              <a:chExt cx="424" cy="2056"/>
            </a:xfrm>
          </p:grpSpPr>
          <p:sp>
            <p:nvSpPr>
              <p:cNvPr id="11279" name=""/>
              <p:cNvSpPr/>
              <p:nvPr/>
            </p:nvSpPr>
            <p:spPr>
              <a:xfrm>
                <a:off x="3364" y="1204"/>
                <a:ext cx="424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</p:sp>
          <p:sp>
            <p:nvSpPr>
              <p:cNvPr id="11280" name=""/>
              <p:cNvSpPr/>
              <p:nvPr/>
            </p:nvSpPr>
            <p:spPr>
              <a:xfrm>
                <a:off x="3364" y="2884"/>
                <a:ext cx="424" cy="37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</p:sp>
          <p:pic>
            <p:nvPicPr>
              <p:cNvPr id="11281" name="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445" y="2322"/>
                <a:ext cx="251" cy="356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</p:spPr>
          </p:pic>
          <p:cxnSp>
            <p:nvCxnSpPr>
              <p:cNvPr id="11282" name=""/>
              <p:cNvCxnSpPr/>
              <p:nvPr/>
            </p:nvCxnSpPr>
            <p:spPr>
              <a:xfrm flipH="1">
                <a:off x="3504" y="2016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283" name=""/>
              <p:cNvCxnSpPr/>
              <p:nvPr/>
            </p:nvCxnSpPr>
            <p:spPr>
              <a:xfrm flipH="1">
                <a:off x="3648" y="2016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284" name=""/>
              <p:cNvCxnSpPr/>
              <p:nvPr/>
            </p:nvCxnSpPr>
            <p:spPr>
              <a:xfrm flipH="1">
                <a:off x="3600" y="2016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285" name=""/>
              <p:cNvCxnSpPr/>
              <p:nvPr/>
            </p:nvCxnSpPr>
            <p:spPr>
              <a:xfrm flipH="1">
                <a:off x="3504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286" name=""/>
              <p:cNvCxnSpPr/>
              <p:nvPr/>
            </p:nvCxnSpPr>
            <p:spPr>
              <a:xfrm flipH="1">
                <a:off x="3600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287" name=""/>
              <p:cNvCxnSpPr/>
              <p:nvPr/>
            </p:nvCxnSpPr>
            <p:spPr>
              <a:xfrm flipH="1">
                <a:off x="3648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sp>
            <p:nvSpPr>
              <p:cNvPr id="11288" name=""/>
              <p:cNvSpPr/>
              <p:nvPr/>
            </p:nvSpPr>
            <p:spPr>
              <a:xfrm>
                <a:off x="3504" y="2976"/>
                <a:ext cx="241" cy="241"/>
              </a:xfrm>
              <a:custGeom>
                <a:pathLst>
                  <a:path w="241" h="241">
                    <a:moveTo>
                      <a:pt x="0" y="0"/>
                    </a:moveTo>
                    <a:lnTo>
                      <a:pt x="144" y="96"/>
                    </a:lnTo>
                    <a:lnTo>
                      <a:pt x="48" y="96"/>
                    </a:lnTo>
                    <a:lnTo>
                      <a:pt x="240" y="240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/>
                <a:tailEnd type="none"/>
              </a:ln>
              <a:effectLst/>
            </p:spPr>
          </p:sp>
        </p:grpSp>
        <p:grpSp>
          <p:nvGrpSpPr>
            <p:cNvPr id="11300" name=""/>
            <p:cNvGrpSpPr/>
            <p:nvPr/>
          </p:nvGrpSpPr>
          <p:grpSpPr>
            <a:xfrm>
              <a:off x="3988" y="1204"/>
              <a:ext cx="424" cy="2056"/>
              <a:chOff x="3988" y="1204"/>
              <a:chExt cx="424" cy="2056"/>
            </a:xfrm>
          </p:grpSpPr>
          <p:sp>
            <p:nvSpPr>
              <p:cNvPr id="11290" name=""/>
              <p:cNvSpPr/>
              <p:nvPr/>
            </p:nvSpPr>
            <p:spPr>
              <a:xfrm>
                <a:off x="3988" y="1204"/>
                <a:ext cx="424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</p:sp>
          <p:sp>
            <p:nvSpPr>
              <p:cNvPr id="11291" name=""/>
              <p:cNvSpPr/>
              <p:nvPr/>
            </p:nvSpPr>
            <p:spPr>
              <a:xfrm>
                <a:off x="3988" y="2884"/>
                <a:ext cx="424" cy="37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</p:sp>
          <p:pic>
            <p:nvPicPr>
              <p:cNvPr id="11292" name="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69" y="2322"/>
                <a:ext cx="251" cy="356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</p:spPr>
          </p:pic>
          <p:cxnSp>
            <p:nvCxnSpPr>
              <p:cNvPr id="11293" name=""/>
              <p:cNvCxnSpPr/>
              <p:nvPr/>
            </p:nvCxnSpPr>
            <p:spPr>
              <a:xfrm flipH="1">
                <a:off x="4128" y="2016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294" name=""/>
              <p:cNvCxnSpPr/>
              <p:nvPr/>
            </p:nvCxnSpPr>
            <p:spPr>
              <a:xfrm flipH="1">
                <a:off x="4272" y="2016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295" name=""/>
              <p:cNvCxnSpPr/>
              <p:nvPr/>
            </p:nvCxnSpPr>
            <p:spPr>
              <a:xfrm flipH="1">
                <a:off x="4224" y="2016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296" name=""/>
              <p:cNvCxnSpPr/>
              <p:nvPr/>
            </p:nvCxnSpPr>
            <p:spPr>
              <a:xfrm flipH="1">
                <a:off x="4128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297" name=""/>
              <p:cNvCxnSpPr/>
              <p:nvPr/>
            </p:nvCxnSpPr>
            <p:spPr>
              <a:xfrm flipH="1">
                <a:off x="4224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298" name=""/>
              <p:cNvCxnSpPr/>
              <p:nvPr/>
            </p:nvCxnSpPr>
            <p:spPr>
              <a:xfrm flipH="1">
                <a:off x="4272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sp>
            <p:nvSpPr>
              <p:cNvPr id="11299" name=""/>
              <p:cNvSpPr/>
              <p:nvPr/>
            </p:nvSpPr>
            <p:spPr>
              <a:xfrm>
                <a:off x="4128" y="2976"/>
                <a:ext cx="241" cy="241"/>
              </a:xfrm>
              <a:custGeom>
                <a:pathLst>
                  <a:path w="241" h="241">
                    <a:moveTo>
                      <a:pt x="0" y="0"/>
                    </a:moveTo>
                    <a:lnTo>
                      <a:pt x="144" y="96"/>
                    </a:lnTo>
                    <a:lnTo>
                      <a:pt x="48" y="96"/>
                    </a:lnTo>
                    <a:lnTo>
                      <a:pt x="240" y="240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/>
                <a:tailEnd type="none"/>
              </a:ln>
              <a:effectLst/>
            </p:spPr>
          </p:sp>
        </p:grpSp>
        <p:grpSp>
          <p:nvGrpSpPr>
            <p:cNvPr id="11311" name=""/>
            <p:cNvGrpSpPr/>
            <p:nvPr/>
          </p:nvGrpSpPr>
          <p:grpSpPr>
            <a:xfrm>
              <a:off x="4612" y="1204"/>
              <a:ext cx="424" cy="2056"/>
              <a:chOff x="4612" y="1204"/>
              <a:chExt cx="424" cy="2056"/>
            </a:xfrm>
          </p:grpSpPr>
          <p:sp>
            <p:nvSpPr>
              <p:cNvPr id="11301" name=""/>
              <p:cNvSpPr/>
              <p:nvPr/>
            </p:nvSpPr>
            <p:spPr>
              <a:xfrm>
                <a:off x="4612" y="1204"/>
                <a:ext cx="424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</p:sp>
          <p:sp>
            <p:nvSpPr>
              <p:cNvPr id="11302" name=""/>
              <p:cNvSpPr/>
              <p:nvPr/>
            </p:nvSpPr>
            <p:spPr>
              <a:xfrm>
                <a:off x="4612" y="2884"/>
                <a:ext cx="424" cy="37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</p:sp>
          <p:pic>
            <p:nvPicPr>
              <p:cNvPr id="11303" name="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693" y="2322"/>
                <a:ext cx="251" cy="356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</p:spPr>
          </p:pic>
          <p:cxnSp>
            <p:nvCxnSpPr>
              <p:cNvPr id="11304" name=""/>
              <p:cNvCxnSpPr/>
              <p:nvPr/>
            </p:nvCxnSpPr>
            <p:spPr>
              <a:xfrm flipH="1">
                <a:off x="4752" y="2016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305" name=""/>
              <p:cNvCxnSpPr/>
              <p:nvPr/>
            </p:nvCxnSpPr>
            <p:spPr>
              <a:xfrm flipH="1">
                <a:off x="4896" y="2016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306" name=""/>
              <p:cNvCxnSpPr/>
              <p:nvPr/>
            </p:nvCxnSpPr>
            <p:spPr>
              <a:xfrm flipH="1">
                <a:off x="4848" y="2016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307" name=""/>
              <p:cNvCxnSpPr/>
              <p:nvPr/>
            </p:nvCxnSpPr>
            <p:spPr>
              <a:xfrm flipH="1">
                <a:off x="4752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308" name=""/>
              <p:cNvCxnSpPr/>
              <p:nvPr/>
            </p:nvCxnSpPr>
            <p:spPr>
              <a:xfrm flipH="1">
                <a:off x="4848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cxnSp>
            <p:nvCxnSpPr>
              <p:cNvPr id="11309" name=""/>
              <p:cNvCxnSpPr/>
              <p:nvPr/>
            </p:nvCxnSpPr>
            <p:spPr>
              <a:xfrm flipH="1">
                <a:off x="489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>
                <a:outerShdw dist="35921" dir="2700000" algn="ctr">
                  <a:schemeClr val="bg2">
                    <a:alpha val="50000"/>
                  </a:schemeClr>
                </a:outerShdw>
              </a:effectLst>
            </p:spPr>
          </p:cxnSp>
          <p:sp>
            <p:nvSpPr>
              <p:cNvPr id="11310" name=""/>
              <p:cNvSpPr/>
              <p:nvPr/>
            </p:nvSpPr>
            <p:spPr>
              <a:xfrm>
                <a:off x="4752" y="2976"/>
                <a:ext cx="241" cy="241"/>
              </a:xfrm>
              <a:custGeom>
                <a:pathLst>
                  <a:path w="241" h="241">
                    <a:moveTo>
                      <a:pt x="0" y="0"/>
                    </a:moveTo>
                    <a:lnTo>
                      <a:pt x="144" y="96"/>
                    </a:lnTo>
                    <a:lnTo>
                      <a:pt x="48" y="96"/>
                    </a:lnTo>
                    <a:lnTo>
                      <a:pt x="240" y="240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/>
                <a:tailEnd type="none"/>
              </a:ln>
              <a:effectLst/>
            </p:spPr>
          </p:sp>
        </p:grpSp>
      </p:grpSp>
      <p:cxnSp>
        <p:nvCxnSpPr>
          <p:cNvPr id="11313" name=""/>
          <p:cNvCxnSpPr/>
          <p:nvPr/>
        </p:nvCxnSpPr>
        <p:spPr>
          <a:xfrm>
            <a:off x="4343400" y="3048000"/>
            <a:ext cx="4267200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miter lim="800000"/>
          </a:ln>
          <a:effectLst/>
        </p:spPr>
      </p:cxnSp>
      <p:sp>
        <p:nvSpPr>
          <p:cNvPr id="11314" name=""/>
          <p:cNvSpPr/>
          <p:nvPr/>
        </p:nvSpPr>
        <p:spPr>
          <a:xfrm>
            <a:off x="7908925" y="3170238"/>
            <a:ext cx="1158875" cy="27463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sz="1200" b="1"/>
              <a:t>Message Bus</a:t>
            </a:r>
            <a:endParaRPr sz="1200" b="1"/>
          </a:p>
        </p:txBody>
      </p:sp>
      <p:sp>
        <p:nvSpPr>
          <p:cNvPr id="11315" name=""/>
          <p:cNvSpPr/>
          <p:nvPr/>
        </p:nvSpPr>
        <p:spPr>
          <a:xfrm>
            <a:off x="4327525" y="1951038"/>
            <a:ext cx="692150" cy="27463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sz="1200" b="1"/>
              <a:t>Node 1</a:t>
            </a:r>
            <a:endParaRPr sz="1200" b="1"/>
          </a:p>
        </p:txBody>
      </p:sp>
      <p:sp>
        <p:nvSpPr>
          <p:cNvPr id="11316" name=""/>
          <p:cNvSpPr/>
          <p:nvPr/>
        </p:nvSpPr>
        <p:spPr>
          <a:xfrm>
            <a:off x="5394325" y="1951038"/>
            <a:ext cx="692150" cy="27463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sz="1200" b="1"/>
              <a:t>Node 2</a:t>
            </a:r>
            <a:endParaRPr sz="1200" b="1"/>
          </a:p>
        </p:txBody>
      </p:sp>
      <p:sp>
        <p:nvSpPr>
          <p:cNvPr id="11317" name=""/>
          <p:cNvSpPr/>
          <p:nvPr/>
        </p:nvSpPr>
        <p:spPr>
          <a:xfrm>
            <a:off x="7299325" y="1951038"/>
            <a:ext cx="692150" cy="27463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sz="1200" b="1"/>
              <a:t>Node 4</a:t>
            </a:r>
            <a:endParaRPr sz="1200" b="1"/>
          </a:p>
        </p:txBody>
      </p:sp>
      <p:sp>
        <p:nvSpPr>
          <p:cNvPr id="11318" name=""/>
          <p:cNvSpPr/>
          <p:nvPr/>
        </p:nvSpPr>
        <p:spPr>
          <a:xfrm>
            <a:off x="4327525" y="2255838"/>
            <a:ext cx="74295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sz="1200" b="1"/>
              <a:t>OS</a:t>
            </a:r>
            <a:br>
              <a:rPr sz="1200" b="1"/>
            </a:br>
            <a:r>
              <a:rPr sz="1200" b="1"/>
              <a:t>Tasks...</a:t>
            </a:r>
            <a:endParaRPr sz="1200" b="1"/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2290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Cluster Reality</a:t>
            </a:r>
          </a:p>
        </p:txBody>
      </p:sp>
      <p:sp>
        <p:nvSpPr>
          <p:cNvPr id="12291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Problems lie in software</a:t>
            </a:r>
          </a:p>
          <a:p>
            <a:pPr lvl="1"/>
            <a:r>
              <a:t>Messaging between nodes is a very complex technology. Requires time to mature.  Example: Tandem's 20 years of experience.</a:t>
            </a:r>
          </a:p>
          <a:p>
            <a:pPr lvl="1"/>
            <a:r>
              <a:t>Today's system software and customer applications are not cluster-enabled.  Require re-engineering to work in a cluster and may not scale well unless carefully architected</a:t>
            </a:r>
          </a:p>
          <a:p>
            <a:pPr lvl="2"/>
            <a:r>
              <a:t>Example: Oracle Parallel Server, IBM ES/9000 Sysplex</a:t>
            </a:r>
          </a:p>
          <a:p>
            <a:pPr lvl="0"/>
            <a:r>
              <a:t>Trend</a:t>
            </a:r>
          </a:p>
          <a:p>
            <a:pPr lvl="1"/>
            <a:r>
              <a:t>Distributed operating systems will evolve from a cluster technology base</a:t>
            </a:r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3314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Massively Parallel (MPP or SPP)</a:t>
            </a:r>
          </a:p>
        </p:txBody>
      </p:sp>
      <p:sp>
        <p:nvSpPr>
          <p:cNvPr id="13315" name=""/>
          <p:cNvSpPr/>
          <p:nvPr>
            <p:ph type="body" idx="1"/>
          </p:nvPr>
        </p:nvSpPr>
        <p:spPr>
          <a:xfrm>
            <a:off x="381000" y="1676400"/>
            <a:ext cx="3962400" cy="48006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rPr sz="2000"/>
              <a:t>Examples: nCube, Kendall Square, large Tandem Himalaya, large IBM SP2, Teradata, AT&amp;T 3600</a:t>
            </a:r>
            <a:endParaRPr sz="2000"/>
          </a:p>
          <a:p>
            <a:pPr lvl="0"/>
            <a:r>
              <a:rPr sz="2000"/>
              <a:t>No industry-accepted definition.  Aberdeen says </a:t>
            </a:r>
            <a:r>
              <a:rPr sz="2000" i="1"/>
              <a:t>any system with more than 100 nodes is massive</a:t>
            </a:r>
            <a:r>
              <a:rPr sz="2000"/>
              <a:t>. </a:t>
            </a:r>
            <a:endParaRPr sz="2000"/>
          </a:p>
          <a:p>
            <a:pPr lvl="0"/>
            <a:r>
              <a:rPr sz="2000"/>
              <a:t> “Shared nothing” is required.</a:t>
            </a:r>
            <a:endParaRPr sz="2000"/>
          </a:p>
          <a:p>
            <a:pPr lvl="0"/>
            <a:r>
              <a:rPr sz="2000"/>
              <a:t>Differentiators </a:t>
            </a:r>
            <a:endParaRPr sz="2000"/>
          </a:p>
          <a:p>
            <a:pPr lvl="1"/>
            <a:r>
              <a:rPr sz="1600"/>
              <a:t>Merchant vs. custom micro-processor</a:t>
            </a:r>
            <a:endParaRPr sz="1600"/>
          </a:p>
          <a:p>
            <a:pPr lvl="1"/>
            <a:r>
              <a:rPr sz="1600"/>
              <a:t>Standard (e.g., Unix) vs. proprietary architecture</a:t>
            </a:r>
            <a:endParaRPr sz="1600"/>
          </a:p>
          <a:p>
            <a:pPr lvl="1"/>
            <a:r>
              <a:rPr sz="1600"/>
              <a:t>Interconnect technology</a:t>
            </a:r>
            <a:endParaRPr sz="1600"/>
          </a:p>
        </p:txBody>
      </p:sp>
      <p:cxnSp>
        <p:nvCxnSpPr>
          <p:cNvPr id="13316" name=""/>
          <p:cNvCxnSpPr/>
          <p:nvPr/>
        </p:nvCxnSpPr>
        <p:spPr>
          <a:xfrm flipH="1">
            <a:off x="4264025" y="2438400"/>
            <a:ext cx="4572000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miter lim="800000"/>
          </a:ln>
          <a:effectLst/>
        </p:spPr>
      </p:cxnSp>
      <p:cxnSp>
        <p:nvCxnSpPr>
          <p:cNvPr id="13317" name=""/>
          <p:cNvCxnSpPr/>
          <p:nvPr/>
        </p:nvCxnSpPr>
        <p:spPr>
          <a:xfrm flipH="1">
            <a:off x="4264025" y="2438400"/>
            <a:ext cx="0" cy="2286000"/>
          </a:xfrm>
          <a:prstGeom prst="line">
            <a:avLst/>
          </a:prstGeom>
          <a:noFill/>
          <a:ln w="76200" cmpd="tri">
            <a:solidFill>
              <a:schemeClr val="tx1"/>
            </a:solidFill>
            <a:miter lim="800000"/>
          </a:ln>
          <a:effectLst/>
        </p:spPr>
      </p:cxnSp>
      <p:cxnSp>
        <p:nvCxnSpPr>
          <p:cNvPr id="13318" name=""/>
          <p:cNvCxnSpPr/>
          <p:nvPr/>
        </p:nvCxnSpPr>
        <p:spPr>
          <a:xfrm>
            <a:off x="4264025" y="4724400"/>
            <a:ext cx="4495800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miter lim="800000"/>
          </a:ln>
          <a:effectLst/>
        </p:spPr>
      </p:cxnSp>
      <p:cxnSp>
        <p:nvCxnSpPr>
          <p:cNvPr id="13319" name=""/>
          <p:cNvCxnSpPr/>
          <p:nvPr/>
        </p:nvCxnSpPr>
        <p:spPr>
          <a:xfrm flipH="1">
            <a:off x="4416425" y="2590800"/>
            <a:ext cx="4572000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miter lim="800000"/>
          </a:ln>
          <a:effectLst/>
        </p:spPr>
      </p:cxnSp>
      <p:cxnSp>
        <p:nvCxnSpPr>
          <p:cNvPr id="13320" name=""/>
          <p:cNvCxnSpPr/>
          <p:nvPr/>
        </p:nvCxnSpPr>
        <p:spPr>
          <a:xfrm flipH="1">
            <a:off x="4416425" y="2590800"/>
            <a:ext cx="0" cy="2286000"/>
          </a:xfrm>
          <a:prstGeom prst="line">
            <a:avLst/>
          </a:prstGeom>
          <a:noFill/>
          <a:ln w="76200" cmpd="tri">
            <a:solidFill>
              <a:schemeClr val="tx1"/>
            </a:solidFill>
            <a:miter lim="800000"/>
          </a:ln>
          <a:effectLst/>
        </p:spPr>
      </p:cxnSp>
      <p:cxnSp>
        <p:nvCxnSpPr>
          <p:cNvPr id="13321" name=""/>
          <p:cNvCxnSpPr/>
          <p:nvPr/>
        </p:nvCxnSpPr>
        <p:spPr>
          <a:xfrm>
            <a:off x="4416425" y="4876800"/>
            <a:ext cx="4495800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miter lim="800000"/>
          </a:ln>
          <a:effectLst/>
        </p:spPr>
      </p:cxnSp>
      <p:cxnSp>
        <p:nvCxnSpPr>
          <p:cNvPr id="13322" name=""/>
          <p:cNvCxnSpPr/>
          <p:nvPr/>
        </p:nvCxnSpPr>
        <p:spPr>
          <a:xfrm flipH="1">
            <a:off x="4568825" y="2743200"/>
            <a:ext cx="4572000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miter lim="800000"/>
          </a:ln>
          <a:effectLst/>
        </p:spPr>
      </p:cxnSp>
      <p:cxnSp>
        <p:nvCxnSpPr>
          <p:cNvPr id="13323" name=""/>
          <p:cNvCxnSpPr/>
          <p:nvPr/>
        </p:nvCxnSpPr>
        <p:spPr>
          <a:xfrm flipH="1">
            <a:off x="4568825" y="2743200"/>
            <a:ext cx="0" cy="2286000"/>
          </a:xfrm>
          <a:prstGeom prst="line">
            <a:avLst/>
          </a:prstGeom>
          <a:noFill/>
          <a:ln w="76200" cmpd="tri">
            <a:solidFill>
              <a:schemeClr val="tx1"/>
            </a:solidFill>
            <a:miter lim="800000"/>
          </a:ln>
          <a:effectLst/>
        </p:spPr>
      </p:cxnSp>
      <p:cxnSp>
        <p:nvCxnSpPr>
          <p:cNvPr id="13324" name=""/>
          <p:cNvCxnSpPr/>
          <p:nvPr/>
        </p:nvCxnSpPr>
        <p:spPr>
          <a:xfrm>
            <a:off x="4568825" y="5029200"/>
            <a:ext cx="4495800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miter lim="800000"/>
          </a:ln>
          <a:effectLst/>
        </p:spPr>
      </p:cxnSp>
      <p:grpSp>
        <p:nvGrpSpPr>
          <p:cNvPr id="13365" name=""/>
          <p:cNvGrpSpPr/>
          <p:nvPr/>
        </p:nvGrpSpPr>
        <p:grpSpPr>
          <a:xfrm>
            <a:off x="4803775" y="1506538"/>
            <a:ext cx="1968500" cy="1763712"/>
            <a:chOff x="3026" y="949"/>
            <a:chExt cx="1240" cy="1111"/>
          </a:xfrm>
        </p:grpSpPr>
        <p:sp>
          <p:nvSpPr>
            <p:cNvPr id="13325" name=""/>
            <p:cNvSpPr/>
            <p:nvPr/>
          </p:nvSpPr>
          <p:spPr>
            <a:xfrm>
              <a:off x="3026" y="949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326" name=""/>
            <p:cNvSpPr/>
            <p:nvPr/>
          </p:nvSpPr>
          <p:spPr>
            <a:xfrm>
              <a:off x="3026" y="1860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327" name=""/>
            <p:cNvCxnSpPr/>
            <p:nvPr/>
          </p:nvCxnSpPr>
          <p:spPr>
            <a:xfrm flipH="1">
              <a:off x="3100" y="1387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28" name=""/>
            <p:cNvCxnSpPr/>
            <p:nvPr/>
          </p:nvCxnSpPr>
          <p:spPr>
            <a:xfrm flipH="1">
              <a:off x="3178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29" name=""/>
            <p:cNvCxnSpPr/>
            <p:nvPr/>
          </p:nvCxnSpPr>
          <p:spPr>
            <a:xfrm flipH="1">
              <a:off x="3152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30" name=""/>
            <p:cNvCxnSpPr/>
            <p:nvPr/>
          </p:nvCxnSpPr>
          <p:spPr>
            <a:xfrm flipH="1">
              <a:off x="3100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31" name=""/>
            <p:cNvCxnSpPr/>
            <p:nvPr/>
          </p:nvCxnSpPr>
          <p:spPr>
            <a:xfrm flipH="1">
              <a:off x="3152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32" name=""/>
            <p:cNvCxnSpPr/>
            <p:nvPr/>
          </p:nvCxnSpPr>
          <p:spPr>
            <a:xfrm flipH="1">
              <a:off x="3178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333" name=""/>
            <p:cNvSpPr/>
            <p:nvPr/>
          </p:nvSpPr>
          <p:spPr>
            <a:xfrm>
              <a:off x="3100" y="1908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334" name=""/>
            <p:cNvSpPr/>
            <p:nvPr/>
          </p:nvSpPr>
          <p:spPr>
            <a:xfrm>
              <a:off x="3364" y="949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335" name=""/>
            <p:cNvSpPr/>
            <p:nvPr/>
          </p:nvSpPr>
          <p:spPr>
            <a:xfrm>
              <a:off x="3364" y="1860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336" name=""/>
            <p:cNvCxnSpPr/>
            <p:nvPr/>
          </p:nvCxnSpPr>
          <p:spPr>
            <a:xfrm flipH="1">
              <a:off x="3438" y="1387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37" name=""/>
            <p:cNvCxnSpPr/>
            <p:nvPr/>
          </p:nvCxnSpPr>
          <p:spPr>
            <a:xfrm flipH="1">
              <a:off x="3516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38" name=""/>
            <p:cNvCxnSpPr/>
            <p:nvPr/>
          </p:nvCxnSpPr>
          <p:spPr>
            <a:xfrm flipH="1">
              <a:off x="3490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39" name=""/>
            <p:cNvCxnSpPr/>
            <p:nvPr/>
          </p:nvCxnSpPr>
          <p:spPr>
            <a:xfrm flipH="1">
              <a:off x="3438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40" name=""/>
            <p:cNvCxnSpPr/>
            <p:nvPr/>
          </p:nvCxnSpPr>
          <p:spPr>
            <a:xfrm flipH="1">
              <a:off x="3490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41" name=""/>
            <p:cNvCxnSpPr/>
            <p:nvPr/>
          </p:nvCxnSpPr>
          <p:spPr>
            <a:xfrm flipH="1">
              <a:off x="3516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342" name=""/>
            <p:cNvSpPr/>
            <p:nvPr/>
          </p:nvSpPr>
          <p:spPr>
            <a:xfrm>
              <a:off x="3438" y="1908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343" name=""/>
            <p:cNvSpPr/>
            <p:nvPr/>
          </p:nvSpPr>
          <p:spPr>
            <a:xfrm>
              <a:off x="3702" y="949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344" name=""/>
            <p:cNvSpPr/>
            <p:nvPr/>
          </p:nvSpPr>
          <p:spPr>
            <a:xfrm>
              <a:off x="3702" y="1860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345" name=""/>
            <p:cNvCxnSpPr/>
            <p:nvPr/>
          </p:nvCxnSpPr>
          <p:spPr>
            <a:xfrm flipH="1">
              <a:off x="3776" y="1387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46" name=""/>
            <p:cNvCxnSpPr/>
            <p:nvPr/>
          </p:nvCxnSpPr>
          <p:spPr>
            <a:xfrm flipH="1">
              <a:off x="3854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47" name=""/>
            <p:cNvCxnSpPr/>
            <p:nvPr/>
          </p:nvCxnSpPr>
          <p:spPr>
            <a:xfrm flipH="1">
              <a:off x="3828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48" name=""/>
            <p:cNvCxnSpPr/>
            <p:nvPr/>
          </p:nvCxnSpPr>
          <p:spPr>
            <a:xfrm flipH="1">
              <a:off x="3776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49" name=""/>
            <p:cNvCxnSpPr/>
            <p:nvPr/>
          </p:nvCxnSpPr>
          <p:spPr>
            <a:xfrm flipH="1">
              <a:off x="3828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50" name=""/>
            <p:cNvCxnSpPr/>
            <p:nvPr/>
          </p:nvCxnSpPr>
          <p:spPr>
            <a:xfrm flipH="1">
              <a:off x="3854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351" name=""/>
            <p:cNvSpPr/>
            <p:nvPr/>
          </p:nvSpPr>
          <p:spPr>
            <a:xfrm>
              <a:off x="3776" y="1908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352" name=""/>
            <p:cNvSpPr/>
            <p:nvPr/>
          </p:nvSpPr>
          <p:spPr>
            <a:xfrm>
              <a:off x="4040" y="949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353" name=""/>
            <p:cNvSpPr/>
            <p:nvPr/>
          </p:nvSpPr>
          <p:spPr>
            <a:xfrm>
              <a:off x="4040" y="1860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354" name=""/>
            <p:cNvCxnSpPr/>
            <p:nvPr/>
          </p:nvCxnSpPr>
          <p:spPr>
            <a:xfrm flipH="1">
              <a:off x="4114" y="1387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55" name=""/>
            <p:cNvCxnSpPr/>
            <p:nvPr/>
          </p:nvCxnSpPr>
          <p:spPr>
            <a:xfrm flipH="1">
              <a:off x="4192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56" name=""/>
            <p:cNvCxnSpPr/>
            <p:nvPr/>
          </p:nvCxnSpPr>
          <p:spPr>
            <a:xfrm flipH="1">
              <a:off x="4166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57" name=""/>
            <p:cNvCxnSpPr/>
            <p:nvPr/>
          </p:nvCxnSpPr>
          <p:spPr>
            <a:xfrm flipH="1">
              <a:off x="4114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58" name=""/>
            <p:cNvCxnSpPr/>
            <p:nvPr/>
          </p:nvCxnSpPr>
          <p:spPr>
            <a:xfrm flipH="1">
              <a:off x="4166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59" name=""/>
            <p:cNvCxnSpPr/>
            <p:nvPr/>
          </p:nvCxnSpPr>
          <p:spPr>
            <a:xfrm flipH="1">
              <a:off x="4192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360" name=""/>
            <p:cNvSpPr/>
            <p:nvPr/>
          </p:nvSpPr>
          <p:spPr>
            <a:xfrm>
              <a:off x="4114" y="1908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361" name=""/>
            <p:cNvSpPr/>
            <p:nvPr/>
          </p:nvSpPr>
          <p:spPr>
            <a:xfrm>
              <a:off x="3026" y="1588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362" name=""/>
            <p:cNvSpPr/>
            <p:nvPr/>
          </p:nvSpPr>
          <p:spPr>
            <a:xfrm>
              <a:off x="3362" y="1588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363" name=""/>
            <p:cNvSpPr/>
            <p:nvPr/>
          </p:nvSpPr>
          <p:spPr>
            <a:xfrm>
              <a:off x="3698" y="1588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364" name=""/>
            <p:cNvSpPr/>
            <p:nvPr/>
          </p:nvSpPr>
          <p:spPr>
            <a:xfrm>
              <a:off x="4034" y="1588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</p:grpSp>
      <p:grpSp>
        <p:nvGrpSpPr>
          <p:cNvPr id="13406" name=""/>
          <p:cNvGrpSpPr/>
          <p:nvPr/>
        </p:nvGrpSpPr>
        <p:grpSpPr>
          <a:xfrm>
            <a:off x="4803775" y="3640138"/>
            <a:ext cx="1968500" cy="1763712"/>
            <a:chOff x="3026" y="2293"/>
            <a:chExt cx="1240" cy="1111"/>
          </a:xfrm>
        </p:grpSpPr>
        <p:sp>
          <p:nvSpPr>
            <p:cNvPr id="13366" name=""/>
            <p:cNvSpPr/>
            <p:nvPr/>
          </p:nvSpPr>
          <p:spPr>
            <a:xfrm>
              <a:off x="3026" y="2293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367" name=""/>
            <p:cNvSpPr/>
            <p:nvPr/>
          </p:nvSpPr>
          <p:spPr>
            <a:xfrm>
              <a:off x="3026" y="3204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368" name=""/>
            <p:cNvCxnSpPr/>
            <p:nvPr/>
          </p:nvCxnSpPr>
          <p:spPr>
            <a:xfrm flipH="1">
              <a:off x="3100" y="273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69" name=""/>
            <p:cNvCxnSpPr/>
            <p:nvPr/>
          </p:nvCxnSpPr>
          <p:spPr>
            <a:xfrm flipH="1">
              <a:off x="3178" y="2731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70" name=""/>
            <p:cNvCxnSpPr/>
            <p:nvPr/>
          </p:nvCxnSpPr>
          <p:spPr>
            <a:xfrm flipH="1">
              <a:off x="3152" y="2731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71" name=""/>
            <p:cNvCxnSpPr/>
            <p:nvPr/>
          </p:nvCxnSpPr>
          <p:spPr>
            <a:xfrm flipH="1">
              <a:off x="3100" y="3096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72" name=""/>
            <p:cNvCxnSpPr/>
            <p:nvPr/>
          </p:nvCxnSpPr>
          <p:spPr>
            <a:xfrm flipH="1">
              <a:off x="3152" y="3096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73" name=""/>
            <p:cNvCxnSpPr/>
            <p:nvPr/>
          </p:nvCxnSpPr>
          <p:spPr>
            <a:xfrm flipH="1">
              <a:off x="3178" y="3096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374" name=""/>
            <p:cNvSpPr/>
            <p:nvPr/>
          </p:nvSpPr>
          <p:spPr>
            <a:xfrm>
              <a:off x="3100" y="3252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375" name=""/>
            <p:cNvSpPr/>
            <p:nvPr/>
          </p:nvSpPr>
          <p:spPr>
            <a:xfrm>
              <a:off x="3364" y="2293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376" name=""/>
            <p:cNvSpPr/>
            <p:nvPr/>
          </p:nvSpPr>
          <p:spPr>
            <a:xfrm>
              <a:off x="3364" y="3204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377" name=""/>
            <p:cNvCxnSpPr/>
            <p:nvPr/>
          </p:nvCxnSpPr>
          <p:spPr>
            <a:xfrm flipH="1">
              <a:off x="3438" y="273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78" name=""/>
            <p:cNvCxnSpPr/>
            <p:nvPr/>
          </p:nvCxnSpPr>
          <p:spPr>
            <a:xfrm flipH="1">
              <a:off x="3516" y="2731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79" name=""/>
            <p:cNvCxnSpPr/>
            <p:nvPr/>
          </p:nvCxnSpPr>
          <p:spPr>
            <a:xfrm flipH="1">
              <a:off x="3490" y="2731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80" name=""/>
            <p:cNvCxnSpPr/>
            <p:nvPr/>
          </p:nvCxnSpPr>
          <p:spPr>
            <a:xfrm flipH="1">
              <a:off x="3438" y="3096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81" name=""/>
            <p:cNvCxnSpPr/>
            <p:nvPr/>
          </p:nvCxnSpPr>
          <p:spPr>
            <a:xfrm flipH="1">
              <a:off x="3490" y="3096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82" name=""/>
            <p:cNvCxnSpPr/>
            <p:nvPr/>
          </p:nvCxnSpPr>
          <p:spPr>
            <a:xfrm flipH="1">
              <a:off x="3516" y="3096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383" name=""/>
            <p:cNvSpPr/>
            <p:nvPr/>
          </p:nvSpPr>
          <p:spPr>
            <a:xfrm>
              <a:off x="3438" y="3252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384" name=""/>
            <p:cNvSpPr/>
            <p:nvPr/>
          </p:nvSpPr>
          <p:spPr>
            <a:xfrm>
              <a:off x="3702" y="2293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385" name=""/>
            <p:cNvSpPr/>
            <p:nvPr/>
          </p:nvSpPr>
          <p:spPr>
            <a:xfrm>
              <a:off x="3702" y="3204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386" name=""/>
            <p:cNvCxnSpPr/>
            <p:nvPr/>
          </p:nvCxnSpPr>
          <p:spPr>
            <a:xfrm flipH="1">
              <a:off x="3776" y="273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87" name=""/>
            <p:cNvCxnSpPr/>
            <p:nvPr/>
          </p:nvCxnSpPr>
          <p:spPr>
            <a:xfrm flipH="1">
              <a:off x="3854" y="2731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88" name=""/>
            <p:cNvCxnSpPr/>
            <p:nvPr/>
          </p:nvCxnSpPr>
          <p:spPr>
            <a:xfrm flipH="1">
              <a:off x="3828" y="2731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89" name=""/>
            <p:cNvCxnSpPr/>
            <p:nvPr/>
          </p:nvCxnSpPr>
          <p:spPr>
            <a:xfrm flipH="1">
              <a:off x="3776" y="3096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90" name=""/>
            <p:cNvCxnSpPr/>
            <p:nvPr/>
          </p:nvCxnSpPr>
          <p:spPr>
            <a:xfrm flipH="1">
              <a:off x="3828" y="3096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91" name=""/>
            <p:cNvCxnSpPr/>
            <p:nvPr/>
          </p:nvCxnSpPr>
          <p:spPr>
            <a:xfrm flipH="1">
              <a:off x="3854" y="3096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392" name=""/>
            <p:cNvSpPr/>
            <p:nvPr/>
          </p:nvSpPr>
          <p:spPr>
            <a:xfrm>
              <a:off x="3776" y="3252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393" name=""/>
            <p:cNvSpPr/>
            <p:nvPr/>
          </p:nvSpPr>
          <p:spPr>
            <a:xfrm>
              <a:off x="4040" y="2293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394" name=""/>
            <p:cNvSpPr/>
            <p:nvPr/>
          </p:nvSpPr>
          <p:spPr>
            <a:xfrm>
              <a:off x="4040" y="3204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395" name=""/>
            <p:cNvCxnSpPr/>
            <p:nvPr/>
          </p:nvCxnSpPr>
          <p:spPr>
            <a:xfrm flipH="1">
              <a:off x="4114" y="273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96" name=""/>
            <p:cNvCxnSpPr/>
            <p:nvPr/>
          </p:nvCxnSpPr>
          <p:spPr>
            <a:xfrm flipH="1">
              <a:off x="4192" y="2731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97" name=""/>
            <p:cNvCxnSpPr/>
            <p:nvPr/>
          </p:nvCxnSpPr>
          <p:spPr>
            <a:xfrm flipH="1">
              <a:off x="4166" y="2731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98" name=""/>
            <p:cNvCxnSpPr/>
            <p:nvPr/>
          </p:nvCxnSpPr>
          <p:spPr>
            <a:xfrm flipH="1">
              <a:off x="4114" y="3096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399" name=""/>
            <p:cNvCxnSpPr/>
            <p:nvPr/>
          </p:nvCxnSpPr>
          <p:spPr>
            <a:xfrm flipH="1">
              <a:off x="4166" y="3096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00" name=""/>
            <p:cNvCxnSpPr/>
            <p:nvPr/>
          </p:nvCxnSpPr>
          <p:spPr>
            <a:xfrm flipH="1">
              <a:off x="4192" y="3096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401" name=""/>
            <p:cNvSpPr/>
            <p:nvPr/>
          </p:nvSpPr>
          <p:spPr>
            <a:xfrm>
              <a:off x="4114" y="3252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402" name=""/>
            <p:cNvSpPr/>
            <p:nvPr/>
          </p:nvSpPr>
          <p:spPr>
            <a:xfrm>
              <a:off x="3026" y="2932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03" name=""/>
            <p:cNvSpPr/>
            <p:nvPr/>
          </p:nvSpPr>
          <p:spPr>
            <a:xfrm>
              <a:off x="3362" y="2932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04" name=""/>
            <p:cNvSpPr/>
            <p:nvPr/>
          </p:nvSpPr>
          <p:spPr>
            <a:xfrm>
              <a:off x="3698" y="2932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05" name=""/>
            <p:cNvSpPr/>
            <p:nvPr/>
          </p:nvSpPr>
          <p:spPr>
            <a:xfrm>
              <a:off x="4034" y="2932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</p:grpSp>
      <p:grpSp>
        <p:nvGrpSpPr>
          <p:cNvPr id="13447" name=""/>
          <p:cNvGrpSpPr/>
          <p:nvPr/>
        </p:nvGrpSpPr>
        <p:grpSpPr>
          <a:xfrm>
            <a:off x="4956175" y="3792538"/>
            <a:ext cx="1968500" cy="1763712"/>
            <a:chOff x="3122" y="2389"/>
            <a:chExt cx="1240" cy="1111"/>
          </a:xfrm>
        </p:grpSpPr>
        <p:sp>
          <p:nvSpPr>
            <p:cNvPr id="13407" name=""/>
            <p:cNvSpPr/>
            <p:nvPr/>
          </p:nvSpPr>
          <p:spPr>
            <a:xfrm>
              <a:off x="3122" y="2389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08" name=""/>
            <p:cNvSpPr/>
            <p:nvPr/>
          </p:nvSpPr>
          <p:spPr>
            <a:xfrm>
              <a:off x="3122" y="3300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409" name=""/>
            <p:cNvCxnSpPr/>
            <p:nvPr/>
          </p:nvCxnSpPr>
          <p:spPr>
            <a:xfrm flipH="1">
              <a:off x="3196" y="2827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10" name=""/>
            <p:cNvCxnSpPr/>
            <p:nvPr/>
          </p:nvCxnSpPr>
          <p:spPr>
            <a:xfrm flipH="1">
              <a:off x="3274" y="282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11" name=""/>
            <p:cNvCxnSpPr/>
            <p:nvPr/>
          </p:nvCxnSpPr>
          <p:spPr>
            <a:xfrm flipH="1">
              <a:off x="3248" y="282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12" name=""/>
            <p:cNvCxnSpPr/>
            <p:nvPr/>
          </p:nvCxnSpPr>
          <p:spPr>
            <a:xfrm flipH="1">
              <a:off x="3196" y="319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13" name=""/>
            <p:cNvCxnSpPr/>
            <p:nvPr/>
          </p:nvCxnSpPr>
          <p:spPr>
            <a:xfrm flipH="1">
              <a:off x="3248" y="319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14" name=""/>
            <p:cNvCxnSpPr/>
            <p:nvPr/>
          </p:nvCxnSpPr>
          <p:spPr>
            <a:xfrm flipH="1">
              <a:off x="3274" y="319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415" name=""/>
            <p:cNvSpPr/>
            <p:nvPr/>
          </p:nvSpPr>
          <p:spPr>
            <a:xfrm>
              <a:off x="3196" y="3348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416" name=""/>
            <p:cNvSpPr/>
            <p:nvPr/>
          </p:nvSpPr>
          <p:spPr>
            <a:xfrm>
              <a:off x="3460" y="2389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17" name=""/>
            <p:cNvSpPr/>
            <p:nvPr/>
          </p:nvSpPr>
          <p:spPr>
            <a:xfrm>
              <a:off x="3460" y="3300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418" name=""/>
            <p:cNvCxnSpPr/>
            <p:nvPr/>
          </p:nvCxnSpPr>
          <p:spPr>
            <a:xfrm flipH="1">
              <a:off x="3534" y="2827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19" name=""/>
            <p:cNvCxnSpPr/>
            <p:nvPr/>
          </p:nvCxnSpPr>
          <p:spPr>
            <a:xfrm flipH="1">
              <a:off x="3612" y="282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20" name=""/>
            <p:cNvCxnSpPr/>
            <p:nvPr/>
          </p:nvCxnSpPr>
          <p:spPr>
            <a:xfrm flipH="1">
              <a:off x="3586" y="282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21" name=""/>
            <p:cNvCxnSpPr/>
            <p:nvPr/>
          </p:nvCxnSpPr>
          <p:spPr>
            <a:xfrm flipH="1">
              <a:off x="3534" y="319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22" name=""/>
            <p:cNvCxnSpPr/>
            <p:nvPr/>
          </p:nvCxnSpPr>
          <p:spPr>
            <a:xfrm flipH="1">
              <a:off x="3586" y="319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23" name=""/>
            <p:cNvCxnSpPr/>
            <p:nvPr/>
          </p:nvCxnSpPr>
          <p:spPr>
            <a:xfrm flipH="1">
              <a:off x="3612" y="319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424" name=""/>
            <p:cNvSpPr/>
            <p:nvPr/>
          </p:nvSpPr>
          <p:spPr>
            <a:xfrm>
              <a:off x="3534" y="3348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425" name=""/>
            <p:cNvSpPr/>
            <p:nvPr/>
          </p:nvSpPr>
          <p:spPr>
            <a:xfrm>
              <a:off x="3798" y="2389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26" name=""/>
            <p:cNvSpPr/>
            <p:nvPr/>
          </p:nvSpPr>
          <p:spPr>
            <a:xfrm>
              <a:off x="3798" y="3300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427" name=""/>
            <p:cNvCxnSpPr/>
            <p:nvPr/>
          </p:nvCxnSpPr>
          <p:spPr>
            <a:xfrm flipH="1">
              <a:off x="3872" y="2827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28" name=""/>
            <p:cNvCxnSpPr/>
            <p:nvPr/>
          </p:nvCxnSpPr>
          <p:spPr>
            <a:xfrm flipH="1">
              <a:off x="3950" y="282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29" name=""/>
            <p:cNvCxnSpPr/>
            <p:nvPr/>
          </p:nvCxnSpPr>
          <p:spPr>
            <a:xfrm flipH="1">
              <a:off x="3924" y="282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30" name=""/>
            <p:cNvCxnSpPr/>
            <p:nvPr/>
          </p:nvCxnSpPr>
          <p:spPr>
            <a:xfrm flipH="1">
              <a:off x="3872" y="319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31" name=""/>
            <p:cNvCxnSpPr/>
            <p:nvPr/>
          </p:nvCxnSpPr>
          <p:spPr>
            <a:xfrm flipH="1">
              <a:off x="3924" y="319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32" name=""/>
            <p:cNvCxnSpPr/>
            <p:nvPr/>
          </p:nvCxnSpPr>
          <p:spPr>
            <a:xfrm flipH="1">
              <a:off x="3950" y="319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433" name=""/>
            <p:cNvSpPr/>
            <p:nvPr/>
          </p:nvSpPr>
          <p:spPr>
            <a:xfrm>
              <a:off x="3872" y="3348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434" name=""/>
            <p:cNvSpPr/>
            <p:nvPr/>
          </p:nvSpPr>
          <p:spPr>
            <a:xfrm>
              <a:off x="4136" y="2389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35" name=""/>
            <p:cNvSpPr/>
            <p:nvPr/>
          </p:nvSpPr>
          <p:spPr>
            <a:xfrm>
              <a:off x="4136" y="3300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436" name=""/>
            <p:cNvCxnSpPr/>
            <p:nvPr/>
          </p:nvCxnSpPr>
          <p:spPr>
            <a:xfrm flipH="1">
              <a:off x="4210" y="2827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37" name=""/>
            <p:cNvCxnSpPr/>
            <p:nvPr/>
          </p:nvCxnSpPr>
          <p:spPr>
            <a:xfrm flipH="1">
              <a:off x="4288" y="282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38" name=""/>
            <p:cNvCxnSpPr/>
            <p:nvPr/>
          </p:nvCxnSpPr>
          <p:spPr>
            <a:xfrm flipH="1">
              <a:off x="4262" y="282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39" name=""/>
            <p:cNvCxnSpPr/>
            <p:nvPr/>
          </p:nvCxnSpPr>
          <p:spPr>
            <a:xfrm flipH="1">
              <a:off x="4210" y="319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40" name=""/>
            <p:cNvCxnSpPr/>
            <p:nvPr/>
          </p:nvCxnSpPr>
          <p:spPr>
            <a:xfrm flipH="1">
              <a:off x="4262" y="319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41" name=""/>
            <p:cNvCxnSpPr/>
            <p:nvPr/>
          </p:nvCxnSpPr>
          <p:spPr>
            <a:xfrm flipH="1">
              <a:off x="4288" y="319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442" name=""/>
            <p:cNvSpPr/>
            <p:nvPr/>
          </p:nvSpPr>
          <p:spPr>
            <a:xfrm>
              <a:off x="4210" y="3348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443" name=""/>
            <p:cNvSpPr/>
            <p:nvPr/>
          </p:nvSpPr>
          <p:spPr>
            <a:xfrm>
              <a:off x="3122" y="3028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44" name=""/>
            <p:cNvSpPr/>
            <p:nvPr/>
          </p:nvSpPr>
          <p:spPr>
            <a:xfrm>
              <a:off x="3458" y="3028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45" name=""/>
            <p:cNvSpPr/>
            <p:nvPr/>
          </p:nvSpPr>
          <p:spPr>
            <a:xfrm>
              <a:off x="3794" y="3028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46" name=""/>
            <p:cNvSpPr/>
            <p:nvPr/>
          </p:nvSpPr>
          <p:spPr>
            <a:xfrm>
              <a:off x="4130" y="3028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</p:grpSp>
      <p:grpSp>
        <p:nvGrpSpPr>
          <p:cNvPr id="13488" name=""/>
          <p:cNvGrpSpPr/>
          <p:nvPr/>
        </p:nvGrpSpPr>
        <p:grpSpPr>
          <a:xfrm>
            <a:off x="5108575" y="3944938"/>
            <a:ext cx="1968500" cy="1763712"/>
            <a:chOff x="3218" y="2485"/>
            <a:chExt cx="1240" cy="1111"/>
          </a:xfrm>
        </p:grpSpPr>
        <p:sp>
          <p:nvSpPr>
            <p:cNvPr id="13448" name=""/>
            <p:cNvSpPr/>
            <p:nvPr/>
          </p:nvSpPr>
          <p:spPr>
            <a:xfrm>
              <a:off x="3218" y="2485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49" name=""/>
            <p:cNvSpPr/>
            <p:nvPr/>
          </p:nvSpPr>
          <p:spPr>
            <a:xfrm>
              <a:off x="3218" y="3396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450" name=""/>
            <p:cNvCxnSpPr/>
            <p:nvPr/>
          </p:nvCxnSpPr>
          <p:spPr>
            <a:xfrm flipH="1">
              <a:off x="3292" y="292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51" name=""/>
            <p:cNvCxnSpPr/>
            <p:nvPr/>
          </p:nvCxnSpPr>
          <p:spPr>
            <a:xfrm flipH="1">
              <a:off x="3370" y="2923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52" name=""/>
            <p:cNvCxnSpPr/>
            <p:nvPr/>
          </p:nvCxnSpPr>
          <p:spPr>
            <a:xfrm flipH="1">
              <a:off x="3344" y="2923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53" name=""/>
            <p:cNvCxnSpPr/>
            <p:nvPr/>
          </p:nvCxnSpPr>
          <p:spPr>
            <a:xfrm flipH="1">
              <a:off x="3292" y="3288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54" name=""/>
            <p:cNvCxnSpPr/>
            <p:nvPr/>
          </p:nvCxnSpPr>
          <p:spPr>
            <a:xfrm flipH="1">
              <a:off x="3344" y="3288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55" name=""/>
            <p:cNvCxnSpPr/>
            <p:nvPr/>
          </p:nvCxnSpPr>
          <p:spPr>
            <a:xfrm flipH="1">
              <a:off x="3370" y="3288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456" name=""/>
            <p:cNvSpPr/>
            <p:nvPr/>
          </p:nvSpPr>
          <p:spPr>
            <a:xfrm>
              <a:off x="3292" y="3444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457" name=""/>
            <p:cNvSpPr/>
            <p:nvPr/>
          </p:nvSpPr>
          <p:spPr>
            <a:xfrm>
              <a:off x="3556" y="2485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58" name=""/>
            <p:cNvSpPr/>
            <p:nvPr/>
          </p:nvSpPr>
          <p:spPr>
            <a:xfrm>
              <a:off x="3556" y="3396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459" name=""/>
            <p:cNvCxnSpPr/>
            <p:nvPr/>
          </p:nvCxnSpPr>
          <p:spPr>
            <a:xfrm flipH="1">
              <a:off x="3630" y="292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60" name=""/>
            <p:cNvCxnSpPr/>
            <p:nvPr/>
          </p:nvCxnSpPr>
          <p:spPr>
            <a:xfrm flipH="1">
              <a:off x="3708" y="2923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61" name=""/>
            <p:cNvCxnSpPr/>
            <p:nvPr/>
          </p:nvCxnSpPr>
          <p:spPr>
            <a:xfrm flipH="1">
              <a:off x="3682" y="2923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62" name=""/>
            <p:cNvCxnSpPr/>
            <p:nvPr/>
          </p:nvCxnSpPr>
          <p:spPr>
            <a:xfrm flipH="1">
              <a:off x="3630" y="3288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63" name=""/>
            <p:cNvCxnSpPr/>
            <p:nvPr/>
          </p:nvCxnSpPr>
          <p:spPr>
            <a:xfrm flipH="1">
              <a:off x="3682" y="3288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64" name=""/>
            <p:cNvCxnSpPr/>
            <p:nvPr/>
          </p:nvCxnSpPr>
          <p:spPr>
            <a:xfrm flipH="1">
              <a:off x="3708" y="3288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465" name=""/>
            <p:cNvSpPr/>
            <p:nvPr/>
          </p:nvSpPr>
          <p:spPr>
            <a:xfrm>
              <a:off x="3630" y="3444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466" name=""/>
            <p:cNvSpPr/>
            <p:nvPr/>
          </p:nvSpPr>
          <p:spPr>
            <a:xfrm>
              <a:off x="3894" y="2485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67" name=""/>
            <p:cNvSpPr/>
            <p:nvPr/>
          </p:nvSpPr>
          <p:spPr>
            <a:xfrm>
              <a:off x="3894" y="3396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468" name=""/>
            <p:cNvCxnSpPr/>
            <p:nvPr/>
          </p:nvCxnSpPr>
          <p:spPr>
            <a:xfrm flipH="1">
              <a:off x="3968" y="292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69" name=""/>
            <p:cNvCxnSpPr/>
            <p:nvPr/>
          </p:nvCxnSpPr>
          <p:spPr>
            <a:xfrm flipH="1">
              <a:off x="4046" y="2923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70" name=""/>
            <p:cNvCxnSpPr/>
            <p:nvPr/>
          </p:nvCxnSpPr>
          <p:spPr>
            <a:xfrm flipH="1">
              <a:off x="4020" y="2923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71" name=""/>
            <p:cNvCxnSpPr/>
            <p:nvPr/>
          </p:nvCxnSpPr>
          <p:spPr>
            <a:xfrm flipH="1">
              <a:off x="3968" y="3288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72" name=""/>
            <p:cNvCxnSpPr/>
            <p:nvPr/>
          </p:nvCxnSpPr>
          <p:spPr>
            <a:xfrm flipH="1">
              <a:off x="4020" y="3288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73" name=""/>
            <p:cNvCxnSpPr/>
            <p:nvPr/>
          </p:nvCxnSpPr>
          <p:spPr>
            <a:xfrm flipH="1">
              <a:off x="4046" y="3288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474" name=""/>
            <p:cNvSpPr/>
            <p:nvPr/>
          </p:nvSpPr>
          <p:spPr>
            <a:xfrm>
              <a:off x="3968" y="3444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475" name=""/>
            <p:cNvSpPr/>
            <p:nvPr/>
          </p:nvSpPr>
          <p:spPr>
            <a:xfrm>
              <a:off x="4232" y="2485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76" name=""/>
            <p:cNvSpPr/>
            <p:nvPr/>
          </p:nvSpPr>
          <p:spPr>
            <a:xfrm>
              <a:off x="4232" y="3396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477" name=""/>
            <p:cNvCxnSpPr/>
            <p:nvPr/>
          </p:nvCxnSpPr>
          <p:spPr>
            <a:xfrm flipH="1">
              <a:off x="4306" y="292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78" name=""/>
            <p:cNvCxnSpPr/>
            <p:nvPr/>
          </p:nvCxnSpPr>
          <p:spPr>
            <a:xfrm flipH="1">
              <a:off x="4384" y="2923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79" name=""/>
            <p:cNvCxnSpPr/>
            <p:nvPr/>
          </p:nvCxnSpPr>
          <p:spPr>
            <a:xfrm flipH="1">
              <a:off x="4358" y="2923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80" name=""/>
            <p:cNvCxnSpPr/>
            <p:nvPr/>
          </p:nvCxnSpPr>
          <p:spPr>
            <a:xfrm flipH="1">
              <a:off x="4306" y="3288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81" name=""/>
            <p:cNvCxnSpPr/>
            <p:nvPr/>
          </p:nvCxnSpPr>
          <p:spPr>
            <a:xfrm flipH="1">
              <a:off x="4358" y="3288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82" name=""/>
            <p:cNvCxnSpPr/>
            <p:nvPr/>
          </p:nvCxnSpPr>
          <p:spPr>
            <a:xfrm flipH="1">
              <a:off x="4384" y="3288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483" name=""/>
            <p:cNvSpPr/>
            <p:nvPr/>
          </p:nvSpPr>
          <p:spPr>
            <a:xfrm>
              <a:off x="4306" y="3444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484" name=""/>
            <p:cNvSpPr/>
            <p:nvPr/>
          </p:nvSpPr>
          <p:spPr>
            <a:xfrm>
              <a:off x="3218" y="3124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85" name=""/>
            <p:cNvSpPr/>
            <p:nvPr/>
          </p:nvSpPr>
          <p:spPr>
            <a:xfrm>
              <a:off x="3554" y="3124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86" name=""/>
            <p:cNvSpPr/>
            <p:nvPr/>
          </p:nvSpPr>
          <p:spPr>
            <a:xfrm>
              <a:off x="3890" y="3124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87" name=""/>
            <p:cNvSpPr/>
            <p:nvPr/>
          </p:nvSpPr>
          <p:spPr>
            <a:xfrm>
              <a:off x="4226" y="3124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</p:grpSp>
      <p:grpSp>
        <p:nvGrpSpPr>
          <p:cNvPr id="13529" name=""/>
          <p:cNvGrpSpPr/>
          <p:nvPr/>
        </p:nvGrpSpPr>
        <p:grpSpPr>
          <a:xfrm>
            <a:off x="6937375" y="1506538"/>
            <a:ext cx="1968500" cy="1763712"/>
            <a:chOff x="4370" y="949"/>
            <a:chExt cx="1240" cy="1111"/>
          </a:xfrm>
        </p:grpSpPr>
        <p:sp>
          <p:nvSpPr>
            <p:cNvPr id="13489" name=""/>
            <p:cNvSpPr/>
            <p:nvPr/>
          </p:nvSpPr>
          <p:spPr>
            <a:xfrm>
              <a:off x="4370" y="949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90" name=""/>
            <p:cNvSpPr/>
            <p:nvPr/>
          </p:nvSpPr>
          <p:spPr>
            <a:xfrm>
              <a:off x="4370" y="1860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491" name=""/>
            <p:cNvCxnSpPr/>
            <p:nvPr/>
          </p:nvCxnSpPr>
          <p:spPr>
            <a:xfrm flipH="1">
              <a:off x="4444" y="1387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92" name=""/>
            <p:cNvCxnSpPr/>
            <p:nvPr/>
          </p:nvCxnSpPr>
          <p:spPr>
            <a:xfrm flipH="1">
              <a:off x="4522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93" name=""/>
            <p:cNvCxnSpPr/>
            <p:nvPr/>
          </p:nvCxnSpPr>
          <p:spPr>
            <a:xfrm flipH="1">
              <a:off x="4496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94" name=""/>
            <p:cNvCxnSpPr/>
            <p:nvPr/>
          </p:nvCxnSpPr>
          <p:spPr>
            <a:xfrm flipH="1">
              <a:off x="4444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95" name=""/>
            <p:cNvCxnSpPr/>
            <p:nvPr/>
          </p:nvCxnSpPr>
          <p:spPr>
            <a:xfrm flipH="1">
              <a:off x="4496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496" name=""/>
            <p:cNvCxnSpPr/>
            <p:nvPr/>
          </p:nvCxnSpPr>
          <p:spPr>
            <a:xfrm flipH="1">
              <a:off x="4522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497" name=""/>
            <p:cNvSpPr/>
            <p:nvPr/>
          </p:nvSpPr>
          <p:spPr>
            <a:xfrm>
              <a:off x="4444" y="1908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498" name=""/>
            <p:cNvSpPr/>
            <p:nvPr/>
          </p:nvSpPr>
          <p:spPr>
            <a:xfrm>
              <a:off x="4708" y="949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499" name=""/>
            <p:cNvSpPr/>
            <p:nvPr/>
          </p:nvSpPr>
          <p:spPr>
            <a:xfrm>
              <a:off x="4708" y="1860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500" name=""/>
            <p:cNvCxnSpPr/>
            <p:nvPr/>
          </p:nvCxnSpPr>
          <p:spPr>
            <a:xfrm flipH="1">
              <a:off x="4782" y="1387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501" name=""/>
            <p:cNvCxnSpPr/>
            <p:nvPr/>
          </p:nvCxnSpPr>
          <p:spPr>
            <a:xfrm flipH="1">
              <a:off x="4860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502" name=""/>
            <p:cNvCxnSpPr/>
            <p:nvPr/>
          </p:nvCxnSpPr>
          <p:spPr>
            <a:xfrm flipH="1">
              <a:off x="4834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503" name=""/>
            <p:cNvCxnSpPr/>
            <p:nvPr/>
          </p:nvCxnSpPr>
          <p:spPr>
            <a:xfrm flipH="1">
              <a:off x="4782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504" name=""/>
            <p:cNvCxnSpPr/>
            <p:nvPr/>
          </p:nvCxnSpPr>
          <p:spPr>
            <a:xfrm flipH="1">
              <a:off x="4834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505" name=""/>
            <p:cNvCxnSpPr/>
            <p:nvPr/>
          </p:nvCxnSpPr>
          <p:spPr>
            <a:xfrm flipH="1">
              <a:off x="4860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506" name=""/>
            <p:cNvSpPr/>
            <p:nvPr/>
          </p:nvSpPr>
          <p:spPr>
            <a:xfrm>
              <a:off x="4782" y="1908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507" name=""/>
            <p:cNvSpPr/>
            <p:nvPr/>
          </p:nvSpPr>
          <p:spPr>
            <a:xfrm>
              <a:off x="5046" y="949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508" name=""/>
            <p:cNvSpPr/>
            <p:nvPr/>
          </p:nvSpPr>
          <p:spPr>
            <a:xfrm>
              <a:off x="5046" y="1860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509" name=""/>
            <p:cNvCxnSpPr/>
            <p:nvPr/>
          </p:nvCxnSpPr>
          <p:spPr>
            <a:xfrm flipH="1">
              <a:off x="5120" y="1387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510" name=""/>
            <p:cNvCxnSpPr/>
            <p:nvPr/>
          </p:nvCxnSpPr>
          <p:spPr>
            <a:xfrm flipH="1">
              <a:off x="5198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511" name=""/>
            <p:cNvCxnSpPr/>
            <p:nvPr/>
          </p:nvCxnSpPr>
          <p:spPr>
            <a:xfrm flipH="1">
              <a:off x="5172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512" name=""/>
            <p:cNvCxnSpPr/>
            <p:nvPr/>
          </p:nvCxnSpPr>
          <p:spPr>
            <a:xfrm flipH="1">
              <a:off x="5120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513" name=""/>
            <p:cNvCxnSpPr/>
            <p:nvPr/>
          </p:nvCxnSpPr>
          <p:spPr>
            <a:xfrm flipH="1">
              <a:off x="5172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514" name=""/>
            <p:cNvCxnSpPr/>
            <p:nvPr/>
          </p:nvCxnSpPr>
          <p:spPr>
            <a:xfrm flipH="1">
              <a:off x="5198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515" name=""/>
            <p:cNvSpPr/>
            <p:nvPr/>
          </p:nvSpPr>
          <p:spPr>
            <a:xfrm>
              <a:off x="5120" y="1908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516" name=""/>
            <p:cNvSpPr/>
            <p:nvPr/>
          </p:nvSpPr>
          <p:spPr>
            <a:xfrm>
              <a:off x="5384" y="949"/>
              <a:ext cx="226" cy="4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517" name=""/>
            <p:cNvSpPr/>
            <p:nvPr/>
          </p:nvSpPr>
          <p:spPr>
            <a:xfrm>
              <a:off x="5384" y="1860"/>
              <a:ext cx="226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cxnSp>
          <p:nvCxnSpPr>
            <p:cNvPr id="13518" name=""/>
            <p:cNvCxnSpPr/>
            <p:nvPr/>
          </p:nvCxnSpPr>
          <p:spPr>
            <a:xfrm flipH="1">
              <a:off x="5458" y="1387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519" name=""/>
            <p:cNvCxnSpPr/>
            <p:nvPr/>
          </p:nvCxnSpPr>
          <p:spPr>
            <a:xfrm flipH="1">
              <a:off x="5536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520" name=""/>
            <p:cNvCxnSpPr/>
            <p:nvPr/>
          </p:nvCxnSpPr>
          <p:spPr>
            <a:xfrm flipH="1">
              <a:off x="5510" y="1387"/>
              <a:ext cx="0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521" name=""/>
            <p:cNvCxnSpPr/>
            <p:nvPr/>
          </p:nvCxnSpPr>
          <p:spPr>
            <a:xfrm flipH="1">
              <a:off x="5458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522" name=""/>
            <p:cNvCxnSpPr/>
            <p:nvPr/>
          </p:nvCxnSpPr>
          <p:spPr>
            <a:xfrm flipH="1">
              <a:off x="5510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cxnSp>
          <p:nvCxnSpPr>
            <p:cNvPr id="13523" name=""/>
            <p:cNvCxnSpPr/>
            <p:nvPr/>
          </p:nvCxnSpPr>
          <p:spPr>
            <a:xfrm flipH="1">
              <a:off x="5536" y="1752"/>
              <a:ext cx="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>
                <a:schemeClr val="bg2">
                  <a:alpha val="50000"/>
                </a:schemeClr>
              </a:outerShdw>
            </a:effectLst>
          </p:spPr>
        </p:cxnSp>
        <p:sp>
          <p:nvSpPr>
            <p:cNvPr id="13524" name=""/>
            <p:cNvSpPr/>
            <p:nvPr/>
          </p:nvSpPr>
          <p:spPr>
            <a:xfrm>
              <a:off x="5458" y="1908"/>
              <a:ext cx="131" cy="131"/>
            </a:xfrm>
            <a:custGeom>
              <a:pathLst>
                <a:path w="131" h="131">
                  <a:moveTo>
                    <a:pt x="0" y="0"/>
                  </a:moveTo>
                  <a:lnTo>
                    <a:pt x="78" y="52"/>
                  </a:lnTo>
                  <a:lnTo>
                    <a:pt x="26" y="52"/>
                  </a:lnTo>
                  <a:lnTo>
                    <a:pt x="130" y="13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sp>
        <p:sp>
          <p:nvSpPr>
            <p:cNvPr id="13525" name=""/>
            <p:cNvSpPr/>
            <p:nvPr/>
          </p:nvSpPr>
          <p:spPr>
            <a:xfrm>
              <a:off x="4370" y="1588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526" name=""/>
            <p:cNvSpPr/>
            <p:nvPr/>
          </p:nvSpPr>
          <p:spPr>
            <a:xfrm>
              <a:off x="4706" y="1588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527" name=""/>
            <p:cNvSpPr/>
            <p:nvPr/>
          </p:nvSpPr>
          <p:spPr>
            <a:xfrm>
              <a:off x="5042" y="1588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  <p:sp>
          <p:nvSpPr>
            <p:cNvPr id="13528" name=""/>
            <p:cNvSpPr/>
            <p:nvPr/>
          </p:nvSpPr>
          <p:spPr>
            <a:xfrm>
              <a:off x="5378" y="1588"/>
              <a:ext cx="232" cy="136"/>
            </a:xfrm>
            <a:prstGeom prst="cube">
              <a:avLst>
                <a:gd name="adj" fmla="val 24995"/>
              </a:avLst>
            </a:prstGeom>
            <a:solidFill>
              <a:srgbClr val="EAEC5E"/>
            </a:solidFill>
            <a:ln w="12700">
              <a:solidFill>
                <a:schemeClr val="tx1"/>
              </a:solidFill>
              <a:miter lim="800000"/>
            </a:ln>
            <a:effectLst/>
          </p:spPr>
        </p:sp>
      </p:grp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4338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MPP Markets</a:t>
            </a:r>
          </a:p>
        </p:txBody>
      </p:sp>
      <p:sp>
        <p:nvSpPr>
          <p:cNvPr id="14339" name=""/>
          <p:cNvSpPr/>
          <p:nvPr>
            <p:ph type="body" idx="1"/>
          </p:nvPr>
        </p:nvSpPr>
        <p:spPr>
          <a:xfrm>
            <a:off x="685800" y="1981200"/>
            <a:ext cx="78486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Used today by bleeding-edge adopters in highly competitive markets</a:t>
            </a:r>
          </a:p>
          <a:p>
            <a:pPr lvl="1"/>
            <a:r>
              <a:t>Dow Jones text retrieval (Thinking Machines)</a:t>
            </a:r>
          </a:p>
          <a:p>
            <a:pPr lvl="1"/>
            <a:r>
              <a:t>Prudential Securities (derivatives)</a:t>
            </a:r>
          </a:p>
          <a:p>
            <a:pPr lvl="1"/>
            <a:r>
              <a:t>American Express (mailing lists)</a:t>
            </a:r>
          </a:p>
          <a:p>
            <a:pPr lvl="1"/>
            <a:r>
              <a:t>Retail industry (Teradata for data warehousing)</a:t>
            </a:r>
          </a:p>
          <a:p>
            <a:pPr lvl="0"/>
            <a:r>
              <a:t>Market is most likely to evolve with existing large-computer suppliers rather than MPP new-starts</a:t>
            </a:r>
          </a:p>
          <a:p>
            <a:pPr lvl="1"/>
            <a:r>
              <a:t>Scale up from clusters: Tandem, IBM SP2, AT&amp;T 3600</a:t>
            </a:r>
          </a:p>
          <a:p>
            <a:pPr lvl="1"/>
            <a:r>
              <a:t>Possible exception: MPP as pure database platform (not a  general purpose computer) -- for example, Teradata</a:t>
            </a:r>
          </a:p>
        </p:txBody>
      </p:sp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5362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MPP Reality</a:t>
            </a:r>
          </a:p>
        </p:txBody>
      </p:sp>
      <p:sp>
        <p:nvSpPr>
          <p:cNvPr id="15363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Problems</a:t>
            </a:r>
          </a:p>
          <a:p>
            <a:pPr lvl="1"/>
            <a:r>
              <a:t>Scalability in the real world</a:t>
            </a:r>
          </a:p>
          <a:p>
            <a:pPr lvl="1"/>
            <a:r>
              <a:t>Systems management software is lacking</a:t>
            </a:r>
          </a:p>
          <a:p>
            <a:pPr lvl="1"/>
            <a:r>
              <a:t>Writing parallel commercial applications without tools</a:t>
            </a:r>
          </a:p>
          <a:p>
            <a:pPr lvl="1"/>
            <a:r>
              <a:t>Lack of support by small MPP companies</a:t>
            </a:r>
          </a:p>
          <a:p>
            <a:pPr lvl="0"/>
            <a:r>
              <a:t>Aberdeen conclusion is that MPP will remain a side show to the SMP and cluster markets, but that MPP buyers will come from the attractive World-1000 base</a:t>
            </a:r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6386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Hardware Supplier Approaches to Parallelism</a:t>
            </a:r>
          </a:p>
        </p:txBody>
      </p:sp>
      <p:sp>
        <p:nvSpPr>
          <p:cNvPr id="16387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IBM ES/9000, PTS, SP2</a:t>
            </a:r>
          </a:p>
          <a:p>
            <a:pPr lvl="0"/>
            <a:r>
              <a:t>Hewlett-Packard</a:t>
            </a:r>
          </a:p>
          <a:p>
            <a:pPr lvl="0"/>
            <a:r>
              <a:t>Digital Equipment</a:t>
            </a:r>
          </a:p>
          <a:p>
            <a:pPr lvl="0"/>
            <a:r>
              <a:t>Unisys</a:t>
            </a:r>
          </a:p>
          <a:p>
            <a:pPr lvl="0"/>
            <a:r>
              <a:t>Compaq</a:t>
            </a:r>
          </a:p>
          <a:p>
            <a:pPr lvl="0"/>
            <a:r>
              <a:t>AT&amp;T Global Information Solutions</a:t>
            </a:r>
          </a:p>
          <a:p>
            <a:pPr lvl="0"/>
            <a:r>
              <a:t>Others</a:t>
            </a:r>
          </a:p>
        </p:txBody>
      </p:sp>
    </p:spTree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7410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IBM</a:t>
            </a:r>
          </a:p>
        </p:txBody>
      </p:sp>
      <p:sp>
        <p:nvSpPr>
          <p:cNvPr id="17411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rPr sz="1800"/>
              <a:t>Mainframe markets are driven by largest customers.  Sysplex clusters will only appeal to existing customers, lack overall price-performance value.</a:t>
            </a:r>
            <a:endParaRPr sz="1800"/>
          </a:p>
          <a:p>
            <a:pPr lvl="0"/>
            <a:r>
              <a:rPr sz="1800"/>
              <a:t>Parallel Query and Transaction mainframe products are a premature product reaction to market share losses to non-mainframe competition (i.e., Tandem, HP).  IBM microprocessors are too slow, software too limited, prices too high to be effective before 1997.</a:t>
            </a:r>
            <a:endParaRPr sz="1800"/>
          </a:p>
          <a:p>
            <a:pPr lvl="0"/>
            <a:r>
              <a:rPr sz="1800"/>
              <a:t>SP2 cluster/SPP is all talk, no commercial product.  Awaits parallel database software, tools, applications.  Shows great promise in markets Tandem seeks.</a:t>
            </a:r>
            <a:endParaRPr sz="1800"/>
          </a:p>
          <a:p>
            <a:pPr lvl="0"/>
            <a:r>
              <a:rPr sz="1800"/>
              <a:t>DB2 has four different variations under common product name.  Technology is not competitive but is getting better.</a:t>
            </a:r>
            <a:endParaRPr sz="1800"/>
          </a:p>
          <a:p>
            <a:pPr lvl="0"/>
            <a:r>
              <a:rPr sz="1800"/>
              <a:t>Strategically, IBM cannot concede the parallel market.  Will they be the Russian army or the mouse that roared?  Mostly hot air for next two years.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8434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Hewlett-Packard</a:t>
            </a:r>
          </a:p>
        </p:txBody>
      </p:sp>
      <p:sp>
        <p:nvSpPr>
          <p:cNvPr id="18435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Mediocre in SMP due to focus on ultra-fast RISC microprocessors.  "Fewer is better" approach.</a:t>
            </a:r>
          </a:p>
          <a:p>
            <a:pPr lvl="0"/>
            <a:r>
              <a:t>Has next-century microprocessor deal in place with Intel</a:t>
            </a:r>
          </a:p>
          <a:p>
            <a:pPr lvl="0"/>
            <a:r>
              <a:t>Surprisingly weak in clusters, even for high availability</a:t>
            </a:r>
          </a:p>
          <a:p>
            <a:pPr lvl="0"/>
            <a:r>
              <a:t>Appreciates distributed systems management</a:t>
            </a:r>
          </a:p>
          <a:p>
            <a:pPr lvl="0"/>
            <a:r>
              <a:t>Expect better clusters and marketing heat by mid-1995</a:t>
            </a:r>
          </a:p>
          <a:p>
            <a:pPr lvl="0"/>
            <a:r>
              <a:t>HP MPP vague, driven by customers, expected in 1997 or later.  Ignore Convex.</a:t>
            </a:r>
          </a:p>
        </p:txBody>
      </p: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9458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Digital Equipment</a:t>
            </a:r>
          </a:p>
        </p:txBody>
      </p:sp>
      <p:sp>
        <p:nvSpPr>
          <p:cNvPr id="19459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Good job on low-end SMP.  Fair scalability on high end.</a:t>
            </a:r>
          </a:p>
          <a:p>
            <a:pPr lvl="0"/>
            <a:r>
              <a:t>VAXclusters the original shared-resource facility.  Slowly migrates to Alpha.</a:t>
            </a:r>
          </a:p>
          <a:p>
            <a:pPr lvl="0"/>
            <a:r>
              <a:t>Encore reflected memory technology under-appreciated</a:t>
            </a:r>
          </a:p>
          <a:p>
            <a:pPr lvl="0"/>
            <a:r>
              <a:t>New focus on alternate distribution/box volume mentality will likely hurt high end R&amp;D efforts</a:t>
            </a:r>
          </a:p>
          <a:p>
            <a:pPr lvl="0"/>
            <a:r>
              <a:t>Aberdeen is negative on Digital’s long term prospects</a:t>
            </a:r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0482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Unisys</a:t>
            </a:r>
          </a:p>
        </p:txBody>
      </p:sp>
      <p:sp>
        <p:nvSpPr>
          <p:cNvPr id="20483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Focus is on maintaining Burroughs and Sperry installed bases</a:t>
            </a:r>
          </a:p>
          <a:p>
            <a:pPr lvl="0"/>
            <a:r>
              <a:t>Adequate clustered OLTP today</a:t>
            </a:r>
          </a:p>
          <a:p>
            <a:pPr lvl="0"/>
            <a:r>
              <a:t>Recent MPP plans lack credibility, investment</a:t>
            </a:r>
          </a:p>
          <a:p>
            <a:pPr lvl="0"/>
            <a:r>
              <a:t>Unix is not strategic to Unisys, so Intel/SMP will progress with market</a:t>
            </a:r>
          </a:p>
          <a:p>
            <a:pPr lvl="0"/>
            <a:r>
              <a:t>Conclusion:  Unisys will be a minor competitor, and a potential roll-over sale target for Tandem</a:t>
            </a:r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1506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Compaq</a:t>
            </a:r>
          </a:p>
        </p:txBody>
      </p:sp>
      <p:sp>
        <p:nvSpPr>
          <p:cNvPr id="21507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Climbing up the enterprise food-chain from desktop/workgroup base</a:t>
            </a:r>
          </a:p>
          <a:p>
            <a:pPr lvl="0"/>
            <a:r>
              <a:t>Next year's Intel P6-based 4/8-way SMP will beat IBM mainframe ES/9000s in OLTP with RDBMS</a:t>
            </a:r>
          </a:p>
          <a:p>
            <a:pPr lvl="0"/>
            <a:r>
              <a:t>"Good enough" for many OLTP &amp; moderate DSS applications</a:t>
            </a:r>
          </a:p>
          <a:p>
            <a:pPr lvl="0"/>
            <a:r>
              <a:t>The horse that Microsoft’s NT operating system will ride</a:t>
            </a:r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2530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AT&amp;T Global Information Solutions</a:t>
            </a:r>
          </a:p>
        </p:txBody>
      </p:sp>
      <p:sp>
        <p:nvSpPr>
          <p:cNvPr id="22531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#2 Unix server player with Intel-based line</a:t>
            </a:r>
          </a:p>
          <a:p>
            <a:pPr lvl="0"/>
            <a:r>
              <a:t>Owns the Teradata base of 400 large sites</a:t>
            </a:r>
          </a:p>
          <a:p>
            <a:pPr lvl="0"/>
            <a:r>
              <a:t>SMPs and 3600 cluster that grows to MPP</a:t>
            </a:r>
          </a:p>
          <a:p>
            <a:pPr lvl="0"/>
            <a:r>
              <a:t>Best company-wide at understanding complex DSS issues and experience</a:t>
            </a:r>
          </a:p>
          <a:p>
            <a:pPr lvl="0"/>
            <a:r>
              <a:t>Retail and banking powerhouse.  Weak elsewhere.</a:t>
            </a:r>
          </a:p>
          <a:p>
            <a:pPr lvl="0"/>
            <a:r>
              <a:t>Often the bridesmaid.  Will they ever get on track?</a:t>
            </a:r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3554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Other Hardware Suppliers</a:t>
            </a:r>
          </a:p>
        </p:txBody>
      </p:sp>
      <p:sp>
        <p:nvSpPr>
          <p:cNvPr id="23555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SMP specialists Sequent and Pyramid</a:t>
            </a:r>
          </a:p>
          <a:p>
            <a:pPr lvl="0"/>
            <a:r>
              <a:t>ICL Goldrush query parallelization OS features</a:t>
            </a:r>
          </a:p>
          <a:p>
            <a:pPr lvl="0"/>
            <a:r>
              <a:t>nCube's fate rests with Oracle push</a:t>
            </a:r>
          </a:p>
          <a:p>
            <a:pPr lvl="0"/>
            <a:r>
              <a:t>Cray Research invades Wall Street with ex-Tandem sales rep</a:t>
            </a:r>
          </a:p>
          <a:p>
            <a:pPr lvl="0"/>
            <a:r>
              <a:t>Kendall Square Research is dead</a:t>
            </a:r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4578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Review of Parallel Software</a:t>
            </a:r>
          </a:p>
        </p:txBody>
      </p:sp>
      <p:sp>
        <p:nvSpPr>
          <p:cNvPr id="24579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SAP says "I need 300 SQL statements/second today, 3,000 per second in two years."</a:t>
            </a:r>
          </a:p>
          <a:p>
            <a:pPr lvl="0"/>
            <a:r>
              <a:t>Relational databases are the most important commercial technology</a:t>
            </a:r>
          </a:p>
          <a:p>
            <a:pPr lvl="0"/>
            <a:r>
              <a:t>Operating systems become more parallel to evolve to distributed computing/object world of 1998</a:t>
            </a:r>
          </a:p>
          <a:p>
            <a:pPr lvl="0"/>
            <a:r>
              <a:t>Applications evolve towards distributed computing with partitioning and objects</a:t>
            </a:r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5602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Relational Databases (RDBMS)</a:t>
            </a:r>
          </a:p>
        </p:txBody>
      </p:sp>
      <p:sp>
        <p:nvSpPr>
          <p:cNvPr id="25603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New software versions unleash the power of parallel hardware</a:t>
            </a:r>
          </a:p>
          <a:p>
            <a:pPr lvl="0"/>
            <a:r>
              <a:t>Complex decision support is the killer application</a:t>
            </a:r>
          </a:p>
          <a:p>
            <a:pPr lvl="0"/>
            <a:r>
              <a:t>Major  suppliers are participating</a:t>
            </a:r>
          </a:p>
          <a:p>
            <a:pPr lvl="1"/>
            <a:r>
              <a:t>Oracle</a:t>
            </a:r>
          </a:p>
          <a:p>
            <a:pPr lvl="1"/>
            <a:r>
              <a:t>Sybase</a:t>
            </a:r>
          </a:p>
          <a:p>
            <a:pPr lvl="1"/>
            <a:r>
              <a:t>Informix</a:t>
            </a:r>
          </a:p>
          <a:p>
            <a:pPr lvl="1"/>
            <a:r>
              <a:t>IBM DB2</a:t>
            </a:r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6626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Independent Software Supplier Parallel Strategies</a:t>
            </a:r>
          </a:p>
        </p:txBody>
      </p:sp>
      <p:sp>
        <p:nvSpPr>
          <p:cNvPr id="26627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Trend: Aberdeen sees a 3x-5x increase in information demand by the late 1990s.  Complex DSS is the next major hurdle for commercial computing.</a:t>
            </a:r>
          </a:p>
          <a:p>
            <a:pPr lvl="0"/>
            <a:r>
              <a:t>Oracle: “Beat IBM mainframes.  Protect Ellison's nCube investment.”  Technology is behind.</a:t>
            </a:r>
          </a:p>
          <a:p>
            <a:pPr lvl="0"/>
            <a:r>
              <a:t>Sybase: talks enterprise, does departmental.  Navigation Server an embarrassment.</a:t>
            </a:r>
          </a:p>
          <a:p>
            <a:pPr lvl="0"/>
            <a:r>
              <a:t>Informix: Bets the ranch on parallel RDBMS.  Technology good but company lacks board-room visibility.</a:t>
            </a:r>
          </a:p>
        </p:txBody>
      </p:sp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7650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Aberdeen's Viewpoint on Tandem in a Parallel World</a:t>
            </a:r>
          </a:p>
        </p:txBody>
      </p:sp>
      <p:sp>
        <p:nvSpPr>
          <p:cNvPr id="27651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Architecture</a:t>
            </a:r>
          </a:p>
          <a:p>
            <a:pPr lvl="0"/>
            <a:r>
              <a:t>Technology</a:t>
            </a:r>
          </a:p>
          <a:p>
            <a:pPr lvl="0"/>
            <a:r>
              <a:t>Markets</a:t>
            </a:r>
          </a:p>
        </p:txBody>
      </p:sp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8674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Architecture</a:t>
            </a:r>
          </a:p>
        </p:txBody>
      </p:sp>
      <p:sp>
        <p:nvSpPr>
          <p:cNvPr id="28675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Tandem ought to be a leader in distributed, object-based computing</a:t>
            </a:r>
          </a:p>
          <a:p>
            <a:pPr lvl="0"/>
            <a:r>
              <a:t>Tandem understands parallel issues in depth, with experience</a:t>
            </a:r>
          </a:p>
          <a:p>
            <a:pPr lvl="0"/>
            <a:r>
              <a:t>Market is recognizing that clustering (loose-coupling) is required for high-end applications</a:t>
            </a:r>
          </a:p>
          <a:p>
            <a:pPr lvl="0"/>
            <a:r>
              <a:t>Objects communicate via messages.  Tandem does this better than others.  The late 1990s will be dominated by object-oriented software issues.</a:t>
            </a:r>
          </a:p>
        </p:txBody>
      </p:sp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9698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Technology</a:t>
            </a:r>
          </a:p>
        </p:txBody>
      </p:sp>
      <p:sp>
        <p:nvSpPr>
          <p:cNvPr id="29699" name=""/>
          <p:cNvSpPr/>
          <p:nvPr>
            <p:ph type="body" idx="1"/>
          </p:nvPr>
        </p:nvSpPr>
        <p:spPr>
          <a:xfrm>
            <a:off x="685800" y="1981200"/>
            <a:ext cx="77724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Himalaya is at the enterprise-server market sweet-spot</a:t>
            </a:r>
          </a:p>
          <a:p>
            <a:pPr lvl="0"/>
            <a:r>
              <a:t>Integrity NR/FT cover mass-markets for commercial servers.  High availability story great.</a:t>
            </a:r>
          </a:p>
          <a:p>
            <a:pPr lvl="0"/>
            <a:r>
              <a:t>“Open” Tandem will require by 1996 a better DCE and distributed-object technology roadmap.</a:t>
            </a:r>
          </a:p>
          <a:p>
            <a:pPr lvl="0"/>
            <a:r>
              <a:t>SGI/MIPS microprocessor faces enormous competition from Intel.  Be prepared to switch.</a:t>
            </a:r>
          </a:p>
        </p:txBody>
      </p:sp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30722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Markets</a:t>
            </a:r>
          </a:p>
        </p:txBody>
      </p:sp>
      <p:sp>
        <p:nvSpPr>
          <p:cNvPr id="30723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rPr sz="2000"/>
              <a:t>Parallel computing profits are being made now in competitive-advantage markets (i.e., retail, telecomm, transportation, finance) where Tandem is already focused</a:t>
            </a:r>
            <a:endParaRPr sz="2000"/>
          </a:p>
          <a:p>
            <a:pPr lvl="0"/>
            <a:r>
              <a:rPr sz="2000"/>
              <a:t>Tandem momentum has changed for the positive.  Company has a wonderful opportunity to re-establish itself in existing markets for new applications</a:t>
            </a:r>
            <a:endParaRPr sz="2000"/>
          </a:p>
          <a:p>
            <a:pPr lvl="0"/>
            <a:r>
              <a:rPr sz="2000"/>
              <a:t>Best near-term, cross-market opportunity is data warehousing (complex decision support).  Tandem has the right-stuff technology, but needs partners in teaching buyers how to maximize their warehouse investments.</a:t>
            </a:r>
            <a:endParaRPr sz="2000"/>
          </a:p>
          <a:p>
            <a:pPr lvl="0"/>
            <a:r>
              <a:rPr sz="2000"/>
              <a:t>Dual product strategy (Integrity &amp; Himalaya) makes sense, recognizes that one-size-fits-all approach is unrealistic.</a:t>
            </a:r>
            <a:endParaRPr sz="2000"/>
          </a:p>
        </p:txBody>
      </p:sp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31746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Backup Information</a:t>
            </a:r>
          </a:p>
        </p:txBody>
      </p:sp>
      <p:sp>
        <p:nvSpPr>
          <p:cNvPr id="31747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The following material supplements the main presentation</a:t>
            </a:r>
          </a:p>
          <a:p>
            <a:pPr lvl="0"/>
            <a:r>
              <a:t>See also Aberdeen Group </a:t>
            </a:r>
            <a:r>
              <a:rPr i="1"/>
              <a:t>Viewpoints</a:t>
            </a:r>
            <a:r>
              <a:t> on Tandem, Digital Equipment, Parallel-Scalable Databases</a:t>
            </a:r>
          </a:p>
        </p:txBody>
      </p:sp>
    </p:spTree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32770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SMP (cont'd)</a:t>
            </a:r>
          </a:p>
        </p:txBody>
      </p:sp>
      <p:sp>
        <p:nvSpPr>
          <p:cNvPr id="32771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Most system software (e.g., RDBMS) today can harness SMP automatically</a:t>
            </a:r>
          </a:p>
          <a:p>
            <a:pPr lvl="0"/>
            <a:r>
              <a:t>Excellent for distributed OLTP nodes, departmental decision support</a:t>
            </a:r>
          </a:p>
          <a:p>
            <a:pPr lvl="0"/>
            <a:r>
              <a:t>Problems: Bus bottlenecks, cache coherency, memory bandwidth sap performance &amp; growth</a:t>
            </a:r>
          </a:p>
          <a:p>
            <a:pPr lvl="0"/>
            <a:r>
              <a:t>Implementations</a:t>
            </a:r>
          </a:p>
          <a:p>
            <a:pPr lvl="1"/>
            <a:r>
              <a:t>Poor: IBM AS/400</a:t>
            </a:r>
          </a:p>
          <a:p>
            <a:pPr lvl="1"/>
            <a:r>
              <a:t>Medium (80% scalability): Hewlett-Packard, IBM ES/9000</a:t>
            </a:r>
          </a:p>
          <a:p>
            <a:pPr lvl="1"/>
            <a:r>
              <a:t>Good (90%+ scalability): Sequent to 20 processors, SGI/Tandem</a:t>
            </a:r>
          </a:p>
        </p:txBody>
      </p:sp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33794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Clusters (cont'd)</a:t>
            </a:r>
          </a:p>
        </p:txBody>
      </p:sp>
      <p:sp>
        <p:nvSpPr>
          <p:cNvPr id="33795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Excellent for high availability failover, shared-nothing growth, resource sharing</a:t>
            </a:r>
          </a:p>
          <a:p>
            <a:pPr lvl="0"/>
            <a:r>
              <a:t>System software must be messaging-enabled to participate</a:t>
            </a:r>
          </a:p>
          <a:p>
            <a:pPr lvl="1"/>
            <a:r>
              <a:t>Very uncommon today to find cluster-ready software</a:t>
            </a:r>
          </a:p>
          <a:p>
            <a:pPr lvl="1"/>
            <a:r>
              <a:t>But distributed computing trend benefits cluster suppliers</a:t>
            </a:r>
          </a:p>
          <a:p>
            <a:pPr lvl="1"/>
            <a:r>
              <a:t>Next 3 years will see explosion of messaging-aware systems software:</a:t>
            </a:r>
          </a:p>
          <a:p>
            <a:pPr lvl="2"/>
            <a:r>
              <a:t>Informix Dynamic Scalable Architecture 8.0 RDBMS</a:t>
            </a:r>
          </a:p>
          <a:p>
            <a:pPr lvl="2"/>
            <a:r>
              <a:t>Sybase Navigation Server</a:t>
            </a:r>
          </a:p>
          <a:p>
            <a:pPr lvl="2"/>
            <a:r>
              <a:t>Common Object Request Broker Architecture (CORBA)</a:t>
            </a:r>
          </a:p>
          <a:p>
            <a:pPr lvl="2"/>
            <a:r>
              <a:t>Distributed Computing Environment (DCE)</a:t>
            </a:r>
          </a:p>
        </p:txBody>
      </p:sp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34818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Informix</a:t>
            </a:r>
          </a:p>
        </p:txBody>
      </p:sp>
      <p:sp>
        <p:nvSpPr>
          <p:cNvPr id="34819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Sub-process (threads) specialized tasks</a:t>
            </a:r>
          </a:p>
          <a:p>
            <a:pPr lvl="0"/>
            <a:r>
              <a:t>Both function and data parallelism</a:t>
            </a:r>
          </a:p>
          <a:p>
            <a:pPr lvl="0"/>
            <a:r>
              <a:t>Cluster and MPP versions in late 1995</a:t>
            </a:r>
          </a:p>
          <a:p>
            <a:pPr lvl="0"/>
            <a:r>
              <a:t>Closest architecture to Tandem with NonStop SQL</a:t>
            </a:r>
          </a:p>
          <a:p>
            <a:pPr lvl="0"/>
            <a:r>
              <a:t>Architecturally superior to competition</a:t>
            </a:r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35842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Oracle</a:t>
            </a:r>
          </a:p>
        </p:txBody>
      </p:sp>
      <p:sp>
        <p:nvSpPr>
          <p:cNvPr id="35843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Parallel Server has VAXcluster roots, severe limitations in OLTP</a:t>
            </a:r>
          </a:p>
          <a:p>
            <a:pPr lvl="0"/>
            <a:r>
              <a:t>Parallel Query Option uses Unix process pool vs. Informix threads</a:t>
            </a:r>
          </a:p>
          <a:p>
            <a:pPr lvl="0"/>
            <a:r>
              <a:t>160 processor nCube MPP is slower than 20 processor Sequent SMP</a:t>
            </a:r>
          </a:p>
          <a:p>
            <a:pPr lvl="0"/>
            <a:r>
              <a:t>No data partitioning.  Poor use of indexes (Mervyn's).</a:t>
            </a:r>
          </a:p>
        </p:txBody>
      </p:sp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36866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Sybase Navigation Server</a:t>
            </a:r>
          </a:p>
        </p:txBody>
      </p:sp>
      <p:sp>
        <p:nvSpPr>
          <p:cNvPr id="36867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Announced September 1994 for NCR/AT&amp;T 3600 (cluster).  Available 12/94.</a:t>
            </a:r>
          </a:p>
          <a:p>
            <a:pPr lvl="0"/>
            <a:r>
              <a:t>How it works</a:t>
            </a:r>
          </a:p>
          <a:p>
            <a:pPr lvl="1"/>
            <a:r>
              <a:t>TP-monitor-like Control server manages execution plan</a:t>
            </a:r>
          </a:p>
          <a:p>
            <a:pPr lvl="1"/>
            <a:r>
              <a:t>Parallel optimizer generates plan or invokes compiled procedure</a:t>
            </a:r>
          </a:p>
          <a:p>
            <a:pPr lvl="1"/>
            <a:r>
              <a:t>Multiple SQL Server instances execute independently on their own data partition</a:t>
            </a:r>
          </a:p>
          <a:p>
            <a:pPr lvl="1"/>
            <a:r>
              <a:t>Data is partitioned by Range, Hash Key, or schema </a:t>
            </a:r>
          </a:p>
          <a:p>
            <a:pPr lvl="0"/>
            <a:r>
              <a:t>Problems</a:t>
            </a:r>
          </a:p>
          <a:p>
            <a:pPr lvl="1"/>
            <a:r>
              <a:t>First version for DSS, not OLTP</a:t>
            </a:r>
          </a:p>
          <a:p>
            <a:pPr lvl="1"/>
            <a:r>
              <a:t>NCR 3600 lock-in?</a:t>
            </a:r>
          </a:p>
          <a:p>
            <a:pPr lvl="1"/>
            <a:r>
              <a:t>Not integrated with System 10 servers (i.e., Replication, Backup)</a:t>
            </a:r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37890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IBM</a:t>
            </a:r>
          </a:p>
        </p:txBody>
      </p:sp>
      <p:sp>
        <p:nvSpPr>
          <p:cNvPr id="37891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ES/9000 Sysplex: a slowly unfolding cluster strategy aimed at IBM's largest mainframe customers</a:t>
            </a:r>
          </a:p>
          <a:p>
            <a:pPr lvl="0"/>
            <a:r>
              <a:t>Transactions (PTS): IMS clustered on 13 MIPS CMOS-based cluster.  DB2 in 1996.  Too pricey?</a:t>
            </a:r>
          </a:p>
          <a:p>
            <a:pPr lvl="0"/>
            <a:r>
              <a:t>Query (PQS): Query-only DB2 on CMOS-based cluster.  Low availability.  ES/9000 required.</a:t>
            </a:r>
          </a:p>
          <a:p>
            <a:pPr lvl="0"/>
            <a:r>
              <a:t>Massive (SP2): viable commercial cluster/MPP lacks RDBMS, tools.  IBM locks up the market now in evaluations.  Decent products &amp; partners in late 1995 and 1996.</a:t>
            </a:r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38914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IBM DB2</a:t>
            </a:r>
          </a:p>
        </p:txBody>
      </p:sp>
      <p:sp>
        <p:nvSpPr>
          <p:cNvPr id="38915" name=""/>
          <p:cNvSpPr/>
          <p:nvPr>
            <p:ph type="body" idx="1"/>
          </p:nvPr>
        </p:nvSpPr>
        <p:spPr>
          <a:xfrm>
            <a:off x="685800" y="1676400"/>
            <a:ext cx="76962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Parallel query I/O in MVS, HQS, and DB2 6000 for SP2</a:t>
            </a:r>
          </a:p>
          <a:p>
            <a:pPr lvl="0"/>
            <a:r>
              <a:t>Version 3 adds basics like stored procedures, triggers.  Still functionally weak, but getting better slowly.</a:t>
            </a:r>
          </a:p>
          <a:p>
            <a:pPr lvl="0"/>
            <a:r>
              <a:t>SP2 cluster version of DB2/6000 </a:t>
            </a:r>
          </a:p>
          <a:p>
            <a:pPr lvl="1"/>
            <a:r>
              <a:t>Still in early alpha according to customers</a:t>
            </a:r>
          </a:p>
          <a:p>
            <a:pPr lvl="1"/>
            <a:r>
              <a:t>Realistically, a 1996 mainstream product</a:t>
            </a:r>
          </a:p>
          <a:p>
            <a:pPr lvl="0"/>
            <a:r>
              <a:t>DB2/6000</a:t>
            </a:r>
          </a:p>
          <a:p>
            <a:pPr lvl="1"/>
            <a:r>
              <a:t>Common code base with OS/2</a:t>
            </a:r>
          </a:p>
          <a:p>
            <a:pPr lvl="1"/>
            <a:r>
              <a:t>Presently works on uniprocessor hardware, moving to SMP</a:t>
            </a:r>
          </a:p>
          <a:p>
            <a:pPr lvl="1"/>
            <a:r>
              <a:t>Considered not competitive with independent RDBMSs</a:t>
            </a:r>
          </a:p>
          <a:p>
            <a:pPr lvl="1"/>
            <a:r>
              <a:t>IBM bids DB2/6000 against RDBMS partners, spoiling relationships</a:t>
            </a:r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39938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Other  Database Software</a:t>
            </a:r>
          </a:p>
        </p:txBody>
      </p:sp>
      <p:sp>
        <p:nvSpPr>
          <p:cNvPr id="39939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Red Brick Software: RDBMS for decision support.  Adding parallelism for SMPs.</a:t>
            </a:r>
          </a:p>
          <a:p>
            <a:pPr lvl="0"/>
            <a:r>
              <a:t>IRI Software:  Express multidimensional database provides Rubic Cube approach to aggregating data, instead of brute (parallel) force of merchant RDBMSs.</a:t>
            </a:r>
          </a:p>
          <a:p>
            <a:pPr lvl="0"/>
            <a:r>
              <a:t>Prism, et al:  Large DSS systems will need loading/preparation utility products</a:t>
            </a:r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40962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Parallel Operating System Issues</a:t>
            </a:r>
          </a:p>
        </p:txBody>
      </p:sp>
      <p:sp>
        <p:nvSpPr>
          <p:cNvPr id="40963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SMP: How many processes can an OS juggle efficiently?</a:t>
            </a:r>
          </a:p>
          <a:p>
            <a:pPr lvl="0"/>
            <a:r>
              <a:t>Distributed OS near-future technology will change product requirements dramatically</a:t>
            </a:r>
          </a:p>
          <a:p>
            <a:pPr lvl="1"/>
            <a:r>
              <a:t>Distributed computing via DCE</a:t>
            </a:r>
          </a:p>
          <a:p>
            <a:pPr lvl="1"/>
            <a:r>
              <a:t>Distributed objects will turn the network into a big cluster</a:t>
            </a:r>
          </a:p>
          <a:p>
            <a:pPr lvl="0"/>
            <a:r>
              <a:t>Implication: Tandem already has the loosely coupled/distributed/parallel experience required to lead in this technology migration</a:t>
            </a:r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41986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Data Warehouse Specialists</a:t>
            </a:r>
          </a:p>
        </p:txBody>
      </p:sp>
      <p:sp>
        <p:nvSpPr>
          <p:cNvPr id="41987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Red Brick: an RDBMS optimized for complex DSS</a:t>
            </a:r>
          </a:p>
          <a:p>
            <a:pPr lvl="0"/>
            <a:r>
              <a:t>IRI Software: multidimensional front-end to RDBMS and legacy data</a:t>
            </a:r>
          </a:p>
          <a:p>
            <a:pPr lvl="0"/>
            <a:r>
              <a:t>Prism, etc. -- specialists in getting data in and out of the warehouse</a:t>
            </a:r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43010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Parallelism in Applications</a:t>
            </a:r>
          </a:p>
        </p:txBody>
      </p:sp>
      <p:sp>
        <p:nvSpPr>
          <p:cNvPr id="43011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rPr i="1"/>
              <a:t>High availability</a:t>
            </a:r>
            <a:r>
              <a:t>: requires a cluster</a:t>
            </a:r>
          </a:p>
          <a:p>
            <a:pPr lvl="0"/>
            <a:r>
              <a:rPr i="1"/>
              <a:t>Online Transaction Processing (OLTP)</a:t>
            </a:r>
            <a:r>
              <a:t>: spread many short tasks over many CPUs</a:t>
            </a:r>
          </a:p>
          <a:p>
            <a:pPr lvl="0"/>
            <a:r>
              <a:rPr i="1"/>
              <a:t>Messaging applications</a:t>
            </a:r>
            <a:r>
              <a:t>: electronic mail, workflow, store-forward = Comm + transactional I/O</a:t>
            </a:r>
          </a:p>
          <a:p>
            <a:pPr lvl="0"/>
            <a:r>
              <a:rPr i="1"/>
              <a:t>Simple decision support systems (DSS)</a:t>
            </a:r>
            <a:r>
              <a:t>: does not benefit appreciably from parallelism</a:t>
            </a:r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44034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Parallelism in Applications</a:t>
            </a:r>
          </a:p>
        </p:txBody>
      </p:sp>
      <p:sp>
        <p:nvSpPr>
          <p:cNvPr id="44035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Online Analytic Processing (OLAP)/complex DSS</a:t>
            </a:r>
          </a:p>
          <a:p>
            <a:pPr lvl="1"/>
            <a:r>
              <a:t>Ad hoc decision support by knowledge workers</a:t>
            </a:r>
          </a:p>
          <a:p>
            <a:pPr lvl="1"/>
            <a:r>
              <a:t>Management by exception approach to work</a:t>
            </a:r>
          </a:p>
          <a:p>
            <a:pPr lvl="1"/>
            <a:r>
              <a:t>Unknown number of queries -- the "quest"</a:t>
            </a:r>
          </a:p>
          <a:p>
            <a:pPr lvl="1"/>
            <a:r>
              <a:t>Fast response time a plus.  Parallelism can help.</a:t>
            </a:r>
          </a:p>
          <a:p>
            <a:pPr lvl="0"/>
            <a:r>
              <a:t>Market Basket DSS</a:t>
            </a:r>
          </a:p>
          <a:p>
            <a:pPr lvl="1"/>
            <a:r>
              <a:t>Large database scans benefit from many kinds of parallelism</a:t>
            </a:r>
          </a:p>
          <a:p>
            <a:pPr lvl="1"/>
            <a:r>
              <a:t>Find product, customer affinities.  Huge ROI for customers.  </a:t>
            </a:r>
          </a:p>
          <a:p>
            <a:pPr lvl="1"/>
            <a:r>
              <a:t>Example: large greeting card company</a:t>
            </a:r>
          </a:p>
          <a:p>
            <a:pPr lvl="1"/>
            <a:r>
              <a:t>An obvious market target for Tandem</a:t>
            </a:r>
          </a:p>
        </p:txBody>
      </p: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45058" name=""/>
          <p:cNvSpPr/>
          <p:nvPr>
            <p:ph type="title"/>
          </p:nvPr>
        </p:nvSpPr>
        <p:spPr>
          <a:xfrm>
            <a:off x="971550" y="323850"/>
            <a:ext cx="7162800" cy="11430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1" i="0" u="none" baseline="0">
                <a:solidFill>
                  <a:schemeClr val="tx2"/>
                </a:solidFill>
                <a:effectLst/>
                <a:latin typeface="Book Antiqua" pitchFamily="18" charset="0"/>
                <a:ea typeface="Arial" pitchFamily="34" charset="0"/>
              </a:defRPr>
            </a:lvl1pPr>
          </a:lstStyle>
          <a:p>
            <a:pPr lvl="0"/>
            <a:r>
              <a:t>Parallelism in Applications</a:t>
            </a:r>
          </a:p>
        </p:txBody>
      </p:sp>
      <p:sp>
        <p:nvSpPr>
          <p:cNvPr id="45059" name=""/>
          <p:cNvSpPr/>
          <p:nvPr>
            <p:ph type="body" idx="1"/>
          </p:nvPr>
        </p:nvSpPr>
        <p:spPr>
          <a:xfrm>
            <a:off x="990600" y="1981200"/>
            <a:ext cx="7162800" cy="4114800"/>
          </a:xfrm>
          <a:noFill/>
          <a:ln w="12700">
            <a:noFill/>
            <a:miter lim="800000"/>
          </a:ln>
          <a:effectLst/>
        </p:spPr>
        <p:txBody>
          <a:bodyPr wrap="square" lIns="90488" tIns="44450" rIns="90488" bIns="44450" anchor="t" anchorCtr="0">
            <a:noAutofit/>
          </a:bodyPr>
          <a:lstStyle>
            <a:lvl1pPr marL="285750" indent="-2857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3pPr>
            <a:lvl4pPr marL="15430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4pPr>
            <a:lvl5pPr marL="2000250" indent="-171450" algn="l" defTabSz="914400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400" b="1" i="0" u="none" baseline="0">
                <a:solidFill>
                  <a:schemeClr val="tx1"/>
                </a:solidFill>
                <a:effectLst/>
                <a:latin typeface="Book Antiqua" pitchFamily="18" charset="0"/>
                <a:ea typeface="Arial" pitchFamily="34" charset="0"/>
              </a:defRPr>
            </a:lvl5pPr>
          </a:lstStyle>
          <a:p>
            <a:pPr lvl="0"/>
            <a:r>
              <a:t>Transaction managers have long parallelized available resources (i.e., IBM CICS, Tandem Pathway and TMF)</a:t>
            </a:r>
          </a:p>
          <a:p>
            <a:pPr lvl="0"/>
            <a:r>
              <a:t>Next client-server phase requires application process partitioning (a form of parallelism)</a:t>
            </a:r>
          </a:p>
          <a:p>
            <a:pPr lvl="0"/>
            <a:r>
              <a:t>Big Caveat: Programmers should NOT have to worry about parallelizing their code.  Scientific parallel market languished due to lack of  automatic parallelization.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20.06.14"/>
  <p:tag name="AS_TITLE" val="Aspose.Slides for .NET 2.0"/>
  <p:tag name="AS_VERSION" val="20.6"/>
</p:tagLst>
</file>

<file path=ppt/theme/theme1.xml><?xml version="1.0" encoding="utf-8"?>
<a:theme xmlns:r="http://schemas.openxmlformats.org/officeDocument/2006/relationships" xmlns:a="http://schemas.openxmlformats.org/drawingml/2006/main" name="Default Design">
  <a:themeElements>
    <a:clrScheme name="Default Design 13">
      <a:dk1>
        <a:srgbClr val="FFFFFF"/>
      </a:dk1>
      <a:lt1>
        <a:srgbClr val="008787"/>
      </a:lt1>
      <a:dk2>
        <a:srgbClr val="000000"/>
      </a:dk2>
      <a:lt2>
        <a:srgbClr val="003E3E"/>
      </a:lt2>
      <a:accent1>
        <a:srgbClr val="FFD798"/>
      </a:accent1>
      <a:accent2>
        <a:srgbClr val="8CF4E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E9B03"/>
      </a:hlink>
      <a:folHlink>
        <a:srgbClr val="00D0D0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prstClr val="black">
                <a:alpha val="38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000000"/>
        </a:dk1>
        <a:lt1>
          <a:srgbClr val="FFFFFF"/>
        </a:lt1>
        <a:dk2>
          <a:srgbClr val="336699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66CCFF"/>
        </a:hlink>
        <a:folHlink>
          <a:srgbClr val="F0E500"/>
        </a:folHlink>
      </a:clrScheme>
      <a:clrMap bg1="dk1" tx1="lt1" bg2="dk2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686B5D"/>
        </a:dk1>
        <a:lt1>
          <a:srgbClr val="FFFFFF"/>
        </a:lt1>
        <a:dk2>
          <a:srgbClr val="777777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CC66"/>
        </a:hlink>
        <a:folHlink>
          <a:srgbClr val="E9DCB9"/>
        </a:folHlink>
      </a:clrScheme>
      <a:clrMap bg1="dk1" tx1="lt1" bg2="dk2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99CCFF"/>
        </a:hlink>
        <a:folHlink>
          <a:srgbClr val="FFFF99"/>
        </a:folHlink>
      </a:clrScheme>
      <a:clrMap bg1="dk2" tx1="lt2" bg2="dk1" tx2="lt1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C0128"/>
      </a:hlink>
      <a:folHlink>
        <a:srgbClr val="CECECE"/>
      </a:folHlink>
    </a:clrScheme>
    <a:fontScheme name="Arial">
      <a:majorFont>
        <a:latin typeface="Arial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prstClr val="black">
                <a:alpha val="38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C0128"/>
      </a:hlink>
      <a:folHlink>
        <a:srgbClr val="CECECE"/>
      </a:folHlink>
    </a:clrScheme>
    <a:fontScheme name="Arial">
      <a:majorFont>
        <a:latin typeface="Arial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prstClr val="black">
                <a:alpha val="38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Letter Paper (8.5x11 in)</PresentationFormat>
  <Paragraphs>277</Paragraphs>
  <Slides>41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baseType="lpstr" size="46">
      <vt:lpstr>Arial</vt:lpstr>
      <vt:lpstr>Book Antiqua</vt:lpstr>
      <vt:lpstr>TimesNewRomanPS</vt:lpstr>
      <vt:lpstr>Calibri</vt:lpstr>
      <vt:lpstr>Default Design</vt:lpstr>
      <vt:lpstr>Surfing the Parallel Architectures</vt:lpstr>
      <vt:lpstr>Agenda</vt:lpstr>
      <vt:lpstr>Why Parallel Processing?</vt:lpstr>
      <vt:lpstr>Very Quick Review of Parallel Architectures</vt:lpstr>
      <vt:lpstr>Estimated Market Share by Architecture</vt:lpstr>
      <vt:lpstr>Uniprocessor</vt:lpstr>
      <vt:lpstr>Symmetric Multiprocessors</vt:lpstr>
      <vt:lpstr>Clusters</vt:lpstr>
      <vt:lpstr>Cluster Reality</vt:lpstr>
      <vt:lpstr>Massively Parallel (MPP or SPP)</vt:lpstr>
      <vt:lpstr>MPP Markets</vt:lpstr>
      <vt:lpstr>MPP Reality</vt:lpstr>
      <vt:lpstr>Hardware Supplier Approaches to Parallelism</vt:lpstr>
      <vt:lpstr>IBM</vt:lpstr>
      <vt:lpstr>Hewlett-Packard</vt:lpstr>
      <vt:lpstr>Digital Equipment</vt:lpstr>
      <vt:lpstr>Unisys</vt:lpstr>
      <vt:lpstr>Compaq</vt:lpstr>
      <vt:lpstr>AT&amp;T Global Information Solutions</vt:lpstr>
      <vt:lpstr>Other Hardware Suppliers</vt:lpstr>
      <vt:lpstr>Review of Parallel Software</vt:lpstr>
      <vt:lpstr>Relational Databases (RDBMS)</vt:lpstr>
      <vt:lpstr>Independent Software Supplier Parallel Strategies</vt:lpstr>
      <vt:lpstr>Aberdeen's Viewpoint on Tandem in a Parallel World</vt:lpstr>
      <vt:lpstr>Architecture</vt:lpstr>
      <vt:lpstr>Technology</vt:lpstr>
      <vt:lpstr>Markets</vt:lpstr>
      <vt:lpstr>Backup Information</vt:lpstr>
      <vt:lpstr>SMP (cont'd)</vt:lpstr>
      <vt:lpstr>Clusters (cont'd)</vt:lpstr>
      <vt:lpstr>Informix</vt:lpstr>
      <vt:lpstr>Oracle</vt:lpstr>
      <vt:lpstr>Sybase Navigation Server</vt:lpstr>
      <vt:lpstr>IBM</vt:lpstr>
      <vt:lpstr>IBM DB2</vt:lpstr>
      <vt:lpstr>Other  Database Software</vt:lpstr>
      <vt:lpstr>Parallel Operating System Issues</vt:lpstr>
      <vt:lpstr>Data Warehouse Specialists</vt:lpstr>
      <vt:lpstr>Parallelism in Applications</vt:lpstr>
      <vt:lpstr>Parallelism in Applications</vt:lpstr>
      <vt:lpstr>Parallelism in Applications</vt:lpstr>
    </vt:vector>
  </TitlesOfParts>
  <LinksUpToDate>0</LinksUpToDate>
  <SharedDoc>0</SharedDoc>
  <HyperlinksChanged>0</HyperlinksChanged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Surfing the Parallel Architectures</dc:title>
  <cp:keywords>Tandem BOD</cp:keywords>
  <cp:revision>2</cp:revision>
  <dcterms:created xsi:type="dcterms:W3CDTF">1995-03-27T14:41:06Z</dcterms:created>
  <dcterms:modified xsi:type="dcterms:W3CDTF">2024-06-13T22:28:24Z</dcterms:modified>
  <dc:subject>Tandem Board of Directors</dc:subject>
</cp:coreProperties>
</file>