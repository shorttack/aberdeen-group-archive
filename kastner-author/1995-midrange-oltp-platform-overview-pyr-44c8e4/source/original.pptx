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9.wmf" ContentType="image/x-wmf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10.wmf" ContentType="image/x-wmf"/>
  <Override PartName="/ppt/media/image11.wmf" ContentType="image/x-wmf"/>
  <Override PartName="/ppt/media/image12.wmf" ContentType="image/x-wmf"/>
  <Override PartName="/ppt/media/image13.wmf" ContentType="image/x-wmf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280160" y="2090880"/>
            <a:ext cx="6583320" cy="2916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6583320" cy="2916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3212640" cy="2916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53720" y="2090880"/>
            <a:ext cx="3212640" cy="2916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280160" y="1114920"/>
            <a:ext cx="6583320" cy="3891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53720" y="2090880"/>
            <a:ext cx="3212640" cy="2916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1280160" y="361440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3212640" cy="2916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53720" y="209088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53720" y="361440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53720" y="209088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1280160" y="3614400"/>
            <a:ext cx="658332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658332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280160" y="3614400"/>
            <a:ext cx="658332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53720" y="209088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280160" y="361440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53720" y="3614400"/>
            <a:ext cx="321264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280160" y="2090880"/>
            <a:ext cx="211968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506040" y="2090880"/>
            <a:ext cx="211968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732280" y="2090880"/>
            <a:ext cx="211968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280160" y="3614400"/>
            <a:ext cx="211968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506040" y="3614400"/>
            <a:ext cx="211968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732280" y="3614400"/>
            <a:ext cx="2119680" cy="139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" name="" descr=""/>
          <p:cNvPicPr/>
          <p:nvPr/>
        </p:nvPicPr>
        <p:blipFill>
          <a:blip r:embed="rId2"/>
          <a:stretch/>
        </p:blipFill>
        <p:spPr>
          <a:xfrm>
            <a:off x="695160" y="123840"/>
            <a:ext cx="7991640" cy="352440"/>
          </a:xfrm>
          <a:prstGeom prst="rect">
            <a:avLst/>
          </a:prstGeom>
          <a:ln>
            <a:noFill/>
          </a:ln>
        </p:spPr>
      </p:pic>
      <p:sp>
        <p:nvSpPr>
          <p:cNvPr id="2" name="TextShape 2"/>
          <p:cNvSpPr txBox="1"/>
          <p:nvPr/>
        </p:nvSpPr>
        <p:spPr>
          <a:xfrm>
            <a:off x="7375680" y="34920"/>
            <a:ext cx="1119240" cy="274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Book Antiqua"/>
                <a:ea typeface="Book Antiqua"/>
              </a:rPr>
              <a:t>Pyramid/SNI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3" name="" descr=""/>
          <p:cNvPicPr/>
          <p:nvPr/>
        </p:nvPicPr>
        <p:blipFill>
          <a:blip r:embed="rId3"/>
          <a:stretch/>
        </p:blipFill>
        <p:spPr>
          <a:xfrm>
            <a:off x="619200" y="6448320"/>
            <a:ext cx="7915320" cy="352440"/>
          </a:xfrm>
          <a:prstGeom prst="rect">
            <a:avLst/>
          </a:prstGeom>
          <a:ln>
            <a:noFill/>
          </a:ln>
        </p:spPr>
      </p:pic>
      <p:sp>
        <p:nvSpPr>
          <p:cNvPr id="4" name="TextShape 3"/>
          <p:cNvSpPr txBox="1"/>
          <p:nvPr/>
        </p:nvSpPr>
        <p:spPr>
          <a:xfrm>
            <a:off x="517680" y="6359400"/>
            <a:ext cx="2049480" cy="36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91440" indent="-91440">
              <a:lnSpc>
                <a:spcPct val="100000"/>
              </a:lnSpc>
              <a:buClr>
                <a:srgbClr val="000000"/>
              </a:buClr>
              <a:buSzPct val="45000"/>
              <a:buFont typeface=""/>
              <a:buChar char="©"/>
            </a:pPr>
            <a:r>
              <a:rPr b="0" lang="en-US" sz="1200" spc="-1" strike="noStrike">
                <a:solidFill>
                  <a:srgbClr val="000000"/>
                </a:solidFill>
                <a:latin typeface="Book Antiqua"/>
                <a:ea typeface="Book Antiqua"/>
              </a:rPr>
              <a:t>Aberdeen</a:t>
            </a:r>
            <a:r>
              <a:rPr b="0" i="1" lang="en-US" sz="1200" spc="-1" strike="noStrike">
                <a:solidFill>
                  <a:srgbClr val="000000"/>
                </a:solidFill>
                <a:latin typeface="Book Antiqua"/>
                <a:ea typeface="Book Antiqua"/>
              </a:rPr>
              <a:t>Group 1996   </a:t>
            </a:r>
            <a:fld id="{A28E0128-0BD0-4BC2-8A9D-193DF1335C05}" type="slidenum">
              <a:rPr b="0" lang="en-US" sz="1200" spc="-1" strike="noStrike">
                <a:solidFill>
                  <a:srgbClr val="000000"/>
                </a:solidFill>
                <a:latin typeface="Book Antiqua"/>
                <a:ea typeface="Book Antiqua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1280160" y="1114920"/>
            <a:ext cx="6583320" cy="839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1280160" y="2090880"/>
            <a:ext cx="6583320" cy="2916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Relationship Id="rId5" Type="http://schemas.openxmlformats.org/officeDocument/2006/relationships/image" Target="../media/image8.wmf"/><Relationship Id="rId6" Type="http://schemas.openxmlformats.org/officeDocument/2006/relationships/image" Target="../media/image9.wmf"/><Relationship Id="rId7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11.wmf"/><Relationship Id="rId3" Type="http://schemas.openxmlformats.org/officeDocument/2006/relationships/image" Target="../media/image12.wmf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762120" y="990720"/>
            <a:ext cx="7772400" cy="165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5400" spc="-1" strike="noStrike">
                <a:solidFill>
                  <a:srgbClr val="000000"/>
                </a:solidFill>
                <a:latin typeface="Book Antiqua"/>
                <a:ea typeface="Book Antiqua"/>
              </a:rPr>
              <a:t>Pyramid</a:t>
            </a:r>
            <a:br/>
            <a:r>
              <a:rPr b="1" lang="en-US" sz="5400" spc="-1" strike="noStrike">
                <a:solidFill>
                  <a:srgbClr val="000000"/>
                </a:solidFill>
                <a:latin typeface="Book Antiqua"/>
                <a:ea typeface="Book Antiqua"/>
              </a:rPr>
              <a:t>OLTP Overview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4" name="TextShape 2"/>
          <p:cNvSpPr txBox="1"/>
          <p:nvPr/>
        </p:nvSpPr>
        <p:spPr>
          <a:xfrm>
            <a:off x="1371600" y="3886200"/>
            <a:ext cx="6400800" cy="1838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 algn="ctr">
              <a:lnSpc>
                <a:spcPct val="100000"/>
              </a:lnSpc>
              <a:spcBef>
                <a:spcPts val="479"/>
              </a:spcBef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Wayne T. Kernochan</a:t>
            </a:r>
            <a:br/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Robert J. Sakakeeney</a:t>
            </a:r>
            <a:br/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Aberdeen Group, Inc.</a:t>
            </a:r>
            <a:br/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One Boston Place</a:t>
            </a:r>
            <a:br/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Boston, Mass. 02108</a:t>
            </a:r>
            <a:br/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(617) 723-7890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Agenda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Impact of Information Technology on Business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Midrange Platform Technology &amp; Leading Suppliers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Summary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687240" y="1984320"/>
            <a:ext cx="7770960" cy="3980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Business is continuously in a state of change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Information technologies grow only when they solve real world business problems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Many business executives have learned how to use IT for the benefit of their enterprises.  Many have not and tend to blame their IS staffs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The IS function within an enterprise is charged with evaluating new information technologies and implementing them as appropriate for the benefit of the entire enterprise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The technologies are changing too rapidly to keep abreast of all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Business goals and requirements are unclear and changing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Top Mgt Issues For IT Executives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825560" y="1832040"/>
            <a:ext cx="5470560" cy="3486240"/>
          </a:xfrm>
          <a:prstGeom prst="rect">
            <a:avLst/>
          </a:prstGeom>
          <a:ln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814320" y="582480"/>
            <a:ext cx="7448400" cy="9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Aberdeen Three Tier Plus Model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52" name="Group 2"/>
          <p:cNvGrpSpPr/>
          <p:nvPr/>
        </p:nvGrpSpPr>
        <p:grpSpPr>
          <a:xfrm>
            <a:off x="3370320" y="3459240"/>
            <a:ext cx="3432600" cy="795600"/>
            <a:chOff x="3370320" y="3459240"/>
            <a:chExt cx="3432600" cy="795600"/>
          </a:xfrm>
        </p:grpSpPr>
        <p:sp>
          <p:nvSpPr>
            <p:cNvPr id="53" name="Freeform 3"/>
            <p:cNvSpPr/>
            <p:nvPr/>
          </p:nvSpPr>
          <p:spPr>
            <a:xfrm>
              <a:off x="3370320" y="3459240"/>
              <a:ext cx="510480" cy="795960"/>
            </a:xfrm>
            <a:custGeom>
              <a:avLst/>
              <a:gdLst/>
              <a:ahLst/>
              <a:rect l="0" t="0" r="r" b="b"/>
              <a:pathLst>
                <a:path w="1418" h="2211">
                  <a:moveTo>
                    <a:pt x="0" y="2210"/>
                  </a:moveTo>
                  <a:lnTo>
                    <a:pt x="1134" y="2210"/>
                  </a:lnTo>
                  <a:lnTo>
                    <a:pt x="1417" y="1768"/>
                  </a:lnTo>
                  <a:lnTo>
                    <a:pt x="1417" y="0"/>
                  </a:lnTo>
                  <a:lnTo>
                    <a:pt x="1134" y="441"/>
                  </a:lnTo>
                  <a:lnTo>
                    <a:pt x="1134" y="2210"/>
                  </a:lnTo>
                  <a:lnTo>
                    <a:pt x="1134" y="441"/>
                  </a:lnTo>
                  <a:lnTo>
                    <a:pt x="0" y="441"/>
                  </a:lnTo>
                  <a:lnTo>
                    <a:pt x="283" y="0"/>
                  </a:lnTo>
                  <a:lnTo>
                    <a:pt x="1417" y="0"/>
                  </a:lnTo>
                  <a:lnTo>
                    <a:pt x="283" y="0"/>
                  </a:lnTo>
                  <a:lnTo>
                    <a:pt x="0" y="441"/>
                  </a:lnTo>
                  <a:lnTo>
                    <a:pt x="0" y="221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54" name="Freeform 4"/>
            <p:cNvSpPr/>
            <p:nvPr/>
          </p:nvSpPr>
          <p:spPr>
            <a:xfrm>
              <a:off x="4538520" y="3459240"/>
              <a:ext cx="510480" cy="795960"/>
            </a:xfrm>
            <a:custGeom>
              <a:avLst/>
              <a:gdLst/>
              <a:ahLst/>
              <a:rect l="0" t="0" r="r" b="b"/>
              <a:pathLst>
                <a:path w="1418" h="2211">
                  <a:moveTo>
                    <a:pt x="0" y="2210"/>
                  </a:moveTo>
                  <a:lnTo>
                    <a:pt x="1134" y="2210"/>
                  </a:lnTo>
                  <a:lnTo>
                    <a:pt x="1417" y="1768"/>
                  </a:lnTo>
                  <a:lnTo>
                    <a:pt x="1417" y="0"/>
                  </a:lnTo>
                  <a:lnTo>
                    <a:pt x="1134" y="441"/>
                  </a:lnTo>
                  <a:lnTo>
                    <a:pt x="1134" y="2210"/>
                  </a:lnTo>
                  <a:lnTo>
                    <a:pt x="1134" y="441"/>
                  </a:lnTo>
                  <a:lnTo>
                    <a:pt x="0" y="441"/>
                  </a:lnTo>
                  <a:lnTo>
                    <a:pt x="283" y="0"/>
                  </a:lnTo>
                  <a:lnTo>
                    <a:pt x="1417" y="0"/>
                  </a:lnTo>
                  <a:lnTo>
                    <a:pt x="283" y="0"/>
                  </a:lnTo>
                  <a:lnTo>
                    <a:pt x="0" y="441"/>
                  </a:lnTo>
                  <a:lnTo>
                    <a:pt x="0" y="221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55" name="Freeform 5"/>
            <p:cNvSpPr/>
            <p:nvPr/>
          </p:nvSpPr>
          <p:spPr>
            <a:xfrm>
              <a:off x="3954600" y="3459240"/>
              <a:ext cx="510480" cy="795960"/>
            </a:xfrm>
            <a:custGeom>
              <a:avLst/>
              <a:gdLst/>
              <a:ahLst/>
              <a:rect l="0" t="0" r="r" b="b"/>
              <a:pathLst>
                <a:path w="1418" h="2211">
                  <a:moveTo>
                    <a:pt x="0" y="2210"/>
                  </a:moveTo>
                  <a:lnTo>
                    <a:pt x="1134" y="2210"/>
                  </a:lnTo>
                  <a:lnTo>
                    <a:pt x="1417" y="1768"/>
                  </a:lnTo>
                  <a:lnTo>
                    <a:pt x="1417" y="0"/>
                  </a:lnTo>
                  <a:lnTo>
                    <a:pt x="1134" y="441"/>
                  </a:lnTo>
                  <a:lnTo>
                    <a:pt x="1134" y="2210"/>
                  </a:lnTo>
                  <a:lnTo>
                    <a:pt x="1134" y="441"/>
                  </a:lnTo>
                  <a:lnTo>
                    <a:pt x="0" y="441"/>
                  </a:lnTo>
                  <a:lnTo>
                    <a:pt x="283" y="0"/>
                  </a:lnTo>
                  <a:lnTo>
                    <a:pt x="1417" y="0"/>
                  </a:lnTo>
                  <a:lnTo>
                    <a:pt x="283" y="0"/>
                  </a:lnTo>
                  <a:lnTo>
                    <a:pt x="0" y="441"/>
                  </a:lnTo>
                  <a:lnTo>
                    <a:pt x="0" y="221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56" name="Freeform 6"/>
            <p:cNvSpPr/>
            <p:nvPr/>
          </p:nvSpPr>
          <p:spPr>
            <a:xfrm>
              <a:off x="5122800" y="3459240"/>
              <a:ext cx="510480" cy="795960"/>
            </a:xfrm>
            <a:custGeom>
              <a:avLst/>
              <a:gdLst/>
              <a:ahLst/>
              <a:rect l="0" t="0" r="r" b="b"/>
              <a:pathLst>
                <a:path w="1418" h="2211">
                  <a:moveTo>
                    <a:pt x="0" y="2210"/>
                  </a:moveTo>
                  <a:lnTo>
                    <a:pt x="1134" y="2210"/>
                  </a:lnTo>
                  <a:lnTo>
                    <a:pt x="1417" y="1768"/>
                  </a:lnTo>
                  <a:lnTo>
                    <a:pt x="1417" y="0"/>
                  </a:lnTo>
                  <a:lnTo>
                    <a:pt x="1134" y="441"/>
                  </a:lnTo>
                  <a:lnTo>
                    <a:pt x="1134" y="2210"/>
                  </a:lnTo>
                  <a:lnTo>
                    <a:pt x="1134" y="441"/>
                  </a:lnTo>
                  <a:lnTo>
                    <a:pt x="0" y="441"/>
                  </a:lnTo>
                  <a:lnTo>
                    <a:pt x="283" y="0"/>
                  </a:lnTo>
                  <a:lnTo>
                    <a:pt x="1417" y="0"/>
                  </a:lnTo>
                  <a:lnTo>
                    <a:pt x="283" y="0"/>
                  </a:lnTo>
                  <a:lnTo>
                    <a:pt x="0" y="441"/>
                  </a:lnTo>
                  <a:lnTo>
                    <a:pt x="0" y="221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57" name="Freeform 7"/>
            <p:cNvSpPr/>
            <p:nvPr/>
          </p:nvSpPr>
          <p:spPr>
            <a:xfrm>
              <a:off x="5707080" y="3459240"/>
              <a:ext cx="511920" cy="795960"/>
            </a:xfrm>
            <a:custGeom>
              <a:avLst/>
              <a:gdLst/>
              <a:ahLst/>
              <a:rect l="0" t="0" r="r" b="b"/>
              <a:pathLst>
                <a:path w="1422" h="2211">
                  <a:moveTo>
                    <a:pt x="0" y="2210"/>
                  </a:moveTo>
                  <a:lnTo>
                    <a:pt x="1137" y="2210"/>
                  </a:lnTo>
                  <a:lnTo>
                    <a:pt x="1421" y="1768"/>
                  </a:lnTo>
                  <a:lnTo>
                    <a:pt x="1421" y="0"/>
                  </a:lnTo>
                  <a:lnTo>
                    <a:pt x="1137" y="441"/>
                  </a:lnTo>
                  <a:lnTo>
                    <a:pt x="1137" y="2210"/>
                  </a:lnTo>
                  <a:lnTo>
                    <a:pt x="1137" y="441"/>
                  </a:lnTo>
                  <a:lnTo>
                    <a:pt x="0" y="441"/>
                  </a:lnTo>
                  <a:lnTo>
                    <a:pt x="283" y="0"/>
                  </a:lnTo>
                  <a:lnTo>
                    <a:pt x="1421" y="0"/>
                  </a:lnTo>
                  <a:lnTo>
                    <a:pt x="283" y="0"/>
                  </a:lnTo>
                  <a:lnTo>
                    <a:pt x="0" y="441"/>
                  </a:lnTo>
                  <a:lnTo>
                    <a:pt x="0" y="221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58" name="Freeform 8"/>
            <p:cNvSpPr/>
            <p:nvPr/>
          </p:nvSpPr>
          <p:spPr>
            <a:xfrm>
              <a:off x="6291360" y="3459240"/>
              <a:ext cx="511920" cy="795960"/>
            </a:xfrm>
            <a:custGeom>
              <a:avLst/>
              <a:gdLst/>
              <a:ahLst/>
              <a:rect l="0" t="0" r="r" b="b"/>
              <a:pathLst>
                <a:path w="1422" h="2211">
                  <a:moveTo>
                    <a:pt x="0" y="2210"/>
                  </a:moveTo>
                  <a:lnTo>
                    <a:pt x="1137" y="2210"/>
                  </a:lnTo>
                  <a:lnTo>
                    <a:pt x="1421" y="1768"/>
                  </a:lnTo>
                  <a:lnTo>
                    <a:pt x="1421" y="0"/>
                  </a:lnTo>
                  <a:lnTo>
                    <a:pt x="1137" y="441"/>
                  </a:lnTo>
                  <a:lnTo>
                    <a:pt x="1137" y="2210"/>
                  </a:lnTo>
                  <a:lnTo>
                    <a:pt x="1137" y="441"/>
                  </a:lnTo>
                  <a:lnTo>
                    <a:pt x="0" y="441"/>
                  </a:lnTo>
                  <a:lnTo>
                    <a:pt x="283" y="0"/>
                  </a:lnTo>
                  <a:lnTo>
                    <a:pt x="1421" y="0"/>
                  </a:lnTo>
                  <a:lnTo>
                    <a:pt x="283" y="0"/>
                  </a:lnTo>
                  <a:lnTo>
                    <a:pt x="0" y="441"/>
                  </a:lnTo>
                  <a:lnTo>
                    <a:pt x="0" y="221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grpSp>
          <p:nvGrpSpPr>
            <p:cNvPr id="59" name="Group 9"/>
            <p:cNvGrpSpPr/>
            <p:nvPr/>
          </p:nvGrpSpPr>
          <p:grpSpPr>
            <a:xfrm>
              <a:off x="3516480" y="3675240"/>
              <a:ext cx="145800" cy="215640"/>
              <a:chOff x="3516480" y="3675240"/>
              <a:chExt cx="145800" cy="215640"/>
            </a:xfrm>
          </p:grpSpPr>
          <p:sp>
            <p:nvSpPr>
              <p:cNvPr id="60" name="Line 10"/>
              <p:cNvSpPr/>
              <p:nvPr/>
            </p:nvSpPr>
            <p:spPr>
              <a:xfrm>
                <a:off x="351648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" name="Line 11"/>
              <p:cNvSpPr/>
              <p:nvPr/>
            </p:nvSpPr>
            <p:spPr>
              <a:xfrm>
                <a:off x="358776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2" name="Line 12"/>
              <p:cNvSpPr/>
              <p:nvPr/>
            </p:nvSpPr>
            <p:spPr>
              <a:xfrm>
                <a:off x="366228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3" name="Group 13"/>
            <p:cNvGrpSpPr/>
            <p:nvPr/>
          </p:nvGrpSpPr>
          <p:grpSpPr>
            <a:xfrm>
              <a:off x="6437160" y="3675240"/>
              <a:ext cx="146160" cy="215640"/>
              <a:chOff x="6437160" y="3675240"/>
              <a:chExt cx="146160" cy="215640"/>
            </a:xfrm>
          </p:grpSpPr>
          <p:sp>
            <p:nvSpPr>
              <p:cNvPr id="64" name="Line 14"/>
              <p:cNvSpPr/>
              <p:nvPr/>
            </p:nvSpPr>
            <p:spPr>
              <a:xfrm>
                <a:off x="643716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" name="Line 15"/>
              <p:cNvSpPr/>
              <p:nvPr/>
            </p:nvSpPr>
            <p:spPr>
              <a:xfrm>
                <a:off x="651024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6" name="Line 16"/>
              <p:cNvSpPr/>
              <p:nvPr/>
            </p:nvSpPr>
            <p:spPr>
              <a:xfrm>
                <a:off x="658332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" name="Line 17"/>
              <p:cNvSpPr/>
              <p:nvPr/>
            </p:nvSpPr>
            <p:spPr>
              <a:xfrm>
                <a:off x="658332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68" name="Line 18"/>
            <p:cNvSpPr/>
            <p:nvPr/>
          </p:nvSpPr>
          <p:spPr>
            <a:xfrm>
              <a:off x="410040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Line 19"/>
            <p:cNvSpPr/>
            <p:nvPr/>
          </p:nvSpPr>
          <p:spPr>
            <a:xfrm>
              <a:off x="410040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Line 20"/>
            <p:cNvSpPr/>
            <p:nvPr/>
          </p:nvSpPr>
          <p:spPr>
            <a:xfrm>
              <a:off x="417204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Line 21"/>
            <p:cNvSpPr/>
            <p:nvPr/>
          </p:nvSpPr>
          <p:spPr>
            <a:xfrm>
              <a:off x="424656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Line 22"/>
            <p:cNvSpPr/>
            <p:nvPr/>
          </p:nvSpPr>
          <p:spPr>
            <a:xfrm>
              <a:off x="468468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Line 23"/>
            <p:cNvSpPr/>
            <p:nvPr/>
          </p:nvSpPr>
          <p:spPr>
            <a:xfrm>
              <a:off x="468468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Line 24"/>
            <p:cNvSpPr/>
            <p:nvPr/>
          </p:nvSpPr>
          <p:spPr>
            <a:xfrm>
              <a:off x="475632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Line 25"/>
            <p:cNvSpPr/>
            <p:nvPr/>
          </p:nvSpPr>
          <p:spPr>
            <a:xfrm>
              <a:off x="483084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Line 26"/>
            <p:cNvSpPr/>
            <p:nvPr/>
          </p:nvSpPr>
          <p:spPr>
            <a:xfrm>
              <a:off x="526896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Line 27"/>
            <p:cNvSpPr/>
            <p:nvPr/>
          </p:nvSpPr>
          <p:spPr>
            <a:xfrm>
              <a:off x="526896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Line 28"/>
            <p:cNvSpPr/>
            <p:nvPr/>
          </p:nvSpPr>
          <p:spPr>
            <a:xfrm>
              <a:off x="534024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Line 29"/>
            <p:cNvSpPr/>
            <p:nvPr/>
          </p:nvSpPr>
          <p:spPr>
            <a:xfrm>
              <a:off x="5415120" y="3675240"/>
              <a:ext cx="0" cy="2156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80" name="Group 30"/>
            <p:cNvGrpSpPr/>
            <p:nvPr/>
          </p:nvGrpSpPr>
          <p:grpSpPr>
            <a:xfrm>
              <a:off x="5853240" y="3675240"/>
              <a:ext cx="145800" cy="215640"/>
              <a:chOff x="5853240" y="3675240"/>
              <a:chExt cx="145800" cy="215640"/>
            </a:xfrm>
          </p:grpSpPr>
          <p:sp>
            <p:nvSpPr>
              <p:cNvPr id="81" name="Line 31"/>
              <p:cNvSpPr/>
              <p:nvPr/>
            </p:nvSpPr>
            <p:spPr>
              <a:xfrm>
                <a:off x="585324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2" name="Line 32"/>
              <p:cNvSpPr/>
              <p:nvPr/>
            </p:nvSpPr>
            <p:spPr>
              <a:xfrm>
                <a:off x="592452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3" name="Line 33"/>
              <p:cNvSpPr/>
              <p:nvPr/>
            </p:nvSpPr>
            <p:spPr>
              <a:xfrm>
                <a:off x="599904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" name="Line 34"/>
              <p:cNvSpPr/>
              <p:nvPr/>
            </p:nvSpPr>
            <p:spPr>
              <a:xfrm>
                <a:off x="5999040" y="3675240"/>
                <a:ext cx="0" cy="2156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5" name="Rectangle 35"/>
            <p:cNvSpPr/>
            <p:nvPr/>
          </p:nvSpPr>
          <p:spPr>
            <a:xfrm>
              <a:off x="3441600" y="4038480"/>
              <a:ext cx="146160" cy="7128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86" name="Rectangle 36"/>
            <p:cNvSpPr/>
            <p:nvPr/>
          </p:nvSpPr>
          <p:spPr>
            <a:xfrm>
              <a:off x="4025880" y="4038480"/>
              <a:ext cx="146160" cy="7128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87" name="Rectangle 37"/>
            <p:cNvSpPr/>
            <p:nvPr/>
          </p:nvSpPr>
          <p:spPr>
            <a:xfrm>
              <a:off x="4610160" y="4038480"/>
              <a:ext cx="146160" cy="7128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88" name="Rectangle 38"/>
            <p:cNvSpPr/>
            <p:nvPr/>
          </p:nvSpPr>
          <p:spPr>
            <a:xfrm>
              <a:off x="5194440" y="4038480"/>
              <a:ext cx="146160" cy="7128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89" name="Rectangle 39"/>
            <p:cNvSpPr/>
            <p:nvPr/>
          </p:nvSpPr>
          <p:spPr>
            <a:xfrm>
              <a:off x="5778360" y="4038480"/>
              <a:ext cx="146160" cy="7128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90" name="Rectangle 40"/>
            <p:cNvSpPr/>
            <p:nvPr/>
          </p:nvSpPr>
          <p:spPr>
            <a:xfrm>
              <a:off x="6364440" y="4038480"/>
              <a:ext cx="146160" cy="7128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</p:grpSp>
      <p:grpSp>
        <p:nvGrpSpPr>
          <p:cNvPr id="91" name="Group 41"/>
          <p:cNvGrpSpPr/>
          <p:nvPr/>
        </p:nvGrpSpPr>
        <p:grpSpPr>
          <a:xfrm>
            <a:off x="1397160" y="4905360"/>
            <a:ext cx="4455720" cy="996840"/>
            <a:chOff x="1397160" y="4905360"/>
            <a:chExt cx="4455720" cy="996840"/>
          </a:xfrm>
        </p:grpSpPr>
        <p:grpSp>
          <p:nvGrpSpPr>
            <p:cNvPr id="92" name="Group 42"/>
            <p:cNvGrpSpPr/>
            <p:nvPr/>
          </p:nvGrpSpPr>
          <p:grpSpPr>
            <a:xfrm>
              <a:off x="1397160" y="4978440"/>
              <a:ext cx="1535040" cy="923760"/>
              <a:chOff x="1397160" y="4978440"/>
              <a:chExt cx="1535040" cy="923760"/>
            </a:xfrm>
          </p:grpSpPr>
          <p:pic>
            <p:nvPicPr>
              <p:cNvPr id="93" name="" descr=""/>
              <p:cNvPicPr/>
              <p:nvPr/>
            </p:nvPicPr>
            <p:blipFill>
              <a:blip r:embed="rId1"/>
              <a:stretch/>
            </p:blipFill>
            <p:spPr>
              <a:xfrm>
                <a:off x="1397160" y="4978440"/>
                <a:ext cx="876240" cy="63324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4" name="" descr=""/>
              <p:cNvPicPr/>
              <p:nvPr/>
            </p:nvPicPr>
            <p:blipFill>
              <a:blip r:embed="rId2"/>
              <a:stretch/>
            </p:blipFill>
            <p:spPr>
              <a:xfrm>
                <a:off x="1689120" y="5122800"/>
                <a:ext cx="876240" cy="63324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5" name="" descr=""/>
              <p:cNvPicPr/>
              <p:nvPr/>
            </p:nvPicPr>
            <p:blipFill>
              <a:blip r:embed="rId3"/>
              <a:stretch/>
            </p:blipFill>
            <p:spPr>
              <a:xfrm>
                <a:off x="2055960" y="5268960"/>
                <a:ext cx="876240" cy="63324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96" name="Group 43"/>
            <p:cNvGrpSpPr/>
            <p:nvPr/>
          </p:nvGrpSpPr>
          <p:grpSpPr>
            <a:xfrm>
              <a:off x="4464000" y="4905360"/>
              <a:ext cx="1388880" cy="996840"/>
              <a:chOff x="4464000" y="4905360"/>
              <a:chExt cx="1388880" cy="996840"/>
            </a:xfrm>
          </p:grpSpPr>
          <p:pic>
            <p:nvPicPr>
              <p:cNvPr id="97" name="" descr=""/>
              <p:cNvPicPr/>
              <p:nvPr/>
            </p:nvPicPr>
            <p:blipFill>
              <a:blip r:embed="rId4"/>
              <a:stretch/>
            </p:blipFill>
            <p:spPr>
              <a:xfrm>
                <a:off x="4976640" y="4905360"/>
                <a:ext cx="876240" cy="63324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8" name="" descr=""/>
              <p:cNvPicPr/>
              <p:nvPr/>
            </p:nvPicPr>
            <p:blipFill>
              <a:blip r:embed="rId5"/>
              <a:stretch/>
            </p:blipFill>
            <p:spPr>
              <a:xfrm>
                <a:off x="4756320" y="5122800"/>
                <a:ext cx="876240" cy="63324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9" name="" descr=""/>
              <p:cNvPicPr/>
              <p:nvPr/>
            </p:nvPicPr>
            <p:blipFill>
              <a:blip r:embed="rId6"/>
              <a:stretch/>
            </p:blipFill>
            <p:spPr>
              <a:xfrm>
                <a:off x="4464000" y="5268960"/>
                <a:ext cx="876240" cy="63324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100" name="Group 44"/>
            <p:cNvGrpSpPr/>
            <p:nvPr/>
          </p:nvGrpSpPr>
          <p:grpSpPr>
            <a:xfrm>
              <a:off x="3441600" y="4978440"/>
              <a:ext cx="366840" cy="650880"/>
              <a:chOff x="3441600" y="4978440"/>
              <a:chExt cx="366840" cy="650880"/>
            </a:xfrm>
          </p:grpSpPr>
          <p:sp>
            <p:nvSpPr>
              <p:cNvPr id="101" name="Rectangle 45"/>
              <p:cNvSpPr/>
              <p:nvPr/>
            </p:nvSpPr>
            <p:spPr>
              <a:xfrm>
                <a:off x="3441600" y="5060880"/>
                <a:ext cx="279360" cy="5684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02" name="Line 46"/>
              <p:cNvSpPr/>
              <p:nvPr/>
            </p:nvSpPr>
            <p:spPr>
              <a:xfrm flipV="1">
                <a:off x="3441600" y="4978440"/>
                <a:ext cx="169920" cy="824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3" name="Line 47"/>
              <p:cNvSpPr/>
              <p:nvPr/>
            </p:nvSpPr>
            <p:spPr>
              <a:xfrm>
                <a:off x="3611520" y="4978440"/>
                <a:ext cx="196920" cy="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Line 48"/>
              <p:cNvSpPr/>
              <p:nvPr/>
            </p:nvSpPr>
            <p:spPr>
              <a:xfrm>
                <a:off x="3808440" y="4978440"/>
                <a:ext cx="0" cy="48888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Line 49"/>
              <p:cNvSpPr/>
              <p:nvPr/>
            </p:nvSpPr>
            <p:spPr>
              <a:xfrm flipV="1">
                <a:off x="3720960" y="5467320"/>
                <a:ext cx="87480" cy="16200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Line 50"/>
              <p:cNvSpPr/>
              <p:nvPr/>
            </p:nvSpPr>
            <p:spPr>
              <a:xfrm flipH="1">
                <a:off x="3720960" y="4978440"/>
                <a:ext cx="87480" cy="824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107" name="Group 51"/>
              <p:cNvGrpSpPr/>
              <p:nvPr/>
            </p:nvGrpSpPr>
            <p:grpSpPr>
              <a:xfrm>
                <a:off x="3581280" y="5141880"/>
                <a:ext cx="87480" cy="201600"/>
                <a:chOff x="3581280" y="5141880"/>
                <a:chExt cx="87480" cy="201600"/>
              </a:xfrm>
            </p:grpSpPr>
            <p:sp>
              <p:nvSpPr>
                <p:cNvPr id="108" name="Line 52"/>
                <p:cNvSpPr/>
                <p:nvPr/>
              </p:nvSpPr>
              <p:spPr>
                <a:xfrm>
                  <a:off x="3581280" y="5141880"/>
                  <a:ext cx="0" cy="201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9" name="Line 53"/>
                <p:cNvSpPr/>
                <p:nvPr/>
              </p:nvSpPr>
              <p:spPr>
                <a:xfrm>
                  <a:off x="3611520" y="5141880"/>
                  <a:ext cx="0" cy="201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0" name="Line 54"/>
                <p:cNvSpPr/>
                <p:nvPr/>
              </p:nvSpPr>
              <p:spPr>
                <a:xfrm>
                  <a:off x="3638520" y="5141880"/>
                  <a:ext cx="0" cy="201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1" name="Line 55"/>
                <p:cNvSpPr/>
                <p:nvPr/>
              </p:nvSpPr>
              <p:spPr>
                <a:xfrm>
                  <a:off x="3668760" y="5141880"/>
                  <a:ext cx="0" cy="2016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12" name="Rectangle 56"/>
              <p:cNvSpPr/>
              <p:nvPr/>
            </p:nvSpPr>
            <p:spPr>
              <a:xfrm>
                <a:off x="3498840" y="5467320"/>
                <a:ext cx="112680" cy="3960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round/>
              </a:ln>
            </p:spPr>
          </p:sp>
        </p:grpSp>
      </p:grpSp>
      <p:grpSp>
        <p:nvGrpSpPr>
          <p:cNvPr id="113" name="Group 57"/>
          <p:cNvGrpSpPr/>
          <p:nvPr/>
        </p:nvGrpSpPr>
        <p:grpSpPr>
          <a:xfrm>
            <a:off x="5999040" y="1703520"/>
            <a:ext cx="1022760" cy="886320"/>
            <a:chOff x="5999040" y="1703520"/>
            <a:chExt cx="1022760" cy="886320"/>
          </a:xfrm>
        </p:grpSpPr>
        <p:sp>
          <p:nvSpPr>
            <p:cNvPr id="114" name="Freeform 58"/>
            <p:cNvSpPr/>
            <p:nvPr/>
          </p:nvSpPr>
          <p:spPr>
            <a:xfrm>
              <a:off x="5999040" y="1703520"/>
              <a:ext cx="1023120" cy="886680"/>
            </a:xfrm>
            <a:custGeom>
              <a:avLst/>
              <a:gdLst/>
              <a:ahLst/>
              <a:rect l="0" t="0" r="r" b="b"/>
              <a:pathLst>
                <a:path w="2842" h="2463">
                  <a:moveTo>
                    <a:pt x="0" y="2462"/>
                  </a:moveTo>
                  <a:lnTo>
                    <a:pt x="2273" y="2462"/>
                  </a:lnTo>
                  <a:lnTo>
                    <a:pt x="2841" y="1970"/>
                  </a:lnTo>
                  <a:lnTo>
                    <a:pt x="2841" y="0"/>
                  </a:lnTo>
                  <a:lnTo>
                    <a:pt x="2273" y="492"/>
                  </a:lnTo>
                  <a:lnTo>
                    <a:pt x="2273" y="2462"/>
                  </a:lnTo>
                  <a:lnTo>
                    <a:pt x="2273" y="492"/>
                  </a:lnTo>
                  <a:lnTo>
                    <a:pt x="0" y="492"/>
                  </a:lnTo>
                  <a:lnTo>
                    <a:pt x="567" y="0"/>
                  </a:lnTo>
                  <a:lnTo>
                    <a:pt x="2841" y="0"/>
                  </a:lnTo>
                  <a:lnTo>
                    <a:pt x="567" y="0"/>
                  </a:lnTo>
                  <a:lnTo>
                    <a:pt x="0" y="492"/>
                  </a:lnTo>
                  <a:lnTo>
                    <a:pt x="0" y="2462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grpSp>
          <p:nvGrpSpPr>
            <p:cNvPr id="115" name="Group 59"/>
            <p:cNvGrpSpPr/>
            <p:nvPr/>
          </p:nvGrpSpPr>
          <p:grpSpPr>
            <a:xfrm>
              <a:off x="6254640" y="1955880"/>
              <a:ext cx="382680" cy="336600"/>
              <a:chOff x="6254640" y="1955880"/>
              <a:chExt cx="382680" cy="336600"/>
            </a:xfrm>
          </p:grpSpPr>
          <p:sp>
            <p:nvSpPr>
              <p:cNvPr id="116" name="Line 60"/>
              <p:cNvSpPr/>
              <p:nvPr/>
            </p:nvSpPr>
            <p:spPr>
              <a:xfrm>
                <a:off x="6254640" y="1955880"/>
                <a:ext cx="0" cy="33660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7" name="Line 61"/>
              <p:cNvSpPr/>
              <p:nvPr/>
            </p:nvSpPr>
            <p:spPr>
              <a:xfrm>
                <a:off x="6381720" y="1955880"/>
                <a:ext cx="0" cy="33660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8" name="Line 62"/>
              <p:cNvSpPr/>
              <p:nvPr/>
            </p:nvSpPr>
            <p:spPr>
              <a:xfrm>
                <a:off x="6510240" y="1955880"/>
                <a:ext cx="0" cy="33660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9" name="Line 63"/>
              <p:cNvSpPr/>
              <p:nvPr/>
            </p:nvSpPr>
            <p:spPr>
              <a:xfrm>
                <a:off x="6637320" y="1955880"/>
                <a:ext cx="0" cy="33660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20" name="Rectangle 64"/>
            <p:cNvSpPr/>
            <p:nvPr/>
          </p:nvSpPr>
          <p:spPr>
            <a:xfrm>
              <a:off x="6064200" y="2379600"/>
              <a:ext cx="446040" cy="8244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</p:grpSp>
      <p:grpSp>
        <p:nvGrpSpPr>
          <p:cNvPr id="121" name="Group 65"/>
          <p:cNvGrpSpPr/>
          <p:nvPr/>
        </p:nvGrpSpPr>
        <p:grpSpPr>
          <a:xfrm>
            <a:off x="1714680" y="1359000"/>
            <a:ext cx="1116360" cy="1429200"/>
            <a:chOff x="1714680" y="1359000"/>
            <a:chExt cx="1116360" cy="1429200"/>
          </a:xfrm>
        </p:grpSpPr>
        <p:sp>
          <p:nvSpPr>
            <p:cNvPr id="122" name="Freeform 66"/>
            <p:cNvSpPr/>
            <p:nvPr/>
          </p:nvSpPr>
          <p:spPr>
            <a:xfrm>
              <a:off x="1714680" y="1359000"/>
              <a:ext cx="1116720" cy="1429560"/>
            </a:xfrm>
            <a:custGeom>
              <a:avLst/>
              <a:gdLst/>
              <a:ahLst/>
              <a:rect l="0" t="0" r="r" b="b"/>
              <a:pathLst>
                <a:path w="3102" h="3971">
                  <a:moveTo>
                    <a:pt x="0" y="3970"/>
                  </a:moveTo>
                  <a:lnTo>
                    <a:pt x="2481" y="3970"/>
                  </a:lnTo>
                  <a:lnTo>
                    <a:pt x="3101" y="3177"/>
                  </a:lnTo>
                  <a:lnTo>
                    <a:pt x="3101" y="0"/>
                  </a:lnTo>
                  <a:lnTo>
                    <a:pt x="2481" y="793"/>
                  </a:lnTo>
                  <a:lnTo>
                    <a:pt x="2481" y="3970"/>
                  </a:lnTo>
                  <a:lnTo>
                    <a:pt x="2481" y="793"/>
                  </a:lnTo>
                  <a:lnTo>
                    <a:pt x="0" y="793"/>
                  </a:lnTo>
                  <a:lnTo>
                    <a:pt x="620" y="0"/>
                  </a:lnTo>
                  <a:lnTo>
                    <a:pt x="3101" y="0"/>
                  </a:lnTo>
                  <a:lnTo>
                    <a:pt x="620" y="0"/>
                  </a:lnTo>
                  <a:lnTo>
                    <a:pt x="0" y="793"/>
                  </a:lnTo>
                  <a:lnTo>
                    <a:pt x="0" y="3970"/>
                  </a:lnTo>
                </a:path>
              </a:pathLst>
            </a:cu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  <p:grpSp>
          <p:nvGrpSpPr>
            <p:cNvPr id="123" name="Group 67"/>
            <p:cNvGrpSpPr/>
            <p:nvPr/>
          </p:nvGrpSpPr>
          <p:grpSpPr>
            <a:xfrm>
              <a:off x="1992240" y="1768320"/>
              <a:ext cx="416160" cy="543240"/>
              <a:chOff x="1992240" y="1768320"/>
              <a:chExt cx="416160" cy="543240"/>
            </a:xfrm>
          </p:grpSpPr>
          <p:sp>
            <p:nvSpPr>
              <p:cNvPr id="124" name="Line 68"/>
              <p:cNvSpPr/>
              <p:nvPr/>
            </p:nvSpPr>
            <p:spPr>
              <a:xfrm>
                <a:off x="1992240" y="1768320"/>
                <a:ext cx="0" cy="5432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Line 69"/>
              <p:cNvSpPr/>
              <p:nvPr/>
            </p:nvSpPr>
            <p:spPr>
              <a:xfrm>
                <a:off x="2133720" y="1768320"/>
                <a:ext cx="0" cy="5432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Line 70"/>
              <p:cNvSpPr/>
              <p:nvPr/>
            </p:nvSpPr>
            <p:spPr>
              <a:xfrm>
                <a:off x="2271600" y="1768320"/>
                <a:ext cx="0" cy="5432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Line 71"/>
              <p:cNvSpPr/>
              <p:nvPr/>
            </p:nvSpPr>
            <p:spPr>
              <a:xfrm>
                <a:off x="2408400" y="1768320"/>
                <a:ext cx="0" cy="54324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28" name="Rectangle 72"/>
            <p:cNvSpPr/>
            <p:nvPr/>
          </p:nvSpPr>
          <p:spPr>
            <a:xfrm>
              <a:off x="1784520" y="2448000"/>
              <a:ext cx="487440" cy="136440"/>
            </a:xfrm>
            <a:prstGeom prst="rect">
              <a:avLst/>
            </a:prstGeom>
            <a:solidFill>
              <a:srgbClr val="cecece"/>
            </a:solidFill>
            <a:ln w="12600">
              <a:solidFill>
                <a:srgbClr val="000000"/>
              </a:solidFill>
              <a:round/>
            </a:ln>
          </p:spPr>
        </p:sp>
      </p:grpSp>
      <p:sp>
        <p:nvSpPr>
          <p:cNvPr id="129" name="Ellipse 73"/>
          <p:cNvSpPr/>
          <p:nvPr/>
        </p:nvSpPr>
        <p:spPr>
          <a:xfrm>
            <a:off x="3075120" y="1419120"/>
            <a:ext cx="804960" cy="297000"/>
          </a:xfrm>
          <a:prstGeom prst="ellipse">
            <a:avLst/>
          </a:prstGeom>
          <a:solidFill>
            <a:srgbClr val="cecece"/>
          </a:solidFill>
          <a:ln w="12600">
            <a:solidFill>
              <a:srgbClr val="000000"/>
            </a:solidFill>
            <a:round/>
          </a:ln>
        </p:spPr>
      </p:sp>
      <p:grpSp>
        <p:nvGrpSpPr>
          <p:cNvPr id="130" name="Group 74"/>
          <p:cNvGrpSpPr/>
          <p:nvPr/>
        </p:nvGrpSpPr>
        <p:grpSpPr>
          <a:xfrm>
            <a:off x="3075120" y="2015280"/>
            <a:ext cx="805320" cy="178920"/>
            <a:chOff x="3075120" y="2015280"/>
            <a:chExt cx="805320" cy="178920"/>
          </a:xfrm>
        </p:grpSpPr>
        <p:sp>
          <p:nvSpPr>
            <p:cNvPr id="131" name="Freeform 75"/>
            <p:cNvSpPr/>
            <p:nvPr/>
          </p:nvSpPr>
          <p:spPr>
            <a:xfrm>
              <a:off x="3451320" y="2015280"/>
              <a:ext cx="429480" cy="179280"/>
            </a:xfrm>
            <a:custGeom>
              <a:avLst/>
              <a:gdLst/>
              <a:ahLst/>
              <a:rect l="0" t="0" r="r" b="b"/>
              <a:pathLst>
                <a:path w="1193" h="498">
                  <a:moveTo>
                    <a:pt x="0" y="497"/>
                  </a:moveTo>
                  <a:lnTo>
                    <a:pt x="0" y="497"/>
                  </a:lnTo>
                  <a:cubicBezTo>
                    <a:pt x="219" y="497"/>
                    <a:pt x="406" y="476"/>
                    <a:pt x="596" y="430"/>
                  </a:cubicBezTo>
                  <a:cubicBezTo>
                    <a:pt x="786" y="385"/>
                    <a:pt x="923" y="328"/>
                    <a:pt x="1032" y="248"/>
                  </a:cubicBezTo>
                  <a:cubicBezTo>
                    <a:pt x="1142" y="169"/>
                    <a:pt x="1192" y="91"/>
                    <a:pt x="1192" y="0"/>
                  </a:cubicBezTo>
                </a:path>
              </a:pathLst>
            </a:custGeom>
            <a:ln w="12600">
              <a:solidFill>
                <a:srgbClr val="000000"/>
              </a:solidFill>
              <a:round/>
            </a:ln>
          </p:spPr>
        </p:sp>
        <p:sp>
          <p:nvSpPr>
            <p:cNvPr id="132" name="Freeform 76"/>
            <p:cNvSpPr/>
            <p:nvPr/>
          </p:nvSpPr>
          <p:spPr>
            <a:xfrm>
              <a:off x="3075120" y="2015280"/>
              <a:ext cx="430920" cy="179280"/>
            </a:xfrm>
            <a:custGeom>
              <a:avLst/>
              <a:gdLst/>
              <a:ahLst/>
              <a:rect l="0" t="0" r="r" b="b"/>
              <a:pathLst>
                <a:path w="1197" h="498">
                  <a:moveTo>
                    <a:pt x="0" y="0"/>
                  </a:moveTo>
                  <a:lnTo>
                    <a:pt x="0" y="0"/>
                  </a:lnTo>
                  <a:cubicBezTo>
                    <a:pt x="0" y="91"/>
                    <a:pt x="50" y="169"/>
                    <a:pt x="160" y="249"/>
                  </a:cubicBezTo>
                  <a:cubicBezTo>
                    <a:pt x="270" y="328"/>
                    <a:pt x="407" y="385"/>
                    <a:pt x="598" y="430"/>
                  </a:cubicBezTo>
                  <a:cubicBezTo>
                    <a:pt x="789" y="476"/>
                    <a:pt x="976" y="497"/>
                    <a:pt x="1196" y="497"/>
                  </a:cubicBezTo>
                </a:path>
              </a:pathLst>
            </a:custGeom>
            <a:ln w="12600">
              <a:solidFill>
                <a:srgbClr val="000000"/>
              </a:solidFill>
              <a:round/>
            </a:ln>
          </p:spPr>
        </p:sp>
      </p:grpSp>
      <p:sp>
        <p:nvSpPr>
          <p:cNvPr id="133" name="Line 77"/>
          <p:cNvSpPr/>
          <p:nvPr/>
        </p:nvSpPr>
        <p:spPr>
          <a:xfrm>
            <a:off x="3075120" y="1538280"/>
            <a:ext cx="0" cy="477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Line 78"/>
          <p:cNvSpPr/>
          <p:nvPr/>
        </p:nvSpPr>
        <p:spPr>
          <a:xfrm>
            <a:off x="3879720" y="1538280"/>
            <a:ext cx="0" cy="477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5" name="Group 79"/>
          <p:cNvGrpSpPr/>
          <p:nvPr/>
        </p:nvGrpSpPr>
        <p:grpSpPr>
          <a:xfrm>
            <a:off x="3075120" y="1836720"/>
            <a:ext cx="805320" cy="179640"/>
            <a:chOff x="3075120" y="1836720"/>
            <a:chExt cx="805320" cy="179640"/>
          </a:xfrm>
        </p:grpSpPr>
        <p:sp>
          <p:nvSpPr>
            <p:cNvPr id="136" name="Freeform 80"/>
            <p:cNvSpPr/>
            <p:nvPr/>
          </p:nvSpPr>
          <p:spPr>
            <a:xfrm>
              <a:off x="3451320" y="1836720"/>
              <a:ext cx="429480" cy="180000"/>
            </a:xfrm>
            <a:custGeom>
              <a:avLst/>
              <a:gdLst/>
              <a:ahLst/>
              <a:rect l="0" t="0" r="r" b="b"/>
              <a:pathLst>
                <a:path w="1193" h="500">
                  <a:moveTo>
                    <a:pt x="0" y="499"/>
                  </a:moveTo>
                  <a:lnTo>
                    <a:pt x="0" y="499"/>
                  </a:lnTo>
                  <a:cubicBezTo>
                    <a:pt x="219" y="499"/>
                    <a:pt x="406" y="478"/>
                    <a:pt x="596" y="432"/>
                  </a:cubicBezTo>
                  <a:cubicBezTo>
                    <a:pt x="786" y="386"/>
                    <a:pt x="923" y="329"/>
                    <a:pt x="1032" y="249"/>
                  </a:cubicBezTo>
                  <a:cubicBezTo>
                    <a:pt x="1142" y="170"/>
                    <a:pt x="1192" y="92"/>
                    <a:pt x="1192" y="0"/>
                  </a:cubicBezTo>
                </a:path>
              </a:pathLst>
            </a:custGeom>
            <a:ln w="12600">
              <a:solidFill>
                <a:srgbClr val="000000"/>
              </a:solidFill>
              <a:round/>
            </a:ln>
          </p:spPr>
        </p:sp>
        <p:sp>
          <p:nvSpPr>
            <p:cNvPr id="137" name="Freeform 81"/>
            <p:cNvSpPr/>
            <p:nvPr/>
          </p:nvSpPr>
          <p:spPr>
            <a:xfrm>
              <a:off x="3075120" y="1836720"/>
              <a:ext cx="430920" cy="180000"/>
            </a:xfrm>
            <a:custGeom>
              <a:avLst/>
              <a:gdLst/>
              <a:ahLst/>
              <a:rect l="0" t="0" r="r" b="b"/>
              <a:pathLst>
                <a:path w="1197" h="500">
                  <a:moveTo>
                    <a:pt x="0" y="0"/>
                  </a:moveTo>
                  <a:lnTo>
                    <a:pt x="0" y="0"/>
                  </a:lnTo>
                  <a:cubicBezTo>
                    <a:pt x="0" y="92"/>
                    <a:pt x="50" y="170"/>
                    <a:pt x="160" y="250"/>
                  </a:cubicBezTo>
                  <a:cubicBezTo>
                    <a:pt x="270" y="329"/>
                    <a:pt x="407" y="386"/>
                    <a:pt x="598" y="432"/>
                  </a:cubicBezTo>
                  <a:cubicBezTo>
                    <a:pt x="789" y="478"/>
                    <a:pt x="976" y="499"/>
                    <a:pt x="1196" y="499"/>
                  </a:cubicBezTo>
                </a:path>
              </a:pathLst>
            </a:custGeom>
            <a:ln w="12600">
              <a:solidFill>
                <a:srgbClr val="000000"/>
              </a:solidFill>
              <a:round/>
            </a:ln>
          </p:spPr>
        </p:sp>
      </p:grpSp>
      <p:grpSp>
        <p:nvGrpSpPr>
          <p:cNvPr id="138" name="Group 82"/>
          <p:cNvGrpSpPr/>
          <p:nvPr/>
        </p:nvGrpSpPr>
        <p:grpSpPr>
          <a:xfrm>
            <a:off x="3075120" y="1716840"/>
            <a:ext cx="805320" cy="178920"/>
            <a:chOff x="3075120" y="1716840"/>
            <a:chExt cx="805320" cy="178920"/>
          </a:xfrm>
        </p:grpSpPr>
        <p:sp>
          <p:nvSpPr>
            <p:cNvPr id="139" name="Freeform 83"/>
            <p:cNvSpPr/>
            <p:nvPr/>
          </p:nvSpPr>
          <p:spPr>
            <a:xfrm>
              <a:off x="3451320" y="1716840"/>
              <a:ext cx="429480" cy="179280"/>
            </a:xfrm>
            <a:custGeom>
              <a:avLst/>
              <a:gdLst/>
              <a:ahLst/>
              <a:rect l="0" t="0" r="r" b="b"/>
              <a:pathLst>
                <a:path w="1193" h="498">
                  <a:moveTo>
                    <a:pt x="0" y="497"/>
                  </a:moveTo>
                  <a:lnTo>
                    <a:pt x="0" y="497"/>
                  </a:lnTo>
                  <a:cubicBezTo>
                    <a:pt x="219" y="497"/>
                    <a:pt x="406" y="476"/>
                    <a:pt x="596" y="430"/>
                  </a:cubicBezTo>
                  <a:cubicBezTo>
                    <a:pt x="786" y="385"/>
                    <a:pt x="923" y="328"/>
                    <a:pt x="1032" y="248"/>
                  </a:cubicBezTo>
                  <a:cubicBezTo>
                    <a:pt x="1142" y="169"/>
                    <a:pt x="1192" y="91"/>
                    <a:pt x="1192" y="0"/>
                  </a:cubicBezTo>
                </a:path>
              </a:pathLst>
            </a:custGeom>
            <a:ln w="12600">
              <a:solidFill>
                <a:srgbClr val="000000"/>
              </a:solidFill>
              <a:round/>
            </a:ln>
          </p:spPr>
        </p:sp>
        <p:sp>
          <p:nvSpPr>
            <p:cNvPr id="140" name="Freeform 84"/>
            <p:cNvSpPr/>
            <p:nvPr/>
          </p:nvSpPr>
          <p:spPr>
            <a:xfrm>
              <a:off x="3075120" y="1716840"/>
              <a:ext cx="430920" cy="179280"/>
            </a:xfrm>
            <a:custGeom>
              <a:avLst/>
              <a:gdLst/>
              <a:ahLst/>
              <a:rect l="0" t="0" r="r" b="b"/>
              <a:pathLst>
                <a:path w="1197" h="498">
                  <a:moveTo>
                    <a:pt x="0" y="0"/>
                  </a:moveTo>
                  <a:lnTo>
                    <a:pt x="0" y="0"/>
                  </a:lnTo>
                  <a:cubicBezTo>
                    <a:pt x="0" y="91"/>
                    <a:pt x="50" y="169"/>
                    <a:pt x="160" y="249"/>
                  </a:cubicBezTo>
                  <a:cubicBezTo>
                    <a:pt x="270" y="328"/>
                    <a:pt x="407" y="385"/>
                    <a:pt x="598" y="430"/>
                  </a:cubicBezTo>
                  <a:cubicBezTo>
                    <a:pt x="789" y="476"/>
                    <a:pt x="976" y="497"/>
                    <a:pt x="1196" y="497"/>
                  </a:cubicBezTo>
                </a:path>
              </a:pathLst>
            </a:custGeom>
            <a:ln w="12600">
              <a:solidFill>
                <a:srgbClr val="000000"/>
              </a:solidFill>
              <a:round/>
            </a:ln>
          </p:spPr>
        </p:sp>
      </p:grpSp>
      <p:sp>
        <p:nvSpPr>
          <p:cNvPr id="141" name="Line 85"/>
          <p:cNvSpPr/>
          <p:nvPr/>
        </p:nvSpPr>
        <p:spPr>
          <a:xfrm>
            <a:off x="2830680" y="1776240"/>
            <a:ext cx="244440" cy="0"/>
          </a:xfrm>
          <a:prstGeom prst="line">
            <a:avLst/>
          </a:prstGeom>
          <a:ln w="127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Shape 86"/>
          <p:cNvSpPr txBox="1"/>
          <p:nvPr/>
        </p:nvSpPr>
        <p:spPr>
          <a:xfrm>
            <a:off x="2894040" y="2297160"/>
            <a:ext cx="1746360" cy="366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Mainframe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TextShape 87"/>
          <p:cNvSpPr txBox="1"/>
          <p:nvPr/>
        </p:nvSpPr>
        <p:spPr>
          <a:xfrm>
            <a:off x="5410080" y="2692440"/>
            <a:ext cx="2438280" cy="366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(Massively) Parallel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4" name="TextShape 88"/>
          <p:cNvSpPr txBox="1"/>
          <p:nvPr/>
        </p:nvSpPr>
        <p:spPr>
          <a:xfrm>
            <a:off x="738360" y="3529080"/>
            <a:ext cx="2590920" cy="7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Division,  Department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Replicated Branch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Line 89"/>
          <p:cNvSpPr/>
          <p:nvPr/>
        </p:nvSpPr>
        <p:spPr>
          <a:xfrm flipV="1">
            <a:off x="2932200" y="5557680"/>
            <a:ext cx="363600" cy="1429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Line 90"/>
          <p:cNvSpPr/>
          <p:nvPr/>
        </p:nvSpPr>
        <p:spPr>
          <a:xfrm>
            <a:off x="3954600" y="5411880"/>
            <a:ext cx="583920" cy="1458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Line 91"/>
          <p:cNvSpPr/>
          <p:nvPr/>
        </p:nvSpPr>
        <p:spPr>
          <a:xfrm flipH="1">
            <a:off x="2857680" y="5268960"/>
            <a:ext cx="438120" cy="1429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Line 92"/>
          <p:cNvSpPr/>
          <p:nvPr/>
        </p:nvSpPr>
        <p:spPr>
          <a:xfrm flipV="1">
            <a:off x="2932200" y="5411880"/>
            <a:ext cx="363600" cy="1458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Line 93"/>
          <p:cNvSpPr/>
          <p:nvPr/>
        </p:nvSpPr>
        <p:spPr>
          <a:xfrm>
            <a:off x="4025880" y="5268960"/>
            <a:ext cx="584280" cy="1429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Line 94"/>
          <p:cNvSpPr/>
          <p:nvPr/>
        </p:nvSpPr>
        <p:spPr>
          <a:xfrm>
            <a:off x="3954600" y="5557680"/>
            <a:ext cx="509400" cy="1429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Shape 95"/>
          <p:cNvSpPr txBox="1"/>
          <p:nvPr/>
        </p:nvSpPr>
        <p:spPr>
          <a:xfrm>
            <a:off x="5978520" y="4734000"/>
            <a:ext cx="1949400" cy="915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PC, Workstation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PC LAN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PC LAN Server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2" name="TextShape 96"/>
          <p:cNvSpPr txBox="1"/>
          <p:nvPr/>
        </p:nvSpPr>
        <p:spPr>
          <a:xfrm>
            <a:off x="365040" y="1554120"/>
            <a:ext cx="1332000" cy="701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Production</a:t>
            </a:r>
            <a:br/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System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3" name="TextShape 97"/>
          <p:cNvSpPr txBox="1"/>
          <p:nvPr/>
        </p:nvSpPr>
        <p:spPr>
          <a:xfrm>
            <a:off x="7299360" y="1630440"/>
            <a:ext cx="1077840" cy="1006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Decision</a:t>
            </a:r>
            <a:br/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Support</a:t>
            </a:r>
            <a:br/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System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TextShape 98"/>
          <p:cNvSpPr txBox="1"/>
          <p:nvPr/>
        </p:nvSpPr>
        <p:spPr>
          <a:xfrm>
            <a:off x="7070760" y="3306600"/>
            <a:ext cx="165096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OLTP at POS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5" name="TextShape 99"/>
          <p:cNvSpPr txBox="1"/>
          <p:nvPr/>
        </p:nvSpPr>
        <p:spPr>
          <a:xfrm>
            <a:off x="2803680" y="6049800"/>
            <a:ext cx="345132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User Desktops and Workgroups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687240" y="690480"/>
            <a:ext cx="7746840" cy="893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Increase</a:t>
            </a:r>
            <a:r>
              <a:rPr b="1" lang="en-US" sz="4400" spc="-1" strike="noStrike">
                <a:solidFill>
                  <a:srgbClr val="000000"/>
                </a:solidFill>
                <a:latin typeface="Book Antiqua"/>
                <a:ea typeface="Book Antiqua"/>
              </a:rPr>
              <a:t> Line Access to Data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7" name="Line 2"/>
          <p:cNvSpPr/>
          <p:nvPr/>
        </p:nvSpPr>
        <p:spPr>
          <a:xfrm>
            <a:off x="1803240" y="5464080"/>
            <a:ext cx="0" cy="3034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3"/>
          <p:cNvSpPr/>
          <p:nvPr/>
        </p:nvSpPr>
        <p:spPr>
          <a:xfrm>
            <a:off x="3784680" y="5464080"/>
            <a:ext cx="0" cy="3034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Line 4"/>
          <p:cNvSpPr/>
          <p:nvPr/>
        </p:nvSpPr>
        <p:spPr>
          <a:xfrm>
            <a:off x="5689440" y="5464080"/>
            <a:ext cx="0" cy="3034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Line 5"/>
          <p:cNvSpPr/>
          <p:nvPr/>
        </p:nvSpPr>
        <p:spPr>
          <a:xfrm flipV="1">
            <a:off x="3481560" y="4054320"/>
            <a:ext cx="4168440" cy="113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Line 6"/>
          <p:cNvSpPr/>
          <p:nvPr/>
        </p:nvSpPr>
        <p:spPr>
          <a:xfrm flipH="1">
            <a:off x="3346560" y="3448080"/>
            <a:ext cx="2297160" cy="5983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Line 7"/>
          <p:cNvSpPr/>
          <p:nvPr/>
        </p:nvSpPr>
        <p:spPr>
          <a:xfrm>
            <a:off x="2513160" y="3784680"/>
            <a:ext cx="660240" cy="3524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3059280" y="5994360"/>
            <a:ext cx="1122480" cy="657360"/>
          </a:xfrm>
          <a:prstGeom prst="rect">
            <a:avLst/>
          </a:prstGeom>
          <a:ln>
            <a:noFill/>
          </a:ln>
        </p:spPr>
      </p:pic>
      <p:pic>
        <p:nvPicPr>
          <p:cNvPr id="164" name="" descr=""/>
          <p:cNvPicPr/>
          <p:nvPr/>
        </p:nvPicPr>
        <p:blipFill>
          <a:blip r:embed="rId2"/>
          <a:stretch/>
        </p:blipFill>
        <p:spPr>
          <a:xfrm>
            <a:off x="1154160" y="5994360"/>
            <a:ext cx="1122480" cy="657360"/>
          </a:xfrm>
          <a:prstGeom prst="rect">
            <a:avLst/>
          </a:prstGeom>
          <a:ln>
            <a:noFill/>
          </a:ln>
        </p:spPr>
      </p:pic>
      <p:grpSp>
        <p:nvGrpSpPr>
          <p:cNvPr id="165" name="Group 8"/>
          <p:cNvGrpSpPr/>
          <p:nvPr/>
        </p:nvGrpSpPr>
        <p:grpSpPr>
          <a:xfrm>
            <a:off x="901800" y="3030480"/>
            <a:ext cx="1554480" cy="860760"/>
            <a:chOff x="901800" y="3030480"/>
            <a:chExt cx="1554480" cy="860760"/>
          </a:xfrm>
        </p:grpSpPr>
        <p:grpSp>
          <p:nvGrpSpPr>
            <p:cNvPr id="166" name="Group 9"/>
            <p:cNvGrpSpPr/>
            <p:nvPr/>
          </p:nvGrpSpPr>
          <p:grpSpPr>
            <a:xfrm>
              <a:off x="2033640" y="3030480"/>
              <a:ext cx="422640" cy="589680"/>
              <a:chOff x="2033640" y="3030480"/>
              <a:chExt cx="422640" cy="589680"/>
            </a:xfrm>
          </p:grpSpPr>
          <p:sp>
            <p:nvSpPr>
              <p:cNvPr id="167" name="Freeform 10"/>
              <p:cNvSpPr/>
              <p:nvPr/>
            </p:nvSpPr>
            <p:spPr>
              <a:xfrm>
                <a:off x="2249640" y="3059280"/>
                <a:ext cx="207000" cy="561240"/>
              </a:xfrm>
              <a:custGeom>
                <a:avLst/>
                <a:gdLst/>
                <a:ahLst/>
                <a:rect l="0" t="0" r="r" b="b"/>
                <a:pathLst>
                  <a:path w="575" h="1559">
                    <a:moveTo>
                      <a:pt x="0" y="57"/>
                    </a:moveTo>
                    <a:lnTo>
                      <a:pt x="0" y="1558"/>
                    </a:lnTo>
                    <a:lnTo>
                      <a:pt x="569" y="1505"/>
                    </a:lnTo>
                    <a:lnTo>
                      <a:pt x="574" y="0"/>
                    </a:lnTo>
                    <a:lnTo>
                      <a:pt x="0" y="57"/>
                    </a:lnTo>
                  </a:path>
                </a:pathLst>
              </a:custGeom>
              <a:solidFill>
                <a:srgbClr val="a0a0a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68" name="Freeform 11"/>
              <p:cNvSpPr/>
              <p:nvPr/>
            </p:nvSpPr>
            <p:spPr>
              <a:xfrm>
                <a:off x="2052720" y="3048120"/>
                <a:ext cx="197640" cy="572400"/>
              </a:xfrm>
              <a:custGeom>
                <a:avLst/>
                <a:gdLst/>
                <a:ahLst/>
                <a:rect l="0" t="0" r="r" b="b"/>
                <a:pathLst>
                  <a:path w="549" h="1590">
                    <a:moveTo>
                      <a:pt x="548" y="83"/>
                    </a:moveTo>
                    <a:lnTo>
                      <a:pt x="548" y="1589"/>
                    </a:lnTo>
                    <a:lnTo>
                      <a:pt x="0" y="1421"/>
                    </a:lnTo>
                    <a:lnTo>
                      <a:pt x="0" y="0"/>
                    </a:lnTo>
                    <a:lnTo>
                      <a:pt x="548" y="83"/>
                    </a:lnTo>
                  </a:path>
                </a:pathLst>
              </a:custGeom>
              <a:solidFill>
                <a:srgbClr val="60606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69" name="Freeform 12"/>
              <p:cNvSpPr/>
              <p:nvPr/>
            </p:nvSpPr>
            <p:spPr>
              <a:xfrm>
                <a:off x="2033640" y="3030480"/>
                <a:ext cx="419760" cy="48240"/>
              </a:xfrm>
              <a:custGeom>
                <a:avLst/>
                <a:gdLst/>
                <a:ahLst/>
                <a:rect l="0" t="0" r="r" b="b"/>
                <a:pathLst>
                  <a:path w="1166" h="134">
                    <a:moveTo>
                      <a:pt x="0" y="52"/>
                    </a:moveTo>
                    <a:lnTo>
                      <a:pt x="596" y="133"/>
                    </a:lnTo>
                    <a:lnTo>
                      <a:pt x="1165" y="80"/>
                    </a:lnTo>
                    <a:lnTo>
                      <a:pt x="587" y="0"/>
                    </a:lnTo>
                    <a:lnTo>
                      <a:pt x="0" y="52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70" name="Freeform 13"/>
              <p:cNvSpPr/>
              <p:nvPr/>
            </p:nvSpPr>
            <p:spPr>
              <a:xfrm>
                <a:off x="2271600" y="3081240"/>
                <a:ext cx="154800" cy="135720"/>
              </a:xfrm>
              <a:custGeom>
                <a:avLst/>
                <a:gdLst/>
                <a:ahLst/>
                <a:rect l="0" t="0" r="r" b="b"/>
                <a:pathLst>
                  <a:path w="430" h="377">
                    <a:moveTo>
                      <a:pt x="0" y="39"/>
                    </a:moveTo>
                    <a:lnTo>
                      <a:pt x="0" y="376"/>
                    </a:lnTo>
                    <a:lnTo>
                      <a:pt x="429" y="337"/>
                    </a:lnTo>
                    <a:lnTo>
                      <a:pt x="429" y="0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ff0000"/>
                </a:solidFill>
                <a:round/>
              </a:ln>
            </p:spPr>
          </p:sp>
        </p:grpSp>
        <p:grpSp>
          <p:nvGrpSpPr>
            <p:cNvPr id="171" name="Group 14"/>
            <p:cNvGrpSpPr/>
            <p:nvPr/>
          </p:nvGrpSpPr>
          <p:grpSpPr>
            <a:xfrm>
              <a:off x="1627200" y="3056040"/>
              <a:ext cx="440280" cy="590760"/>
              <a:chOff x="1627200" y="3056040"/>
              <a:chExt cx="440280" cy="590760"/>
            </a:xfrm>
          </p:grpSpPr>
          <p:grpSp>
            <p:nvGrpSpPr>
              <p:cNvPr id="172" name="Group 15"/>
              <p:cNvGrpSpPr/>
              <p:nvPr/>
            </p:nvGrpSpPr>
            <p:grpSpPr>
              <a:xfrm>
                <a:off x="1627200" y="3056040"/>
                <a:ext cx="440280" cy="590760"/>
                <a:chOff x="1627200" y="3056040"/>
                <a:chExt cx="440280" cy="590760"/>
              </a:xfrm>
            </p:grpSpPr>
            <p:sp>
              <p:nvSpPr>
                <p:cNvPr id="173" name="Freeform 16"/>
                <p:cNvSpPr/>
                <p:nvPr/>
              </p:nvSpPr>
              <p:spPr>
                <a:xfrm>
                  <a:off x="1862280" y="3085920"/>
                  <a:ext cx="199080" cy="561240"/>
                </a:xfrm>
                <a:custGeom>
                  <a:avLst/>
                  <a:gdLst/>
                  <a:ahLst/>
                  <a:rect l="0" t="0" r="r" b="b"/>
                  <a:pathLst>
                    <a:path w="553" h="1559">
                      <a:moveTo>
                        <a:pt x="0" y="52"/>
                      </a:moveTo>
                      <a:lnTo>
                        <a:pt x="0" y="1558"/>
                      </a:lnTo>
                      <a:lnTo>
                        <a:pt x="552" y="1474"/>
                      </a:lnTo>
                      <a:lnTo>
                        <a:pt x="552" y="0"/>
                      </a:lnTo>
                      <a:lnTo>
                        <a:pt x="0" y="52"/>
                      </a:lnTo>
                    </a:path>
                  </a:pathLst>
                </a:custGeom>
                <a:solidFill>
                  <a:srgbClr val="a0a0a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174" name="Freeform 17"/>
                <p:cNvSpPr/>
                <p:nvPr/>
              </p:nvSpPr>
              <p:spPr>
                <a:xfrm>
                  <a:off x="1663560" y="3087720"/>
                  <a:ext cx="199080" cy="559440"/>
                </a:xfrm>
                <a:custGeom>
                  <a:avLst/>
                  <a:gdLst/>
                  <a:ahLst/>
                  <a:rect l="0" t="0" r="r" b="b"/>
                  <a:pathLst>
                    <a:path w="553" h="1554">
                      <a:moveTo>
                        <a:pt x="552" y="48"/>
                      </a:moveTo>
                      <a:lnTo>
                        <a:pt x="552" y="1553"/>
                      </a:lnTo>
                      <a:lnTo>
                        <a:pt x="0" y="1385"/>
                      </a:lnTo>
                      <a:lnTo>
                        <a:pt x="0" y="0"/>
                      </a:lnTo>
                      <a:lnTo>
                        <a:pt x="552" y="48"/>
                      </a:lnTo>
                    </a:path>
                  </a:pathLst>
                </a:custGeom>
                <a:solidFill>
                  <a:srgbClr val="60606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175" name="Freeform 18"/>
                <p:cNvSpPr/>
                <p:nvPr/>
              </p:nvSpPr>
              <p:spPr>
                <a:xfrm>
                  <a:off x="1627200" y="3056040"/>
                  <a:ext cx="440280" cy="50040"/>
                </a:xfrm>
                <a:custGeom>
                  <a:avLst/>
                  <a:gdLst/>
                  <a:ahLst/>
                  <a:rect l="0" t="0" r="r" b="b"/>
                  <a:pathLst>
                    <a:path w="1223" h="139">
                      <a:moveTo>
                        <a:pt x="0" y="53"/>
                      </a:moveTo>
                      <a:lnTo>
                        <a:pt x="658" y="138"/>
                      </a:lnTo>
                      <a:lnTo>
                        <a:pt x="1222" y="84"/>
                      </a:lnTo>
                      <a:lnTo>
                        <a:pt x="599" y="0"/>
                      </a:lnTo>
                      <a:lnTo>
                        <a:pt x="0" y="53"/>
                      </a:lnTo>
                    </a:path>
                  </a:pathLst>
                </a:custGeom>
                <a:solidFill>
                  <a:srgbClr val="40404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176" name="Freeform 19"/>
                <p:cNvSpPr/>
                <p:nvPr/>
              </p:nvSpPr>
              <p:spPr>
                <a:xfrm>
                  <a:off x="1627200" y="3075120"/>
                  <a:ext cx="235800" cy="194400"/>
                </a:xfrm>
                <a:custGeom>
                  <a:avLst/>
                  <a:gdLst/>
                  <a:ahLst/>
                  <a:rect l="0" t="0" r="r" b="b"/>
                  <a:pathLst>
                    <a:path w="655" h="540">
                      <a:moveTo>
                        <a:pt x="654" y="88"/>
                      </a:moveTo>
                      <a:lnTo>
                        <a:pt x="0" y="0"/>
                      </a:lnTo>
                      <a:lnTo>
                        <a:pt x="0" y="425"/>
                      </a:lnTo>
                      <a:lnTo>
                        <a:pt x="654" y="539"/>
                      </a:lnTo>
                      <a:lnTo>
                        <a:pt x="654" y="88"/>
                      </a:lnTo>
                    </a:path>
                  </a:pathLst>
                </a:custGeom>
                <a:solidFill>
                  <a:srgbClr val="60606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177" name="Freeform 20"/>
                <p:cNvSpPr/>
                <p:nvPr/>
              </p:nvSpPr>
              <p:spPr>
                <a:xfrm>
                  <a:off x="1862280" y="3085920"/>
                  <a:ext cx="205560" cy="183240"/>
                </a:xfrm>
                <a:custGeom>
                  <a:avLst/>
                  <a:gdLst/>
                  <a:ahLst/>
                  <a:rect l="0" t="0" r="r" b="b"/>
                  <a:pathLst>
                    <a:path w="571" h="509">
                      <a:moveTo>
                        <a:pt x="0" y="52"/>
                      </a:moveTo>
                      <a:lnTo>
                        <a:pt x="570" y="0"/>
                      </a:lnTo>
                      <a:lnTo>
                        <a:pt x="570" y="406"/>
                      </a:lnTo>
                      <a:lnTo>
                        <a:pt x="0" y="508"/>
                      </a:lnTo>
                      <a:lnTo>
                        <a:pt x="0" y="52"/>
                      </a:lnTo>
                    </a:path>
                  </a:pathLst>
                </a:custGeom>
                <a:solidFill>
                  <a:srgbClr val="a0a0a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</p:grpSp>
          <p:grpSp>
            <p:nvGrpSpPr>
              <p:cNvPr id="178" name="Group 21"/>
              <p:cNvGrpSpPr/>
              <p:nvPr/>
            </p:nvGrpSpPr>
            <p:grpSpPr>
              <a:xfrm>
                <a:off x="1871640" y="3108240"/>
                <a:ext cx="182520" cy="190800"/>
                <a:chOff x="1871640" y="3108240"/>
                <a:chExt cx="182520" cy="190800"/>
              </a:xfrm>
            </p:grpSpPr>
            <p:grpSp>
              <p:nvGrpSpPr>
                <p:cNvPr id="179" name="Group 22"/>
                <p:cNvGrpSpPr/>
                <p:nvPr/>
              </p:nvGrpSpPr>
              <p:grpSpPr>
                <a:xfrm>
                  <a:off x="1871640" y="3108240"/>
                  <a:ext cx="182520" cy="101880"/>
                  <a:chOff x="1871640" y="3108240"/>
                  <a:chExt cx="182520" cy="101880"/>
                </a:xfrm>
              </p:grpSpPr>
              <p:grpSp>
                <p:nvGrpSpPr>
                  <p:cNvPr id="180" name="Group 23"/>
                  <p:cNvGrpSpPr/>
                  <p:nvPr/>
                </p:nvGrpSpPr>
                <p:grpSpPr>
                  <a:xfrm>
                    <a:off x="1963800" y="3108240"/>
                    <a:ext cx="90360" cy="85680"/>
                    <a:chOff x="1963800" y="3108240"/>
                    <a:chExt cx="90360" cy="85680"/>
                  </a:xfrm>
                </p:grpSpPr>
                <p:sp>
                  <p:nvSpPr>
                    <p:cNvPr id="181" name="Ellipse 24"/>
                    <p:cNvSpPr/>
                    <p:nvPr/>
                  </p:nvSpPr>
                  <p:spPr>
                    <a:xfrm>
                      <a:off x="1963800" y="3108240"/>
                      <a:ext cx="81000" cy="82440"/>
                    </a:xfrm>
                    <a:prstGeom prst="ellipse">
                      <a:avLst/>
                    </a:pr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  <p:sp>
                  <p:nvSpPr>
                    <p:cNvPr id="182" name="Ellipse 25"/>
                    <p:cNvSpPr/>
                    <p:nvPr/>
                  </p:nvSpPr>
                  <p:spPr>
                    <a:xfrm>
                      <a:off x="1973160" y="3108240"/>
                      <a:ext cx="81000" cy="85680"/>
                    </a:xfrm>
                    <a:prstGeom prst="ellipse">
                      <a:avLst/>
                    </a:prstGeom>
                    <a:solidFill>
                      <a:srgbClr val="e0e0ff"/>
                    </a:solidFill>
                    <a:ln>
                      <a:noFill/>
                    </a:ln>
                  </p:spPr>
                </p:sp>
                <p:sp>
                  <p:nvSpPr>
                    <p:cNvPr id="183" name="Ellipse 26"/>
                    <p:cNvSpPr/>
                    <p:nvPr/>
                  </p:nvSpPr>
                  <p:spPr>
                    <a:xfrm>
                      <a:off x="1989000" y="3124080"/>
                      <a:ext cx="49320" cy="55440"/>
                    </a:xfrm>
                    <a:prstGeom prst="ellipse">
                      <a:avLst/>
                    </a:prstGeom>
                    <a:solidFill>
                      <a:srgbClr val="c0c0e0"/>
                    </a:solidFill>
                    <a:ln>
                      <a:noFill/>
                    </a:ln>
                  </p:spPr>
                </p:sp>
                <p:sp>
                  <p:nvSpPr>
                    <p:cNvPr id="184" name="Freeform 27"/>
                    <p:cNvSpPr/>
                    <p:nvPr/>
                  </p:nvSpPr>
                  <p:spPr>
                    <a:xfrm>
                      <a:off x="1986120" y="3124080"/>
                      <a:ext cx="27360" cy="3744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6" h="104">
                          <a:moveTo>
                            <a:pt x="75" y="75"/>
                          </a:moveTo>
                          <a:lnTo>
                            <a:pt x="75" y="0"/>
                          </a:lnTo>
                          <a:lnTo>
                            <a:pt x="75" y="0"/>
                          </a:lnTo>
                          <a:lnTo>
                            <a:pt x="74" y="0"/>
                          </a:lnTo>
                          <a:cubicBezTo>
                            <a:pt x="60" y="0"/>
                            <a:pt x="49" y="3"/>
                            <a:pt x="37" y="10"/>
                          </a:cubicBezTo>
                          <a:cubicBezTo>
                            <a:pt x="25" y="17"/>
                            <a:pt x="17" y="26"/>
                            <a:pt x="10" y="38"/>
                          </a:cubicBezTo>
                          <a:cubicBezTo>
                            <a:pt x="3" y="50"/>
                            <a:pt x="0" y="62"/>
                            <a:pt x="0" y="75"/>
                          </a:cubicBezTo>
                          <a:cubicBezTo>
                            <a:pt x="0" y="85"/>
                            <a:pt x="2" y="94"/>
                            <a:pt x="5" y="103"/>
                          </a:cubicBezTo>
                          <a:lnTo>
                            <a:pt x="75" y="75"/>
                          </a:lnTo>
                        </a:path>
                      </a:pathLst>
                    </a:custGeom>
                    <a:solidFill>
                      <a:srgbClr val="606080"/>
                    </a:solidFill>
                    <a:ln>
                      <a:noFill/>
                    </a:ln>
                  </p:spPr>
                </p:sp>
                <p:sp>
                  <p:nvSpPr>
                    <p:cNvPr id="185" name="Freeform 28"/>
                    <p:cNvSpPr/>
                    <p:nvPr/>
                  </p:nvSpPr>
                  <p:spPr>
                    <a:xfrm>
                      <a:off x="2012040" y="3143520"/>
                      <a:ext cx="28440" cy="3708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9" h="103">
                          <a:moveTo>
                            <a:pt x="0" y="26"/>
                          </a:moveTo>
                          <a:lnTo>
                            <a:pt x="0" y="102"/>
                          </a:lnTo>
                          <a:lnTo>
                            <a:pt x="0" y="102"/>
                          </a:lnTo>
                          <a:cubicBezTo>
                            <a:pt x="14" y="102"/>
                            <a:pt x="27" y="99"/>
                            <a:pt x="39" y="92"/>
                          </a:cubicBezTo>
                          <a:cubicBezTo>
                            <a:pt x="51" y="85"/>
                            <a:pt x="60" y="76"/>
                            <a:pt x="67" y="64"/>
                          </a:cubicBezTo>
                          <a:cubicBezTo>
                            <a:pt x="75" y="52"/>
                            <a:pt x="78" y="40"/>
                            <a:pt x="78" y="27"/>
                          </a:cubicBezTo>
                          <a:cubicBezTo>
                            <a:pt x="78" y="17"/>
                            <a:pt x="76" y="9"/>
                            <a:pt x="73" y="0"/>
                          </a:cubicBezTo>
                          <a:lnTo>
                            <a:pt x="0" y="26"/>
                          </a:lnTo>
                        </a:path>
                      </a:pathLst>
                    </a:cu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</p:grpSp>
              <p:grpSp>
                <p:nvGrpSpPr>
                  <p:cNvPr id="186" name="Group 29"/>
                  <p:cNvGrpSpPr/>
                  <p:nvPr/>
                </p:nvGrpSpPr>
                <p:grpSpPr>
                  <a:xfrm>
                    <a:off x="1871640" y="3124080"/>
                    <a:ext cx="87120" cy="86040"/>
                    <a:chOff x="1871640" y="3124080"/>
                    <a:chExt cx="87120" cy="86040"/>
                  </a:xfrm>
                </p:grpSpPr>
                <p:sp>
                  <p:nvSpPr>
                    <p:cNvPr id="187" name="Ellipse 30"/>
                    <p:cNvSpPr/>
                    <p:nvPr/>
                  </p:nvSpPr>
                  <p:spPr>
                    <a:xfrm>
                      <a:off x="1871640" y="3124080"/>
                      <a:ext cx="79200" cy="82440"/>
                    </a:xfrm>
                    <a:prstGeom prst="ellipse">
                      <a:avLst/>
                    </a:pr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  <p:sp>
                  <p:nvSpPr>
                    <p:cNvPr id="188" name="Ellipse 31"/>
                    <p:cNvSpPr/>
                    <p:nvPr/>
                  </p:nvSpPr>
                  <p:spPr>
                    <a:xfrm>
                      <a:off x="1879560" y="3125880"/>
                      <a:ext cx="79200" cy="84240"/>
                    </a:xfrm>
                    <a:prstGeom prst="ellipse">
                      <a:avLst/>
                    </a:prstGeom>
                    <a:solidFill>
                      <a:srgbClr val="e0e0ff"/>
                    </a:solidFill>
                    <a:ln>
                      <a:noFill/>
                    </a:ln>
                  </p:spPr>
                </p:sp>
                <p:sp>
                  <p:nvSpPr>
                    <p:cNvPr id="189" name="Ellipse 32"/>
                    <p:cNvSpPr/>
                    <p:nvPr/>
                  </p:nvSpPr>
                  <p:spPr>
                    <a:xfrm>
                      <a:off x="1892160" y="3138480"/>
                      <a:ext cx="52560" cy="55440"/>
                    </a:xfrm>
                    <a:prstGeom prst="ellipse">
                      <a:avLst/>
                    </a:prstGeom>
                    <a:solidFill>
                      <a:srgbClr val="c0c0e0"/>
                    </a:solidFill>
                    <a:ln>
                      <a:noFill/>
                    </a:ln>
                  </p:spPr>
                </p:sp>
                <p:sp>
                  <p:nvSpPr>
                    <p:cNvPr id="190" name="Freeform 33"/>
                    <p:cNvSpPr/>
                    <p:nvPr/>
                  </p:nvSpPr>
                  <p:spPr>
                    <a:xfrm>
                      <a:off x="1892160" y="3139920"/>
                      <a:ext cx="25200" cy="3600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0" h="100">
                          <a:moveTo>
                            <a:pt x="69" y="73"/>
                          </a:moveTo>
                          <a:lnTo>
                            <a:pt x="69" y="0"/>
                          </a:lnTo>
                          <a:lnTo>
                            <a:pt x="69" y="0"/>
                          </a:lnTo>
                          <a:lnTo>
                            <a:pt x="69" y="0"/>
                          </a:lnTo>
                          <a:cubicBezTo>
                            <a:pt x="56" y="0"/>
                            <a:pt x="45" y="3"/>
                            <a:pt x="34" y="10"/>
                          </a:cubicBezTo>
                          <a:cubicBezTo>
                            <a:pt x="23" y="17"/>
                            <a:pt x="15" y="25"/>
                            <a:pt x="9" y="37"/>
                          </a:cubicBezTo>
                          <a:cubicBezTo>
                            <a:pt x="3" y="48"/>
                            <a:pt x="0" y="60"/>
                            <a:pt x="0" y="73"/>
                          </a:cubicBezTo>
                          <a:cubicBezTo>
                            <a:pt x="0" y="83"/>
                            <a:pt x="1" y="90"/>
                            <a:pt x="4" y="99"/>
                          </a:cubicBezTo>
                          <a:lnTo>
                            <a:pt x="69" y="73"/>
                          </a:lnTo>
                        </a:path>
                      </a:pathLst>
                    </a:custGeom>
                    <a:solidFill>
                      <a:srgbClr val="606080"/>
                    </a:solidFill>
                    <a:ln>
                      <a:noFill/>
                    </a:ln>
                  </p:spPr>
                </p:sp>
                <p:sp>
                  <p:nvSpPr>
                    <p:cNvPr id="191" name="Freeform 34"/>
                    <p:cNvSpPr/>
                    <p:nvPr/>
                  </p:nvSpPr>
                  <p:spPr>
                    <a:xfrm>
                      <a:off x="1918440" y="3158280"/>
                      <a:ext cx="27000" cy="3636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5" h="101">
                          <a:moveTo>
                            <a:pt x="0" y="24"/>
                          </a:moveTo>
                          <a:lnTo>
                            <a:pt x="0" y="100"/>
                          </a:lnTo>
                          <a:lnTo>
                            <a:pt x="0" y="100"/>
                          </a:lnTo>
                          <a:lnTo>
                            <a:pt x="0" y="100"/>
                          </a:lnTo>
                          <a:cubicBezTo>
                            <a:pt x="14" y="100"/>
                            <a:pt x="25" y="97"/>
                            <a:pt x="37" y="90"/>
                          </a:cubicBezTo>
                          <a:cubicBezTo>
                            <a:pt x="49" y="83"/>
                            <a:pt x="58" y="75"/>
                            <a:pt x="64" y="63"/>
                          </a:cubicBezTo>
                          <a:cubicBezTo>
                            <a:pt x="71" y="51"/>
                            <a:pt x="74" y="39"/>
                            <a:pt x="74" y="25"/>
                          </a:cubicBezTo>
                          <a:cubicBezTo>
                            <a:pt x="74" y="16"/>
                            <a:pt x="73" y="9"/>
                            <a:pt x="70" y="0"/>
                          </a:cubicBezTo>
                          <a:lnTo>
                            <a:pt x="0" y="24"/>
                          </a:lnTo>
                        </a:path>
                      </a:pathLst>
                    </a:cu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</p:grpSp>
            </p:grpSp>
            <p:sp>
              <p:nvSpPr>
                <p:cNvPr id="192" name="Freeform 35"/>
                <p:cNvSpPr/>
                <p:nvPr/>
              </p:nvSpPr>
              <p:spPr>
                <a:xfrm>
                  <a:off x="1882800" y="3235320"/>
                  <a:ext cx="158040" cy="64080"/>
                </a:xfrm>
                <a:custGeom>
                  <a:avLst/>
                  <a:gdLst/>
                  <a:ahLst/>
                  <a:rect l="0" t="0" r="r" b="b"/>
                  <a:pathLst>
                    <a:path w="439" h="178">
                      <a:moveTo>
                        <a:pt x="0" y="79"/>
                      </a:moveTo>
                      <a:lnTo>
                        <a:pt x="438" y="0"/>
                      </a:lnTo>
                      <a:lnTo>
                        <a:pt x="438" y="98"/>
                      </a:lnTo>
                      <a:lnTo>
                        <a:pt x="0" y="177"/>
                      </a:lnTo>
                      <a:lnTo>
                        <a:pt x="0" y="79"/>
                      </a:lnTo>
                    </a:path>
                  </a:pathLst>
                </a:custGeom>
                <a:solidFill>
                  <a:srgbClr val="40404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193" name="Freeform 36"/>
                <p:cNvSpPr/>
                <p:nvPr/>
              </p:nvSpPr>
              <p:spPr>
                <a:xfrm>
                  <a:off x="1895400" y="3244680"/>
                  <a:ext cx="132480" cy="32400"/>
                </a:xfrm>
                <a:custGeom>
                  <a:avLst/>
                  <a:gdLst/>
                  <a:ahLst/>
                  <a:rect l="0" t="0" r="r" b="b"/>
                  <a:pathLst>
                    <a:path w="368" h="90">
                      <a:moveTo>
                        <a:pt x="0" y="62"/>
                      </a:moveTo>
                      <a:lnTo>
                        <a:pt x="0" y="89"/>
                      </a:lnTo>
                      <a:lnTo>
                        <a:pt x="367" y="26"/>
                      </a:lnTo>
                      <a:lnTo>
                        <a:pt x="367" y="0"/>
                      </a:lnTo>
                      <a:lnTo>
                        <a:pt x="0" y="62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</p:sp>
          </p:grpSp>
        </p:grpSp>
        <p:grpSp>
          <p:nvGrpSpPr>
            <p:cNvPr id="194" name="Group 37"/>
            <p:cNvGrpSpPr/>
            <p:nvPr/>
          </p:nvGrpSpPr>
          <p:grpSpPr>
            <a:xfrm>
              <a:off x="901800" y="3294000"/>
              <a:ext cx="1016280" cy="597240"/>
              <a:chOff x="901800" y="3294000"/>
              <a:chExt cx="1016280" cy="597240"/>
            </a:xfrm>
          </p:grpSpPr>
          <p:sp>
            <p:nvSpPr>
              <p:cNvPr id="195" name="Freeform 38"/>
              <p:cNvSpPr/>
              <p:nvPr/>
            </p:nvSpPr>
            <p:spPr>
              <a:xfrm>
                <a:off x="901800" y="3341520"/>
                <a:ext cx="721440" cy="519840"/>
              </a:xfrm>
              <a:custGeom>
                <a:avLst/>
                <a:gdLst/>
                <a:ahLst/>
                <a:rect l="0" t="0" r="r" b="b"/>
                <a:pathLst>
                  <a:path w="2004" h="1444">
                    <a:moveTo>
                      <a:pt x="0" y="0"/>
                    </a:moveTo>
                    <a:lnTo>
                      <a:pt x="2003" y="286"/>
                    </a:lnTo>
                    <a:lnTo>
                      <a:pt x="1808" y="516"/>
                    </a:lnTo>
                    <a:lnTo>
                      <a:pt x="1694" y="816"/>
                    </a:lnTo>
                    <a:lnTo>
                      <a:pt x="1694" y="1443"/>
                    </a:lnTo>
                    <a:lnTo>
                      <a:pt x="0" y="79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0606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96" name="Freeform 39"/>
              <p:cNvSpPr/>
              <p:nvPr/>
            </p:nvSpPr>
            <p:spPr>
              <a:xfrm>
                <a:off x="1511280" y="3478320"/>
                <a:ext cx="407160" cy="158040"/>
              </a:xfrm>
              <a:custGeom>
                <a:avLst/>
                <a:gdLst/>
                <a:ahLst/>
                <a:rect l="0" t="0" r="r" b="b"/>
                <a:pathLst>
                  <a:path w="1131" h="439">
                    <a:moveTo>
                      <a:pt x="114" y="137"/>
                    </a:moveTo>
                    <a:lnTo>
                      <a:pt x="1130" y="0"/>
                    </a:lnTo>
                    <a:lnTo>
                      <a:pt x="1003" y="292"/>
                    </a:lnTo>
                    <a:lnTo>
                      <a:pt x="0" y="438"/>
                    </a:lnTo>
                    <a:lnTo>
                      <a:pt x="114" y="137"/>
                    </a:lnTo>
                  </a:path>
                </a:pathLst>
              </a:custGeom>
              <a:solidFill>
                <a:srgbClr val="80808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97" name="Freeform 40"/>
              <p:cNvSpPr/>
              <p:nvPr/>
            </p:nvSpPr>
            <p:spPr>
              <a:xfrm>
                <a:off x="1512720" y="3805200"/>
                <a:ext cx="348480" cy="84960"/>
              </a:xfrm>
              <a:custGeom>
                <a:avLst/>
                <a:gdLst/>
                <a:ahLst/>
                <a:rect l="0" t="0" r="r" b="b"/>
                <a:pathLst>
                  <a:path w="968" h="236">
                    <a:moveTo>
                      <a:pt x="0" y="137"/>
                    </a:moveTo>
                    <a:lnTo>
                      <a:pt x="967" y="0"/>
                    </a:lnTo>
                    <a:lnTo>
                      <a:pt x="967" y="98"/>
                    </a:lnTo>
                    <a:lnTo>
                      <a:pt x="0" y="235"/>
                    </a:lnTo>
                    <a:lnTo>
                      <a:pt x="0" y="137"/>
                    </a:lnTo>
                  </a:path>
                </a:pathLst>
              </a:custGeom>
              <a:solidFill>
                <a:srgbClr val="60606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98" name="Freeform 41"/>
              <p:cNvSpPr/>
              <p:nvPr/>
            </p:nvSpPr>
            <p:spPr>
              <a:xfrm>
                <a:off x="1511280" y="3581280"/>
                <a:ext cx="361080" cy="280080"/>
              </a:xfrm>
              <a:custGeom>
                <a:avLst/>
                <a:gdLst/>
                <a:ahLst/>
                <a:rect l="0" t="0" r="r" b="b"/>
                <a:pathLst>
                  <a:path w="1003" h="778">
                    <a:moveTo>
                      <a:pt x="0" y="145"/>
                    </a:moveTo>
                    <a:lnTo>
                      <a:pt x="1002" y="0"/>
                    </a:lnTo>
                    <a:lnTo>
                      <a:pt x="1002" y="640"/>
                    </a:lnTo>
                    <a:lnTo>
                      <a:pt x="0" y="777"/>
                    </a:lnTo>
                    <a:lnTo>
                      <a:pt x="0" y="145"/>
                    </a:lnTo>
                  </a:path>
                </a:pathLst>
              </a:custGeom>
              <a:solidFill>
                <a:srgbClr val="a0a0a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199" name="Freeform 42"/>
              <p:cNvSpPr/>
              <p:nvPr/>
            </p:nvSpPr>
            <p:spPr>
              <a:xfrm>
                <a:off x="922320" y="3624120"/>
                <a:ext cx="589680" cy="267480"/>
              </a:xfrm>
              <a:custGeom>
                <a:avLst/>
                <a:gdLst/>
                <a:ahLst/>
                <a:rect l="0" t="0" r="r" b="b"/>
                <a:pathLst>
                  <a:path w="1638" h="743">
                    <a:moveTo>
                      <a:pt x="1637" y="663"/>
                    </a:moveTo>
                    <a:lnTo>
                      <a:pt x="1637" y="742"/>
                    </a:lnTo>
                    <a:lnTo>
                      <a:pt x="0" y="97"/>
                    </a:lnTo>
                    <a:lnTo>
                      <a:pt x="4" y="0"/>
                    </a:lnTo>
                    <a:lnTo>
                      <a:pt x="1637" y="663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00" name="Freeform 43"/>
              <p:cNvSpPr/>
              <p:nvPr/>
            </p:nvSpPr>
            <p:spPr>
              <a:xfrm>
                <a:off x="905040" y="3294000"/>
                <a:ext cx="1010520" cy="234000"/>
              </a:xfrm>
              <a:custGeom>
                <a:avLst/>
                <a:gdLst/>
                <a:ahLst/>
                <a:rect l="0" t="0" r="r" b="b"/>
                <a:pathLst>
                  <a:path w="2807" h="650">
                    <a:moveTo>
                      <a:pt x="0" y="136"/>
                    </a:moveTo>
                    <a:lnTo>
                      <a:pt x="957" y="0"/>
                    </a:lnTo>
                    <a:lnTo>
                      <a:pt x="2758" y="344"/>
                    </a:lnTo>
                    <a:lnTo>
                      <a:pt x="2806" y="512"/>
                    </a:lnTo>
                    <a:lnTo>
                      <a:pt x="1804" y="649"/>
                    </a:lnTo>
                    <a:lnTo>
                      <a:pt x="1760" y="481"/>
                    </a:lnTo>
                    <a:lnTo>
                      <a:pt x="0" y="136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01" name="Line 44"/>
              <p:cNvSpPr/>
              <p:nvPr/>
            </p:nvSpPr>
            <p:spPr>
              <a:xfrm flipV="1">
                <a:off x="1546200" y="3417840"/>
                <a:ext cx="353880" cy="4752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202" name="Group 45"/>
              <p:cNvGrpSpPr/>
              <p:nvPr/>
            </p:nvGrpSpPr>
            <p:grpSpPr>
              <a:xfrm>
                <a:off x="1616040" y="3513240"/>
                <a:ext cx="228600" cy="77760"/>
                <a:chOff x="1616040" y="3513240"/>
                <a:chExt cx="228600" cy="77760"/>
              </a:xfrm>
            </p:grpSpPr>
            <p:sp>
              <p:nvSpPr>
                <p:cNvPr id="203" name="Ellipse 46"/>
                <p:cNvSpPr/>
                <p:nvPr/>
              </p:nvSpPr>
              <p:spPr>
                <a:xfrm>
                  <a:off x="1808280" y="3513240"/>
                  <a:ext cx="36360" cy="1440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</p:sp>
            <p:sp>
              <p:nvSpPr>
                <p:cNvPr id="204" name="Ellipse 47"/>
                <p:cNvSpPr/>
                <p:nvPr/>
              </p:nvSpPr>
              <p:spPr>
                <a:xfrm>
                  <a:off x="1771560" y="3552840"/>
                  <a:ext cx="39600" cy="1584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205" name="Ellipse 48"/>
                <p:cNvSpPr/>
                <p:nvPr/>
              </p:nvSpPr>
              <p:spPr>
                <a:xfrm>
                  <a:off x="1725480" y="3525840"/>
                  <a:ext cx="38160" cy="126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</p:sp>
            <p:sp>
              <p:nvSpPr>
                <p:cNvPr id="206" name="Ellipse 49"/>
                <p:cNvSpPr/>
                <p:nvPr/>
              </p:nvSpPr>
              <p:spPr>
                <a:xfrm>
                  <a:off x="1695600" y="3565440"/>
                  <a:ext cx="36360" cy="1440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</p:sp>
            <p:sp>
              <p:nvSpPr>
                <p:cNvPr id="207" name="Ellipse 50"/>
                <p:cNvSpPr/>
                <p:nvPr/>
              </p:nvSpPr>
              <p:spPr>
                <a:xfrm>
                  <a:off x="1643040" y="3537000"/>
                  <a:ext cx="38160" cy="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208" name="Ellipse 51"/>
                <p:cNvSpPr/>
                <p:nvPr/>
              </p:nvSpPr>
              <p:spPr>
                <a:xfrm>
                  <a:off x="1616040" y="3576600"/>
                  <a:ext cx="38160" cy="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</p:grpSp>
        </p:grpSp>
      </p:grpSp>
      <p:grpSp>
        <p:nvGrpSpPr>
          <p:cNvPr id="209" name="Group 52"/>
          <p:cNvGrpSpPr/>
          <p:nvPr/>
        </p:nvGrpSpPr>
        <p:grpSpPr>
          <a:xfrm>
            <a:off x="3016080" y="4389480"/>
            <a:ext cx="421200" cy="587880"/>
            <a:chOff x="3016080" y="4389480"/>
            <a:chExt cx="421200" cy="587880"/>
          </a:xfrm>
        </p:grpSpPr>
        <p:sp>
          <p:nvSpPr>
            <p:cNvPr id="210" name="Freeform 53"/>
            <p:cNvSpPr/>
            <p:nvPr/>
          </p:nvSpPr>
          <p:spPr>
            <a:xfrm>
              <a:off x="3232080" y="4417920"/>
              <a:ext cx="205560" cy="559440"/>
            </a:xfrm>
            <a:custGeom>
              <a:avLst/>
              <a:gdLst/>
              <a:ahLst/>
              <a:rect l="0" t="0" r="r" b="b"/>
              <a:pathLst>
                <a:path w="571" h="1554">
                  <a:moveTo>
                    <a:pt x="0" y="57"/>
                  </a:moveTo>
                  <a:lnTo>
                    <a:pt x="0" y="1553"/>
                  </a:lnTo>
                  <a:lnTo>
                    <a:pt x="566" y="1500"/>
                  </a:lnTo>
                  <a:lnTo>
                    <a:pt x="570" y="0"/>
                  </a:lnTo>
                  <a:lnTo>
                    <a:pt x="0" y="57"/>
                  </a:lnTo>
                </a:path>
              </a:pathLst>
            </a:custGeom>
            <a:solidFill>
              <a:srgbClr val="a0a0a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11" name="Freeform 54"/>
            <p:cNvSpPr/>
            <p:nvPr/>
          </p:nvSpPr>
          <p:spPr>
            <a:xfrm>
              <a:off x="3036960" y="4405320"/>
              <a:ext cx="195840" cy="572400"/>
            </a:xfrm>
            <a:custGeom>
              <a:avLst/>
              <a:gdLst/>
              <a:ahLst/>
              <a:rect l="0" t="0" r="r" b="b"/>
              <a:pathLst>
                <a:path w="544" h="1590">
                  <a:moveTo>
                    <a:pt x="543" y="83"/>
                  </a:moveTo>
                  <a:lnTo>
                    <a:pt x="543" y="1589"/>
                  </a:lnTo>
                  <a:lnTo>
                    <a:pt x="0" y="1421"/>
                  </a:lnTo>
                  <a:lnTo>
                    <a:pt x="0" y="0"/>
                  </a:lnTo>
                  <a:lnTo>
                    <a:pt x="543" y="83"/>
                  </a:lnTo>
                </a:path>
              </a:pathLst>
            </a:custGeom>
            <a:solidFill>
              <a:srgbClr val="60606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12" name="Freeform 55"/>
            <p:cNvSpPr/>
            <p:nvPr/>
          </p:nvSpPr>
          <p:spPr>
            <a:xfrm>
              <a:off x="3016080" y="4389480"/>
              <a:ext cx="419760" cy="48240"/>
            </a:xfrm>
            <a:custGeom>
              <a:avLst/>
              <a:gdLst/>
              <a:ahLst/>
              <a:rect l="0" t="0" r="r" b="b"/>
              <a:pathLst>
                <a:path w="1166" h="134">
                  <a:moveTo>
                    <a:pt x="0" y="52"/>
                  </a:moveTo>
                  <a:lnTo>
                    <a:pt x="596" y="133"/>
                  </a:lnTo>
                  <a:lnTo>
                    <a:pt x="1165" y="80"/>
                  </a:lnTo>
                  <a:lnTo>
                    <a:pt x="587" y="0"/>
                  </a:lnTo>
                  <a:lnTo>
                    <a:pt x="0" y="52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13" name="Freeform 56"/>
            <p:cNvSpPr/>
            <p:nvPr/>
          </p:nvSpPr>
          <p:spPr>
            <a:xfrm>
              <a:off x="3255840" y="4438800"/>
              <a:ext cx="153000" cy="135720"/>
            </a:xfrm>
            <a:custGeom>
              <a:avLst/>
              <a:gdLst/>
              <a:ahLst/>
              <a:rect l="0" t="0" r="r" b="b"/>
              <a:pathLst>
                <a:path w="425" h="377">
                  <a:moveTo>
                    <a:pt x="0" y="39"/>
                  </a:moveTo>
                  <a:lnTo>
                    <a:pt x="0" y="376"/>
                  </a:lnTo>
                  <a:lnTo>
                    <a:pt x="424" y="337"/>
                  </a:lnTo>
                  <a:lnTo>
                    <a:pt x="424" y="0"/>
                  </a:lnTo>
                  <a:lnTo>
                    <a:pt x="0" y="39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ff0000"/>
              </a:solidFill>
              <a:round/>
            </a:ln>
          </p:spPr>
        </p:sp>
      </p:grpSp>
      <p:pic>
        <p:nvPicPr>
          <p:cNvPr id="214" name="" descr=""/>
          <p:cNvPicPr/>
          <p:nvPr/>
        </p:nvPicPr>
        <p:blipFill>
          <a:blip r:embed="rId3"/>
          <a:stretch/>
        </p:blipFill>
        <p:spPr>
          <a:xfrm>
            <a:off x="5041800" y="5994360"/>
            <a:ext cx="1122480" cy="657360"/>
          </a:xfrm>
          <a:prstGeom prst="rect">
            <a:avLst/>
          </a:prstGeom>
          <a:ln>
            <a:noFill/>
          </a:ln>
        </p:spPr>
      </p:pic>
      <p:grpSp>
        <p:nvGrpSpPr>
          <p:cNvPr id="215" name="Group 57"/>
          <p:cNvGrpSpPr/>
          <p:nvPr/>
        </p:nvGrpSpPr>
        <p:grpSpPr>
          <a:xfrm>
            <a:off x="5607000" y="2633760"/>
            <a:ext cx="422640" cy="589320"/>
            <a:chOff x="5607000" y="2633760"/>
            <a:chExt cx="422640" cy="589320"/>
          </a:xfrm>
        </p:grpSpPr>
        <p:sp>
          <p:nvSpPr>
            <p:cNvPr id="216" name="Freeform 58"/>
            <p:cNvSpPr/>
            <p:nvPr/>
          </p:nvSpPr>
          <p:spPr>
            <a:xfrm>
              <a:off x="5823000" y="2662200"/>
              <a:ext cx="207000" cy="561240"/>
            </a:xfrm>
            <a:custGeom>
              <a:avLst/>
              <a:gdLst/>
              <a:ahLst/>
              <a:rect l="0" t="0" r="r" b="b"/>
              <a:pathLst>
                <a:path w="575" h="1559">
                  <a:moveTo>
                    <a:pt x="0" y="57"/>
                  </a:moveTo>
                  <a:lnTo>
                    <a:pt x="0" y="1558"/>
                  </a:lnTo>
                  <a:lnTo>
                    <a:pt x="569" y="1505"/>
                  </a:lnTo>
                  <a:lnTo>
                    <a:pt x="574" y="0"/>
                  </a:lnTo>
                  <a:lnTo>
                    <a:pt x="0" y="57"/>
                  </a:lnTo>
                </a:path>
              </a:pathLst>
            </a:custGeom>
            <a:solidFill>
              <a:srgbClr val="a0a0a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17" name="Freeform 59"/>
            <p:cNvSpPr/>
            <p:nvPr/>
          </p:nvSpPr>
          <p:spPr>
            <a:xfrm>
              <a:off x="5626080" y="2649600"/>
              <a:ext cx="197640" cy="573840"/>
            </a:xfrm>
            <a:custGeom>
              <a:avLst/>
              <a:gdLst/>
              <a:ahLst/>
              <a:rect l="0" t="0" r="r" b="b"/>
              <a:pathLst>
                <a:path w="549" h="1594">
                  <a:moveTo>
                    <a:pt x="548" y="83"/>
                  </a:moveTo>
                  <a:lnTo>
                    <a:pt x="548" y="1593"/>
                  </a:lnTo>
                  <a:lnTo>
                    <a:pt x="0" y="1426"/>
                  </a:lnTo>
                  <a:lnTo>
                    <a:pt x="0" y="0"/>
                  </a:lnTo>
                  <a:lnTo>
                    <a:pt x="548" y="83"/>
                  </a:lnTo>
                </a:path>
              </a:pathLst>
            </a:custGeom>
            <a:solidFill>
              <a:srgbClr val="60606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18" name="Freeform 60"/>
            <p:cNvSpPr/>
            <p:nvPr/>
          </p:nvSpPr>
          <p:spPr>
            <a:xfrm>
              <a:off x="5607000" y="2633760"/>
              <a:ext cx="421560" cy="48240"/>
            </a:xfrm>
            <a:custGeom>
              <a:avLst/>
              <a:gdLst/>
              <a:ahLst/>
              <a:rect l="0" t="0" r="r" b="b"/>
              <a:pathLst>
                <a:path w="1171" h="134">
                  <a:moveTo>
                    <a:pt x="0" y="52"/>
                  </a:moveTo>
                  <a:lnTo>
                    <a:pt x="600" y="133"/>
                  </a:lnTo>
                  <a:lnTo>
                    <a:pt x="1170" y="80"/>
                  </a:lnTo>
                  <a:lnTo>
                    <a:pt x="587" y="0"/>
                  </a:lnTo>
                  <a:lnTo>
                    <a:pt x="0" y="52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19" name="Freeform 61"/>
            <p:cNvSpPr/>
            <p:nvPr/>
          </p:nvSpPr>
          <p:spPr>
            <a:xfrm>
              <a:off x="5845320" y="2684520"/>
              <a:ext cx="156240" cy="135720"/>
            </a:xfrm>
            <a:custGeom>
              <a:avLst/>
              <a:gdLst/>
              <a:ahLst/>
              <a:rect l="0" t="0" r="r" b="b"/>
              <a:pathLst>
                <a:path w="434" h="377">
                  <a:moveTo>
                    <a:pt x="0" y="39"/>
                  </a:moveTo>
                  <a:lnTo>
                    <a:pt x="0" y="376"/>
                  </a:lnTo>
                  <a:lnTo>
                    <a:pt x="433" y="337"/>
                  </a:lnTo>
                  <a:lnTo>
                    <a:pt x="433" y="0"/>
                  </a:lnTo>
                  <a:lnTo>
                    <a:pt x="0" y="39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ff0000"/>
              </a:solidFill>
              <a:round/>
            </a:ln>
          </p:spPr>
        </p:sp>
      </p:grpSp>
      <p:sp>
        <p:nvSpPr>
          <p:cNvPr id="220" name="Line 62"/>
          <p:cNvSpPr/>
          <p:nvPr/>
        </p:nvSpPr>
        <p:spPr>
          <a:xfrm>
            <a:off x="1494000" y="5375160"/>
            <a:ext cx="4809960" cy="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Line 63"/>
          <p:cNvSpPr/>
          <p:nvPr/>
        </p:nvSpPr>
        <p:spPr>
          <a:xfrm>
            <a:off x="3100320" y="5116680"/>
            <a:ext cx="0" cy="1998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22" name="Group 64"/>
          <p:cNvGrpSpPr/>
          <p:nvPr/>
        </p:nvGrpSpPr>
        <p:grpSpPr>
          <a:xfrm>
            <a:off x="6750000" y="3112920"/>
            <a:ext cx="422640" cy="587880"/>
            <a:chOff x="6750000" y="3112920"/>
            <a:chExt cx="422640" cy="587880"/>
          </a:xfrm>
        </p:grpSpPr>
        <p:sp>
          <p:nvSpPr>
            <p:cNvPr id="223" name="Freeform 65"/>
            <p:cNvSpPr/>
            <p:nvPr/>
          </p:nvSpPr>
          <p:spPr>
            <a:xfrm>
              <a:off x="6966000" y="3139920"/>
              <a:ext cx="207000" cy="561240"/>
            </a:xfrm>
            <a:custGeom>
              <a:avLst/>
              <a:gdLst/>
              <a:ahLst/>
              <a:rect l="0" t="0" r="r" b="b"/>
              <a:pathLst>
                <a:path w="575" h="1559">
                  <a:moveTo>
                    <a:pt x="0" y="57"/>
                  </a:moveTo>
                  <a:lnTo>
                    <a:pt x="0" y="1558"/>
                  </a:lnTo>
                  <a:lnTo>
                    <a:pt x="569" y="1505"/>
                  </a:lnTo>
                  <a:lnTo>
                    <a:pt x="574" y="0"/>
                  </a:lnTo>
                  <a:lnTo>
                    <a:pt x="0" y="57"/>
                  </a:lnTo>
                </a:path>
              </a:pathLst>
            </a:custGeom>
            <a:solidFill>
              <a:srgbClr val="a0a0a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24" name="Freeform 66"/>
            <p:cNvSpPr/>
            <p:nvPr/>
          </p:nvSpPr>
          <p:spPr>
            <a:xfrm>
              <a:off x="6769080" y="3130560"/>
              <a:ext cx="197640" cy="570600"/>
            </a:xfrm>
            <a:custGeom>
              <a:avLst/>
              <a:gdLst/>
              <a:ahLst/>
              <a:rect l="0" t="0" r="r" b="b"/>
              <a:pathLst>
                <a:path w="549" h="1585">
                  <a:moveTo>
                    <a:pt x="548" y="83"/>
                  </a:moveTo>
                  <a:lnTo>
                    <a:pt x="548" y="1584"/>
                  </a:lnTo>
                  <a:lnTo>
                    <a:pt x="0" y="1416"/>
                  </a:lnTo>
                  <a:lnTo>
                    <a:pt x="0" y="0"/>
                  </a:lnTo>
                  <a:lnTo>
                    <a:pt x="548" y="83"/>
                  </a:lnTo>
                </a:path>
              </a:pathLst>
            </a:custGeom>
            <a:solidFill>
              <a:srgbClr val="60606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25" name="Freeform 67"/>
            <p:cNvSpPr/>
            <p:nvPr/>
          </p:nvSpPr>
          <p:spPr>
            <a:xfrm>
              <a:off x="6750000" y="3112920"/>
              <a:ext cx="421560" cy="48240"/>
            </a:xfrm>
            <a:custGeom>
              <a:avLst/>
              <a:gdLst/>
              <a:ahLst/>
              <a:rect l="0" t="0" r="r" b="b"/>
              <a:pathLst>
                <a:path w="1171" h="134">
                  <a:moveTo>
                    <a:pt x="0" y="52"/>
                  </a:moveTo>
                  <a:lnTo>
                    <a:pt x="600" y="133"/>
                  </a:lnTo>
                  <a:lnTo>
                    <a:pt x="1170" y="80"/>
                  </a:lnTo>
                  <a:lnTo>
                    <a:pt x="587" y="0"/>
                  </a:lnTo>
                  <a:lnTo>
                    <a:pt x="0" y="52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26" name="Freeform 68"/>
            <p:cNvSpPr/>
            <p:nvPr/>
          </p:nvSpPr>
          <p:spPr>
            <a:xfrm>
              <a:off x="6988320" y="3162240"/>
              <a:ext cx="156240" cy="135720"/>
            </a:xfrm>
            <a:custGeom>
              <a:avLst/>
              <a:gdLst/>
              <a:ahLst/>
              <a:rect l="0" t="0" r="r" b="b"/>
              <a:pathLst>
                <a:path w="434" h="377">
                  <a:moveTo>
                    <a:pt x="0" y="39"/>
                  </a:moveTo>
                  <a:lnTo>
                    <a:pt x="0" y="376"/>
                  </a:lnTo>
                  <a:lnTo>
                    <a:pt x="433" y="337"/>
                  </a:lnTo>
                  <a:lnTo>
                    <a:pt x="433" y="0"/>
                  </a:lnTo>
                  <a:lnTo>
                    <a:pt x="0" y="39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ff0000"/>
              </a:solidFill>
              <a:round/>
            </a:ln>
          </p:spPr>
        </p:sp>
      </p:grpSp>
      <p:grpSp>
        <p:nvGrpSpPr>
          <p:cNvPr id="227" name="Group 69"/>
          <p:cNvGrpSpPr/>
          <p:nvPr/>
        </p:nvGrpSpPr>
        <p:grpSpPr>
          <a:xfrm>
            <a:off x="7893000" y="3432240"/>
            <a:ext cx="422640" cy="587880"/>
            <a:chOff x="7893000" y="3432240"/>
            <a:chExt cx="422640" cy="587880"/>
          </a:xfrm>
        </p:grpSpPr>
        <p:sp>
          <p:nvSpPr>
            <p:cNvPr id="228" name="Freeform 70"/>
            <p:cNvSpPr/>
            <p:nvPr/>
          </p:nvSpPr>
          <p:spPr>
            <a:xfrm>
              <a:off x="8109000" y="3459240"/>
              <a:ext cx="207000" cy="561240"/>
            </a:xfrm>
            <a:custGeom>
              <a:avLst/>
              <a:gdLst/>
              <a:ahLst/>
              <a:rect l="0" t="0" r="r" b="b"/>
              <a:pathLst>
                <a:path w="575" h="1559">
                  <a:moveTo>
                    <a:pt x="0" y="57"/>
                  </a:moveTo>
                  <a:lnTo>
                    <a:pt x="0" y="1558"/>
                  </a:lnTo>
                  <a:lnTo>
                    <a:pt x="569" y="1505"/>
                  </a:lnTo>
                  <a:lnTo>
                    <a:pt x="574" y="0"/>
                  </a:lnTo>
                  <a:lnTo>
                    <a:pt x="0" y="57"/>
                  </a:lnTo>
                </a:path>
              </a:pathLst>
            </a:custGeom>
            <a:solidFill>
              <a:srgbClr val="a0a0a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29" name="Freeform 71"/>
            <p:cNvSpPr/>
            <p:nvPr/>
          </p:nvSpPr>
          <p:spPr>
            <a:xfrm>
              <a:off x="7912080" y="3448080"/>
              <a:ext cx="197640" cy="572400"/>
            </a:xfrm>
            <a:custGeom>
              <a:avLst/>
              <a:gdLst/>
              <a:ahLst/>
              <a:rect l="0" t="0" r="r" b="b"/>
              <a:pathLst>
                <a:path w="549" h="1590">
                  <a:moveTo>
                    <a:pt x="548" y="83"/>
                  </a:moveTo>
                  <a:lnTo>
                    <a:pt x="548" y="1589"/>
                  </a:lnTo>
                  <a:lnTo>
                    <a:pt x="0" y="1421"/>
                  </a:lnTo>
                  <a:lnTo>
                    <a:pt x="0" y="0"/>
                  </a:lnTo>
                  <a:lnTo>
                    <a:pt x="548" y="83"/>
                  </a:lnTo>
                </a:path>
              </a:pathLst>
            </a:custGeom>
            <a:solidFill>
              <a:srgbClr val="60606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30" name="Freeform 72"/>
            <p:cNvSpPr/>
            <p:nvPr/>
          </p:nvSpPr>
          <p:spPr>
            <a:xfrm>
              <a:off x="7893000" y="3432240"/>
              <a:ext cx="421560" cy="48240"/>
            </a:xfrm>
            <a:custGeom>
              <a:avLst/>
              <a:gdLst/>
              <a:ahLst/>
              <a:rect l="0" t="0" r="r" b="b"/>
              <a:pathLst>
                <a:path w="1171" h="134">
                  <a:moveTo>
                    <a:pt x="0" y="52"/>
                  </a:moveTo>
                  <a:lnTo>
                    <a:pt x="600" y="133"/>
                  </a:lnTo>
                  <a:lnTo>
                    <a:pt x="1170" y="80"/>
                  </a:lnTo>
                  <a:lnTo>
                    <a:pt x="587" y="0"/>
                  </a:lnTo>
                  <a:lnTo>
                    <a:pt x="0" y="52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000000"/>
              </a:solidFill>
              <a:round/>
            </a:ln>
          </p:spPr>
        </p:sp>
        <p:sp>
          <p:nvSpPr>
            <p:cNvPr id="231" name="Freeform 73"/>
            <p:cNvSpPr/>
            <p:nvPr/>
          </p:nvSpPr>
          <p:spPr>
            <a:xfrm>
              <a:off x="8131320" y="3483000"/>
              <a:ext cx="156240" cy="133920"/>
            </a:xfrm>
            <a:custGeom>
              <a:avLst/>
              <a:gdLst/>
              <a:ahLst/>
              <a:rect l="0" t="0" r="r" b="b"/>
              <a:pathLst>
                <a:path w="434" h="372">
                  <a:moveTo>
                    <a:pt x="0" y="39"/>
                  </a:moveTo>
                  <a:lnTo>
                    <a:pt x="0" y="371"/>
                  </a:lnTo>
                  <a:lnTo>
                    <a:pt x="433" y="331"/>
                  </a:lnTo>
                  <a:lnTo>
                    <a:pt x="433" y="0"/>
                  </a:lnTo>
                  <a:lnTo>
                    <a:pt x="0" y="39"/>
                  </a:lnTo>
                </a:path>
              </a:pathLst>
            </a:custGeom>
            <a:solidFill>
              <a:srgbClr val="404040"/>
            </a:solidFill>
            <a:ln w="12600">
              <a:solidFill>
                <a:srgbClr val="ff0000"/>
              </a:solidFill>
              <a:round/>
            </a:ln>
          </p:spPr>
        </p:sp>
      </p:grpSp>
      <p:grpSp>
        <p:nvGrpSpPr>
          <p:cNvPr id="232" name="Group 74"/>
          <p:cNvGrpSpPr/>
          <p:nvPr/>
        </p:nvGrpSpPr>
        <p:grpSpPr>
          <a:xfrm>
            <a:off x="2940120" y="2233440"/>
            <a:ext cx="1552680" cy="859320"/>
            <a:chOff x="2940120" y="2233440"/>
            <a:chExt cx="1552680" cy="859320"/>
          </a:xfrm>
        </p:grpSpPr>
        <p:grpSp>
          <p:nvGrpSpPr>
            <p:cNvPr id="233" name="Group 75"/>
            <p:cNvGrpSpPr/>
            <p:nvPr/>
          </p:nvGrpSpPr>
          <p:grpSpPr>
            <a:xfrm>
              <a:off x="4071960" y="2233440"/>
              <a:ext cx="420840" cy="589680"/>
              <a:chOff x="4071960" y="2233440"/>
              <a:chExt cx="420840" cy="589680"/>
            </a:xfrm>
          </p:grpSpPr>
          <p:sp>
            <p:nvSpPr>
              <p:cNvPr id="234" name="Freeform 76"/>
              <p:cNvSpPr/>
              <p:nvPr/>
            </p:nvSpPr>
            <p:spPr>
              <a:xfrm>
                <a:off x="4286160" y="2260440"/>
                <a:ext cx="207000" cy="562680"/>
              </a:xfrm>
              <a:custGeom>
                <a:avLst/>
                <a:gdLst/>
                <a:ahLst/>
                <a:rect l="0" t="0" r="r" b="b"/>
                <a:pathLst>
                  <a:path w="575" h="1563">
                    <a:moveTo>
                      <a:pt x="0" y="57"/>
                    </a:moveTo>
                    <a:lnTo>
                      <a:pt x="0" y="1562"/>
                    </a:lnTo>
                    <a:lnTo>
                      <a:pt x="569" y="1509"/>
                    </a:lnTo>
                    <a:lnTo>
                      <a:pt x="574" y="0"/>
                    </a:lnTo>
                    <a:lnTo>
                      <a:pt x="0" y="57"/>
                    </a:lnTo>
                  </a:path>
                </a:pathLst>
              </a:custGeom>
              <a:solidFill>
                <a:srgbClr val="a0a0a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35" name="Freeform 77"/>
              <p:cNvSpPr/>
              <p:nvPr/>
            </p:nvSpPr>
            <p:spPr>
              <a:xfrm>
                <a:off x="4092480" y="2251080"/>
                <a:ext cx="194400" cy="572400"/>
              </a:xfrm>
              <a:custGeom>
                <a:avLst/>
                <a:gdLst/>
                <a:ahLst/>
                <a:rect l="0" t="0" r="r" b="b"/>
                <a:pathLst>
                  <a:path w="540" h="1590">
                    <a:moveTo>
                      <a:pt x="539" y="83"/>
                    </a:moveTo>
                    <a:lnTo>
                      <a:pt x="539" y="1589"/>
                    </a:lnTo>
                    <a:lnTo>
                      <a:pt x="0" y="1421"/>
                    </a:lnTo>
                    <a:lnTo>
                      <a:pt x="0" y="0"/>
                    </a:lnTo>
                    <a:lnTo>
                      <a:pt x="539" y="83"/>
                    </a:lnTo>
                  </a:path>
                </a:pathLst>
              </a:custGeom>
              <a:solidFill>
                <a:srgbClr val="60606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36" name="Freeform 78"/>
              <p:cNvSpPr/>
              <p:nvPr/>
            </p:nvSpPr>
            <p:spPr>
              <a:xfrm>
                <a:off x="4071960" y="2233440"/>
                <a:ext cx="419760" cy="48240"/>
              </a:xfrm>
              <a:custGeom>
                <a:avLst/>
                <a:gdLst/>
                <a:ahLst/>
                <a:rect l="0" t="0" r="r" b="b"/>
                <a:pathLst>
                  <a:path w="1166" h="134">
                    <a:moveTo>
                      <a:pt x="0" y="52"/>
                    </a:moveTo>
                    <a:lnTo>
                      <a:pt x="596" y="133"/>
                    </a:lnTo>
                    <a:lnTo>
                      <a:pt x="1165" y="80"/>
                    </a:lnTo>
                    <a:lnTo>
                      <a:pt x="587" y="0"/>
                    </a:lnTo>
                    <a:lnTo>
                      <a:pt x="0" y="52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37" name="Freeform 79"/>
              <p:cNvSpPr/>
              <p:nvPr/>
            </p:nvSpPr>
            <p:spPr>
              <a:xfrm>
                <a:off x="4311720" y="2284560"/>
                <a:ext cx="153000" cy="135720"/>
              </a:xfrm>
              <a:custGeom>
                <a:avLst/>
                <a:gdLst/>
                <a:ahLst/>
                <a:rect l="0" t="0" r="r" b="b"/>
                <a:pathLst>
                  <a:path w="425" h="377">
                    <a:moveTo>
                      <a:pt x="0" y="39"/>
                    </a:moveTo>
                    <a:lnTo>
                      <a:pt x="0" y="376"/>
                    </a:lnTo>
                    <a:lnTo>
                      <a:pt x="424" y="337"/>
                    </a:lnTo>
                    <a:lnTo>
                      <a:pt x="424" y="0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ff0000"/>
                </a:solidFill>
                <a:round/>
              </a:ln>
            </p:spPr>
          </p:sp>
        </p:grpSp>
        <p:grpSp>
          <p:nvGrpSpPr>
            <p:cNvPr id="238" name="Group 80"/>
            <p:cNvGrpSpPr/>
            <p:nvPr/>
          </p:nvGrpSpPr>
          <p:grpSpPr>
            <a:xfrm>
              <a:off x="3665520" y="2259000"/>
              <a:ext cx="440280" cy="591120"/>
              <a:chOff x="3665520" y="2259000"/>
              <a:chExt cx="440280" cy="591120"/>
            </a:xfrm>
          </p:grpSpPr>
          <p:grpSp>
            <p:nvGrpSpPr>
              <p:cNvPr id="239" name="Group 81"/>
              <p:cNvGrpSpPr/>
              <p:nvPr/>
            </p:nvGrpSpPr>
            <p:grpSpPr>
              <a:xfrm>
                <a:off x="3665520" y="2259000"/>
                <a:ext cx="440280" cy="591120"/>
                <a:chOff x="3665520" y="2259000"/>
                <a:chExt cx="440280" cy="591120"/>
              </a:xfrm>
            </p:grpSpPr>
            <p:sp>
              <p:nvSpPr>
                <p:cNvPr id="240" name="Freeform 82"/>
                <p:cNvSpPr/>
                <p:nvPr/>
              </p:nvSpPr>
              <p:spPr>
                <a:xfrm>
                  <a:off x="3900600" y="2289240"/>
                  <a:ext cx="199080" cy="561240"/>
                </a:xfrm>
                <a:custGeom>
                  <a:avLst/>
                  <a:gdLst/>
                  <a:ahLst/>
                  <a:rect l="0" t="0" r="r" b="b"/>
                  <a:pathLst>
                    <a:path w="553" h="1559">
                      <a:moveTo>
                        <a:pt x="0" y="52"/>
                      </a:moveTo>
                      <a:lnTo>
                        <a:pt x="0" y="1558"/>
                      </a:lnTo>
                      <a:lnTo>
                        <a:pt x="552" y="1474"/>
                      </a:lnTo>
                      <a:lnTo>
                        <a:pt x="552" y="0"/>
                      </a:lnTo>
                      <a:lnTo>
                        <a:pt x="0" y="52"/>
                      </a:lnTo>
                    </a:path>
                  </a:pathLst>
                </a:custGeom>
                <a:solidFill>
                  <a:srgbClr val="a0a0a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241" name="Freeform 83"/>
                <p:cNvSpPr/>
                <p:nvPr/>
              </p:nvSpPr>
              <p:spPr>
                <a:xfrm>
                  <a:off x="3703680" y="2290680"/>
                  <a:ext cx="197640" cy="559440"/>
                </a:xfrm>
                <a:custGeom>
                  <a:avLst/>
                  <a:gdLst/>
                  <a:ahLst/>
                  <a:rect l="0" t="0" r="r" b="b"/>
                  <a:pathLst>
                    <a:path w="549" h="1554">
                      <a:moveTo>
                        <a:pt x="548" y="48"/>
                      </a:moveTo>
                      <a:lnTo>
                        <a:pt x="548" y="1553"/>
                      </a:lnTo>
                      <a:lnTo>
                        <a:pt x="0" y="1385"/>
                      </a:lnTo>
                      <a:lnTo>
                        <a:pt x="0" y="0"/>
                      </a:lnTo>
                      <a:lnTo>
                        <a:pt x="548" y="48"/>
                      </a:lnTo>
                    </a:path>
                  </a:pathLst>
                </a:custGeom>
                <a:solidFill>
                  <a:srgbClr val="60606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242" name="Freeform 84"/>
                <p:cNvSpPr/>
                <p:nvPr/>
              </p:nvSpPr>
              <p:spPr>
                <a:xfrm>
                  <a:off x="3665520" y="2259000"/>
                  <a:ext cx="440280" cy="50040"/>
                </a:xfrm>
                <a:custGeom>
                  <a:avLst/>
                  <a:gdLst/>
                  <a:ahLst/>
                  <a:rect l="0" t="0" r="r" b="b"/>
                  <a:pathLst>
                    <a:path w="1223" h="139">
                      <a:moveTo>
                        <a:pt x="0" y="53"/>
                      </a:moveTo>
                      <a:lnTo>
                        <a:pt x="658" y="138"/>
                      </a:lnTo>
                      <a:lnTo>
                        <a:pt x="1222" y="84"/>
                      </a:lnTo>
                      <a:lnTo>
                        <a:pt x="599" y="0"/>
                      </a:lnTo>
                      <a:lnTo>
                        <a:pt x="0" y="53"/>
                      </a:lnTo>
                    </a:path>
                  </a:pathLst>
                </a:custGeom>
                <a:solidFill>
                  <a:srgbClr val="40404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243" name="Freeform 85"/>
                <p:cNvSpPr/>
                <p:nvPr/>
              </p:nvSpPr>
              <p:spPr>
                <a:xfrm>
                  <a:off x="3665520" y="2276640"/>
                  <a:ext cx="235800" cy="194400"/>
                </a:xfrm>
                <a:custGeom>
                  <a:avLst/>
                  <a:gdLst/>
                  <a:ahLst/>
                  <a:rect l="0" t="0" r="r" b="b"/>
                  <a:pathLst>
                    <a:path w="655" h="540">
                      <a:moveTo>
                        <a:pt x="654" y="88"/>
                      </a:moveTo>
                      <a:lnTo>
                        <a:pt x="0" y="0"/>
                      </a:lnTo>
                      <a:lnTo>
                        <a:pt x="0" y="425"/>
                      </a:lnTo>
                      <a:lnTo>
                        <a:pt x="654" y="539"/>
                      </a:lnTo>
                      <a:lnTo>
                        <a:pt x="654" y="88"/>
                      </a:lnTo>
                    </a:path>
                  </a:pathLst>
                </a:custGeom>
                <a:solidFill>
                  <a:srgbClr val="60606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244" name="Freeform 86"/>
                <p:cNvSpPr/>
                <p:nvPr/>
              </p:nvSpPr>
              <p:spPr>
                <a:xfrm>
                  <a:off x="3900600" y="2289240"/>
                  <a:ext cx="205560" cy="181800"/>
                </a:xfrm>
                <a:custGeom>
                  <a:avLst/>
                  <a:gdLst/>
                  <a:ahLst/>
                  <a:rect l="0" t="0" r="r" b="b"/>
                  <a:pathLst>
                    <a:path w="571" h="505">
                      <a:moveTo>
                        <a:pt x="0" y="52"/>
                      </a:moveTo>
                      <a:lnTo>
                        <a:pt x="570" y="0"/>
                      </a:lnTo>
                      <a:lnTo>
                        <a:pt x="570" y="407"/>
                      </a:lnTo>
                      <a:lnTo>
                        <a:pt x="0" y="504"/>
                      </a:lnTo>
                      <a:lnTo>
                        <a:pt x="0" y="52"/>
                      </a:lnTo>
                    </a:path>
                  </a:pathLst>
                </a:custGeom>
                <a:solidFill>
                  <a:srgbClr val="a0a0a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</p:grpSp>
          <p:grpSp>
            <p:nvGrpSpPr>
              <p:cNvPr id="245" name="Group 87"/>
              <p:cNvGrpSpPr/>
              <p:nvPr/>
            </p:nvGrpSpPr>
            <p:grpSpPr>
              <a:xfrm>
                <a:off x="3908520" y="2311560"/>
                <a:ext cx="183960" cy="190440"/>
                <a:chOff x="3908520" y="2311560"/>
                <a:chExt cx="183960" cy="190440"/>
              </a:xfrm>
            </p:grpSpPr>
            <p:grpSp>
              <p:nvGrpSpPr>
                <p:cNvPr id="246" name="Group 88"/>
                <p:cNvGrpSpPr/>
                <p:nvPr/>
              </p:nvGrpSpPr>
              <p:grpSpPr>
                <a:xfrm>
                  <a:off x="3908520" y="2311560"/>
                  <a:ext cx="183960" cy="101520"/>
                  <a:chOff x="3908520" y="2311560"/>
                  <a:chExt cx="183960" cy="101520"/>
                </a:xfrm>
              </p:grpSpPr>
              <p:grpSp>
                <p:nvGrpSpPr>
                  <p:cNvPr id="247" name="Group 89"/>
                  <p:cNvGrpSpPr/>
                  <p:nvPr/>
                </p:nvGrpSpPr>
                <p:grpSpPr>
                  <a:xfrm>
                    <a:off x="4002120" y="2311560"/>
                    <a:ext cx="90360" cy="85680"/>
                    <a:chOff x="4002120" y="2311560"/>
                    <a:chExt cx="90360" cy="85680"/>
                  </a:xfrm>
                </p:grpSpPr>
                <p:sp>
                  <p:nvSpPr>
                    <p:cNvPr id="248" name="Ellipse 90"/>
                    <p:cNvSpPr/>
                    <p:nvPr/>
                  </p:nvSpPr>
                  <p:spPr>
                    <a:xfrm>
                      <a:off x="4002120" y="2311560"/>
                      <a:ext cx="79200" cy="82440"/>
                    </a:xfrm>
                    <a:prstGeom prst="ellipse">
                      <a:avLst/>
                    </a:pr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  <p:sp>
                  <p:nvSpPr>
                    <p:cNvPr id="249" name="Ellipse 91"/>
                    <p:cNvSpPr/>
                    <p:nvPr/>
                  </p:nvSpPr>
                  <p:spPr>
                    <a:xfrm>
                      <a:off x="4010040" y="2311560"/>
                      <a:ext cx="82440" cy="85680"/>
                    </a:xfrm>
                    <a:prstGeom prst="ellipse">
                      <a:avLst/>
                    </a:prstGeom>
                    <a:solidFill>
                      <a:srgbClr val="e0e0ff"/>
                    </a:solidFill>
                    <a:ln>
                      <a:noFill/>
                    </a:ln>
                  </p:spPr>
                </p:sp>
                <p:sp>
                  <p:nvSpPr>
                    <p:cNvPr id="250" name="Ellipse 92"/>
                    <p:cNvSpPr/>
                    <p:nvPr/>
                  </p:nvSpPr>
                  <p:spPr>
                    <a:xfrm>
                      <a:off x="4025880" y="2325600"/>
                      <a:ext cx="50760" cy="57240"/>
                    </a:xfrm>
                    <a:prstGeom prst="ellipse">
                      <a:avLst/>
                    </a:prstGeom>
                    <a:solidFill>
                      <a:srgbClr val="c0c0e0"/>
                    </a:solidFill>
                    <a:ln>
                      <a:noFill/>
                    </a:ln>
                  </p:spPr>
                </p:sp>
                <p:sp>
                  <p:nvSpPr>
                    <p:cNvPr id="251" name="Freeform 93"/>
                    <p:cNvSpPr/>
                    <p:nvPr/>
                  </p:nvSpPr>
                  <p:spPr>
                    <a:xfrm>
                      <a:off x="4024440" y="2327400"/>
                      <a:ext cx="27360" cy="3744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6" h="104">
                          <a:moveTo>
                            <a:pt x="75" y="75"/>
                          </a:moveTo>
                          <a:lnTo>
                            <a:pt x="75" y="0"/>
                          </a:lnTo>
                          <a:lnTo>
                            <a:pt x="75" y="0"/>
                          </a:lnTo>
                          <a:lnTo>
                            <a:pt x="74" y="0"/>
                          </a:lnTo>
                          <a:cubicBezTo>
                            <a:pt x="60" y="0"/>
                            <a:pt x="49" y="3"/>
                            <a:pt x="37" y="10"/>
                          </a:cubicBezTo>
                          <a:cubicBezTo>
                            <a:pt x="25" y="17"/>
                            <a:pt x="17" y="26"/>
                            <a:pt x="10" y="38"/>
                          </a:cubicBezTo>
                          <a:cubicBezTo>
                            <a:pt x="3" y="50"/>
                            <a:pt x="0" y="62"/>
                            <a:pt x="0" y="75"/>
                          </a:cubicBezTo>
                          <a:cubicBezTo>
                            <a:pt x="0" y="85"/>
                            <a:pt x="2" y="94"/>
                            <a:pt x="5" y="103"/>
                          </a:cubicBezTo>
                          <a:lnTo>
                            <a:pt x="75" y="75"/>
                          </a:lnTo>
                        </a:path>
                      </a:pathLst>
                    </a:custGeom>
                    <a:solidFill>
                      <a:srgbClr val="606080"/>
                    </a:solidFill>
                    <a:ln>
                      <a:noFill/>
                    </a:ln>
                  </p:spPr>
                </p:sp>
                <p:sp>
                  <p:nvSpPr>
                    <p:cNvPr id="252" name="Freeform 94"/>
                    <p:cNvSpPr/>
                    <p:nvPr/>
                  </p:nvSpPr>
                  <p:spPr>
                    <a:xfrm>
                      <a:off x="4050360" y="2346480"/>
                      <a:ext cx="28440" cy="3708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9" h="103">
                          <a:moveTo>
                            <a:pt x="0" y="26"/>
                          </a:moveTo>
                          <a:lnTo>
                            <a:pt x="0" y="102"/>
                          </a:lnTo>
                          <a:lnTo>
                            <a:pt x="0" y="102"/>
                          </a:lnTo>
                          <a:cubicBezTo>
                            <a:pt x="14" y="102"/>
                            <a:pt x="27" y="99"/>
                            <a:pt x="39" y="92"/>
                          </a:cubicBezTo>
                          <a:cubicBezTo>
                            <a:pt x="51" y="85"/>
                            <a:pt x="60" y="76"/>
                            <a:pt x="67" y="64"/>
                          </a:cubicBezTo>
                          <a:cubicBezTo>
                            <a:pt x="75" y="52"/>
                            <a:pt x="78" y="40"/>
                            <a:pt x="78" y="27"/>
                          </a:cubicBezTo>
                          <a:cubicBezTo>
                            <a:pt x="78" y="17"/>
                            <a:pt x="76" y="9"/>
                            <a:pt x="73" y="0"/>
                          </a:cubicBezTo>
                          <a:lnTo>
                            <a:pt x="0" y="26"/>
                          </a:lnTo>
                        </a:path>
                      </a:pathLst>
                    </a:cu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</p:grpSp>
              <p:grpSp>
                <p:nvGrpSpPr>
                  <p:cNvPr id="253" name="Group 95"/>
                  <p:cNvGrpSpPr/>
                  <p:nvPr/>
                </p:nvGrpSpPr>
                <p:grpSpPr>
                  <a:xfrm>
                    <a:off x="3908520" y="2325600"/>
                    <a:ext cx="88920" cy="87480"/>
                    <a:chOff x="3908520" y="2325600"/>
                    <a:chExt cx="88920" cy="87480"/>
                  </a:xfrm>
                </p:grpSpPr>
                <p:sp>
                  <p:nvSpPr>
                    <p:cNvPr id="254" name="Ellipse 96"/>
                    <p:cNvSpPr/>
                    <p:nvPr/>
                  </p:nvSpPr>
                  <p:spPr>
                    <a:xfrm>
                      <a:off x="3908520" y="2325600"/>
                      <a:ext cx="81000" cy="82440"/>
                    </a:xfrm>
                    <a:prstGeom prst="ellipse">
                      <a:avLst/>
                    </a:pr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  <p:sp>
                  <p:nvSpPr>
                    <p:cNvPr id="255" name="Ellipse 97"/>
                    <p:cNvSpPr/>
                    <p:nvPr/>
                  </p:nvSpPr>
                  <p:spPr>
                    <a:xfrm>
                      <a:off x="3916440" y="2328840"/>
                      <a:ext cx="81000" cy="84240"/>
                    </a:xfrm>
                    <a:prstGeom prst="ellipse">
                      <a:avLst/>
                    </a:prstGeom>
                    <a:solidFill>
                      <a:srgbClr val="e0e0ff"/>
                    </a:solidFill>
                    <a:ln>
                      <a:noFill/>
                    </a:ln>
                  </p:spPr>
                </p:sp>
                <p:sp>
                  <p:nvSpPr>
                    <p:cNvPr id="256" name="Ellipse 98"/>
                    <p:cNvSpPr/>
                    <p:nvPr/>
                  </p:nvSpPr>
                  <p:spPr>
                    <a:xfrm>
                      <a:off x="3929040" y="2341440"/>
                      <a:ext cx="54000" cy="55440"/>
                    </a:xfrm>
                    <a:prstGeom prst="ellipse">
                      <a:avLst/>
                    </a:prstGeom>
                    <a:solidFill>
                      <a:srgbClr val="c0c0e0"/>
                    </a:solidFill>
                    <a:ln>
                      <a:noFill/>
                    </a:ln>
                  </p:spPr>
                </p:sp>
                <p:sp>
                  <p:nvSpPr>
                    <p:cNvPr id="257" name="Freeform 99"/>
                    <p:cNvSpPr/>
                    <p:nvPr/>
                  </p:nvSpPr>
                  <p:spPr>
                    <a:xfrm>
                      <a:off x="3929040" y="2343240"/>
                      <a:ext cx="26280" cy="3600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3" h="100">
                          <a:moveTo>
                            <a:pt x="72" y="73"/>
                          </a:moveTo>
                          <a:lnTo>
                            <a:pt x="72" y="0"/>
                          </a:lnTo>
                          <a:lnTo>
                            <a:pt x="72" y="0"/>
                          </a:lnTo>
                          <a:lnTo>
                            <a:pt x="72" y="0"/>
                          </a:lnTo>
                          <a:cubicBezTo>
                            <a:pt x="58" y="0"/>
                            <a:pt x="47" y="3"/>
                            <a:pt x="36" y="10"/>
                          </a:cubicBezTo>
                          <a:cubicBezTo>
                            <a:pt x="24" y="17"/>
                            <a:pt x="16" y="25"/>
                            <a:pt x="9" y="37"/>
                          </a:cubicBezTo>
                          <a:cubicBezTo>
                            <a:pt x="3" y="48"/>
                            <a:pt x="0" y="60"/>
                            <a:pt x="0" y="73"/>
                          </a:cubicBezTo>
                          <a:cubicBezTo>
                            <a:pt x="0" y="83"/>
                            <a:pt x="1" y="90"/>
                            <a:pt x="4" y="99"/>
                          </a:cubicBezTo>
                          <a:lnTo>
                            <a:pt x="72" y="73"/>
                          </a:lnTo>
                        </a:path>
                      </a:pathLst>
                    </a:custGeom>
                    <a:solidFill>
                      <a:srgbClr val="606080"/>
                    </a:solidFill>
                    <a:ln>
                      <a:noFill/>
                    </a:ln>
                  </p:spPr>
                </p:sp>
                <p:sp>
                  <p:nvSpPr>
                    <p:cNvPr id="258" name="Freeform 100"/>
                    <p:cNvSpPr/>
                    <p:nvPr/>
                  </p:nvSpPr>
                  <p:spPr>
                    <a:xfrm>
                      <a:off x="3956040" y="2361240"/>
                      <a:ext cx="27720" cy="36360"/>
                    </a:xfrm>
                    <a:custGeom>
                      <a:avLst/>
                      <a:gdLst/>
                      <a:ahLst/>
                      <a:rect l="0" t="0" r="r" b="b"/>
                      <a:pathLst>
                        <a:path w="77" h="101">
                          <a:moveTo>
                            <a:pt x="0" y="24"/>
                          </a:moveTo>
                          <a:lnTo>
                            <a:pt x="0" y="100"/>
                          </a:lnTo>
                          <a:lnTo>
                            <a:pt x="0" y="100"/>
                          </a:lnTo>
                          <a:lnTo>
                            <a:pt x="0" y="100"/>
                          </a:lnTo>
                          <a:cubicBezTo>
                            <a:pt x="14" y="100"/>
                            <a:pt x="26" y="97"/>
                            <a:pt x="38" y="90"/>
                          </a:cubicBezTo>
                          <a:cubicBezTo>
                            <a:pt x="50" y="83"/>
                            <a:pt x="59" y="75"/>
                            <a:pt x="66" y="63"/>
                          </a:cubicBezTo>
                          <a:cubicBezTo>
                            <a:pt x="73" y="51"/>
                            <a:pt x="76" y="39"/>
                            <a:pt x="76" y="25"/>
                          </a:cubicBezTo>
                          <a:cubicBezTo>
                            <a:pt x="76" y="16"/>
                            <a:pt x="75" y="9"/>
                            <a:pt x="72" y="0"/>
                          </a:cubicBezTo>
                          <a:lnTo>
                            <a:pt x="0" y="24"/>
                          </a:lnTo>
                        </a:path>
                      </a:pathLst>
                    </a:custGeom>
                    <a:solidFill>
                      <a:srgbClr val="8080a0"/>
                    </a:solidFill>
                    <a:ln>
                      <a:noFill/>
                    </a:ln>
                  </p:spPr>
                </p:sp>
              </p:grpSp>
            </p:grpSp>
            <p:sp>
              <p:nvSpPr>
                <p:cNvPr id="259" name="Freeform 101"/>
                <p:cNvSpPr/>
                <p:nvPr/>
              </p:nvSpPr>
              <p:spPr>
                <a:xfrm>
                  <a:off x="3922560" y="2438280"/>
                  <a:ext cx="156240" cy="64080"/>
                </a:xfrm>
                <a:custGeom>
                  <a:avLst/>
                  <a:gdLst/>
                  <a:ahLst/>
                  <a:rect l="0" t="0" r="r" b="b"/>
                  <a:pathLst>
                    <a:path w="434" h="178">
                      <a:moveTo>
                        <a:pt x="0" y="79"/>
                      </a:moveTo>
                      <a:lnTo>
                        <a:pt x="433" y="0"/>
                      </a:lnTo>
                      <a:lnTo>
                        <a:pt x="433" y="98"/>
                      </a:lnTo>
                      <a:lnTo>
                        <a:pt x="0" y="177"/>
                      </a:lnTo>
                      <a:lnTo>
                        <a:pt x="0" y="79"/>
                      </a:lnTo>
                    </a:path>
                  </a:pathLst>
                </a:custGeom>
                <a:solidFill>
                  <a:srgbClr val="404040"/>
                </a:solidFill>
                <a:ln w="12600">
                  <a:solidFill>
                    <a:srgbClr val="000000"/>
                  </a:solidFill>
                  <a:round/>
                </a:ln>
              </p:spPr>
            </p:sp>
            <p:sp>
              <p:nvSpPr>
                <p:cNvPr id="260" name="Freeform 102"/>
                <p:cNvSpPr/>
                <p:nvPr/>
              </p:nvSpPr>
              <p:spPr>
                <a:xfrm>
                  <a:off x="3933720" y="2446200"/>
                  <a:ext cx="132480" cy="34200"/>
                </a:xfrm>
                <a:custGeom>
                  <a:avLst/>
                  <a:gdLst/>
                  <a:ahLst/>
                  <a:rect l="0" t="0" r="r" b="b"/>
                  <a:pathLst>
                    <a:path w="368" h="95">
                      <a:moveTo>
                        <a:pt x="0" y="67"/>
                      </a:moveTo>
                      <a:lnTo>
                        <a:pt x="0" y="94"/>
                      </a:lnTo>
                      <a:lnTo>
                        <a:pt x="367" y="27"/>
                      </a:lnTo>
                      <a:lnTo>
                        <a:pt x="367" y="0"/>
                      </a:lnTo>
                      <a:lnTo>
                        <a:pt x="0" y="67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</p:sp>
          </p:grpSp>
        </p:grpSp>
        <p:grpSp>
          <p:nvGrpSpPr>
            <p:cNvPr id="261" name="Group 103"/>
            <p:cNvGrpSpPr/>
            <p:nvPr/>
          </p:nvGrpSpPr>
          <p:grpSpPr>
            <a:xfrm>
              <a:off x="2940120" y="2495520"/>
              <a:ext cx="1016280" cy="597240"/>
              <a:chOff x="2940120" y="2495520"/>
              <a:chExt cx="1016280" cy="597240"/>
            </a:xfrm>
          </p:grpSpPr>
          <p:sp>
            <p:nvSpPr>
              <p:cNvPr id="262" name="Freeform 104"/>
              <p:cNvSpPr/>
              <p:nvPr/>
            </p:nvSpPr>
            <p:spPr>
              <a:xfrm>
                <a:off x="2940120" y="2544840"/>
                <a:ext cx="721440" cy="519840"/>
              </a:xfrm>
              <a:custGeom>
                <a:avLst/>
                <a:gdLst/>
                <a:ahLst/>
                <a:rect l="0" t="0" r="r" b="b"/>
                <a:pathLst>
                  <a:path w="2004" h="1444">
                    <a:moveTo>
                      <a:pt x="0" y="0"/>
                    </a:moveTo>
                    <a:lnTo>
                      <a:pt x="2003" y="286"/>
                    </a:lnTo>
                    <a:lnTo>
                      <a:pt x="1808" y="516"/>
                    </a:lnTo>
                    <a:lnTo>
                      <a:pt x="1694" y="816"/>
                    </a:lnTo>
                    <a:lnTo>
                      <a:pt x="1694" y="1443"/>
                    </a:lnTo>
                    <a:lnTo>
                      <a:pt x="0" y="79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0606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63" name="Freeform 105"/>
              <p:cNvSpPr/>
              <p:nvPr/>
            </p:nvSpPr>
            <p:spPr>
              <a:xfrm>
                <a:off x="3549600" y="2679840"/>
                <a:ext cx="407160" cy="159480"/>
              </a:xfrm>
              <a:custGeom>
                <a:avLst/>
                <a:gdLst/>
                <a:ahLst/>
                <a:rect l="0" t="0" r="r" b="b"/>
                <a:pathLst>
                  <a:path w="1131" h="443">
                    <a:moveTo>
                      <a:pt x="114" y="142"/>
                    </a:moveTo>
                    <a:lnTo>
                      <a:pt x="1130" y="0"/>
                    </a:lnTo>
                    <a:lnTo>
                      <a:pt x="1003" y="296"/>
                    </a:lnTo>
                    <a:lnTo>
                      <a:pt x="0" y="442"/>
                    </a:lnTo>
                    <a:lnTo>
                      <a:pt x="114" y="142"/>
                    </a:lnTo>
                  </a:path>
                </a:pathLst>
              </a:custGeom>
              <a:solidFill>
                <a:srgbClr val="80808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64" name="Freeform 106"/>
              <p:cNvSpPr/>
              <p:nvPr/>
            </p:nvSpPr>
            <p:spPr>
              <a:xfrm>
                <a:off x="3551400" y="3006720"/>
                <a:ext cx="348480" cy="86400"/>
              </a:xfrm>
              <a:custGeom>
                <a:avLst/>
                <a:gdLst/>
                <a:ahLst/>
                <a:rect l="0" t="0" r="r" b="b"/>
                <a:pathLst>
                  <a:path w="968" h="240">
                    <a:moveTo>
                      <a:pt x="0" y="137"/>
                    </a:moveTo>
                    <a:lnTo>
                      <a:pt x="967" y="0"/>
                    </a:lnTo>
                    <a:lnTo>
                      <a:pt x="967" y="97"/>
                    </a:lnTo>
                    <a:lnTo>
                      <a:pt x="0" y="239"/>
                    </a:lnTo>
                    <a:lnTo>
                      <a:pt x="0" y="137"/>
                    </a:lnTo>
                  </a:path>
                </a:pathLst>
              </a:custGeom>
              <a:solidFill>
                <a:srgbClr val="60606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65" name="Freeform 107"/>
              <p:cNvSpPr/>
              <p:nvPr/>
            </p:nvSpPr>
            <p:spPr>
              <a:xfrm>
                <a:off x="3549600" y="2784600"/>
                <a:ext cx="359640" cy="280080"/>
              </a:xfrm>
              <a:custGeom>
                <a:avLst/>
                <a:gdLst/>
                <a:ahLst/>
                <a:rect l="0" t="0" r="r" b="b"/>
                <a:pathLst>
                  <a:path w="999" h="778">
                    <a:moveTo>
                      <a:pt x="0" y="145"/>
                    </a:moveTo>
                    <a:lnTo>
                      <a:pt x="998" y="0"/>
                    </a:lnTo>
                    <a:lnTo>
                      <a:pt x="998" y="640"/>
                    </a:lnTo>
                    <a:lnTo>
                      <a:pt x="0" y="777"/>
                    </a:lnTo>
                    <a:lnTo>
                      <a:pt x="0" y="145"/>
                    </a:lnTo>
                  </a:path>
                </a:pathLst>
              </a:custGeom>
              <a:solidFill>
                <a:srgbClr val="a0a0a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66" name="Freeform 108"/>
              <p:cNvSpPr/>
              <p:nvPr/>
            </p:nvSpPr>
            <p:spPr>
              <a:xfrm>
                <a:off x="2962440" y="2825640"/>
                <a:ext cx="588240" cy="267480"/>
              </a:xfrm>
              <a:custGeom>
                <a:avLst/>
                <a:gdLst/>
                <a:ahLst/>
                <a:rect l="0" t="0" r="r" b="b"/>
                <a:pathLst>
                  <a:path w="1634" h="743">
                    <a:moveTo>
                      <a:pt x="1633" y="663"/>
                    </a:moveTo>
                    <a:lnTo>
                      <a:pt x="1633" y="742"/>
                    </a:lnTo>
                    <a:lnTo>
                      <a:pt x="0" y="97"/>
                    </a:lnTo>
                    <a:lnTo>
                      <a:pt x="4" y="0"/>
                    </a:lnTo>
                    <a:lnTo>
                      <a:pt x="1633" y="663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67" name="Freeform 109"/>
              <p:cNvSpPr/>
              <p:nvPr/>
            </p:nvSpPr>
            <p:spPr>
              <a:xfrm>
                <a:off x="2941560" y="2495520"/>
                <a:ext cx="1013400" cy="234000"/>
              </a:xfrm>
              <a:custGeom>
                <a:avLst/>
                <a:gdLst/>
                <a:ahLst/>
                <a:rect l="0" t="0" r="r" b="b"/>
                <a:pathLst>
                  <a:path w="2815" h="650">
                    <a:moveTo>
                      <a:pt x="0" y="136"/>
                    </a:moveTo>
                    <a:lnTo>
                      <a:pt x="961" y="0"/>
                    </a:lnTo>
                    <a:lnTo>
                      <a:pt x="2765" y="344"/>
                    </a:lnTo>
                    <a:lnTo>
                      <a:pt x="2814" y="512"/>
                    </a:lnTo>
                    <a:lnTo>
                      <a:pt x="1808" y="649"/>
                    </a:lnTo>
                    <a:lnTo>
                      <a:pt x="1764" y="481"/>
                    </a:lnTo>
                    <a:lnTo>
                      <a:pt x="0" y="136"/>
                    </a:lnTo>
                  </a:path>
                </a:pathLst>
              </a:custGeom>
              <a:solidFill>
                <a:srgbClr val="404040"/>
              </a:solidFill>
              <a:ln w="12600">
                <a:solidFill>
                  <a:srgbClr val="000000"/>
                </a:solidFill>
                <a:round/>
              </a:ln>
            </p:spPr>
          </p:sp>
          <p:sp>
            <p:nvSpPr>
              <p:cNvPr id="268" name="Line 110"/>
              <p:cNvSpPr/>
              <p:nvPr/>
            </p:nvSpPr>
            <p:spPr>
              <a:xfrm flipV="1">
                <a:off x="3584520" y="2620800"/>
                <a:ext cx="352440" cy="47880"/>
              </a:xfrm>
              <a:prstGeom prst="line">
                <a:avLst/>
              </a:prstGeom>
              <a:ln w="126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269" name="Group 111"/>
              <p:cNvGrpSpPr/>
              <p:nvPr/>
            </p:nvGrpSpPr>
            <p:grpSpPr>
              <a:xfrm>
                <a:off x="3654360" y="2716200"/>
                <a:ext cx="227160" cy="75960"/>
                <a:chOff x="3654360" y="2716200"/>
                <a:chExt cx="227160" cy="75960"/>
              </a:xfrm>
            </p:grpSpPr>
            <p:sp>
              <p:nvSpPr>
                <p:cNvPr id="270" name="Ellipse 112"/>
                <p:cNvSpPr/>
                <p:nvPr/>
              </p:nvSpPr>
              <p:spPr>
                <a:xfrm>
                  <a:off x="3846600" y="2716200"/>
                  <a:ext cx="34920" cy="1440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</p:sp>
            <p:sp>
              <p:nvSpPr>
                <p:cNvPr id="271" name="Ellipse 113"/>
                <p:cNvSpPr/>
                <p:nvPr/>
              </p:nvSpPr>
              <p:spPr>
                <a:xfrm>
                  <a:off x="3809880" y="2755800"/>
                  <a:ext cx="39600" cy="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272" name="Ellipse 114"/>
                <p:cNvSpPr/>
                <p:nvPr/>
              </p:nvSpPr>
              <p:spPr>
                <a:xfrm>
                  <a:off x="3763800" y="2727360"/>
                  <a:ext cx="38160" cy="126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</p:sp>
            <p:sp>
              <p:nvSpPr>
                <p:cNvPr id="273" name="Ellipse 115"/>
                <p:cNvSpPr/>
                <p:nvPr/>
              </p:nvSpPr>
              <p:spPr>
                <a:xfrm>
                  <a:off x="3735360" y="2766960"/>
                  <a:ext cx="34920" cy="1440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</p:sp>
            <p:sp>
              <p:nvSpPr>
                <p:cNvPr id="274" name="Ellipse 116"/>
                <p:cNvSpPr/>
                <p:nvPr/>
              </p:nvSpPr>
              <p:spPr>
                <a:xfrm>
                  <a:off x="3681360" y="2739960"/>
                  <a:ext cx="38160" cy="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275" name="Ellipse 117"/>
                <p:cNvSpPr/>
                <p:nvPr/>
              </p:nvSpPr>
              <p:spPr>
                <a:xfrm>
                  <a:off x="3654360" y="2779560"/>
                  <a:ext cx="38160" cy="126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</p:grpSp>
        </p:grpSp>
      </p:grpSp>
      <p:sp>
        <p:nvSpPr>
          <p:cNvPr id="276" name="TextShape 118"/>
          <p:cNvSpPr txBox="1"/>
          <p:nvPr/>
        </p:nvSpPr>
        <p:spPr>
          <a:xfrm>
            <a:off x="3887640" y="4094280"/>
            <a:ext cx="2563920" cy="123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Workgroup Server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and/or Router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77" name="TextShape 119"/>
          <p:cNvSpPr txBox="1"/>
          <p:nvPr/>
        </p:nvSpPr>
        <p:spPr>
          <a:xfrm>
            <a:off x="6364440" y="5533920"/>
            <a:ext cx="1571760" cy="857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Fat Clients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78" name="TextShape 120"/>
          <p:cNvSpPr txBox="1"/>
          <p:nvPr/>
        </p:nvSpPr>
        <p:spPr>
          <a:xfrm>
            <a:off x="363600" y="1633680"/>
            <a:ext cx="2976480" cy="857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Enterprise Databases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79" name="TextShape 121"/>
          <p:cNvSpPr txBox="1"/>
          <p:nvPr/>
        </p:nvSpPr>
        <p:spPr>
          <a:xfrm>
            <a:off x="6399360" y="1447920"/>
            <a:ext cx="2440080" cy="1619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Departmental/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Other Workgroup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Servers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80" name="Line 122"/>
          <p:cNvSpPr/>
          <p:nvPr/>
        </p:nvSpPr>
        <p:spPr>
          <a:xfrm flipH="1">
            <a:off x="3262320" y="3165480"/>
            <a:ext cx="1120680" cy="853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Line 123"/>
          <p:cNvSpPr/>
          <p:nvPr/>
        </p:nvSpPr>
        <p:spPr>
          <a:xfrm flipH="1">
            <a:off x="3381480" y="3905280"/>
            <a:ext cx="3228840" cy="250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Adopting Technology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83" name="" descr=""/>
          <p:cNvPicPr/>
          <p:nvPr/>
        </p:nvPicPr>
        <p:blipFill>
          <a:blip r:embed="rId1"/>
          <a:stretch/>
        </p:blipFill>
        <p:spPr>
          <a:xfrm>
            <a:off x="1542960" y="2273400"/>
            <a:ext cx="6035760" cy="2685960"/>
          </a:xfrm>
          <a:prstGeom prst="rect">
            <a:avLst/>
          </a:prstGeom>
          <a:ln>
            <a:noFill/>
          </a:ln>
        </p:spPr>
      </p:pic>
      <p:sp>
        <p:nvSpPr>
          <p:cNvPr id="284" name="TextShape 2"/>
          <p:cNvSpPr txBox="1"/>
          <p:nvPr/>
        </p:nvSpPr>
        <p:spPr>
          <a:xfrm>
            <a:off x="5699160" y="4525920"/>
            <a:ext cx="108756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RDBMS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5" name="TextShape 3"/>
          <p:cNvSpPr txBox="1"/>
          <p:nvPr/>
        </p:nvSpPr>
        <p:spPr>
          <a:xfrm>
            <a:off x="5318280" y="4068720"/>
            <a:ext cx="72072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Unix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6" name="TextShape 4"/>
          <p:cNvSpPr txBox="1"/>
          <p:nvPr/>
        </p:nvSpPr>
        <p:spPr>
          <a:xfrm>
            <a:off x="3108240" y="4145040"/>
            <a:ext cx="53640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NT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7" name="TextShape 5"/>
          <p:cNvSpPr txBox="1"/>
          <p:nvPr/>
        </p:nvSpPr>
        <p:spPr>
          <a:xfrm>
            <a:off x="2727360" y="4525920"/>
            <a:ext cx="128412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ORDBMS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8" name="TextShape 6"/>
          <p:cNvSpPr txBox="1"/>
          <p:nvPr/>
        </p:nvSpPr>
        <p:spPr>
          <a:xfrm>
            <a:off x="4098960" y="3078000"/>
            <a:ext cx="144000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Downsizing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9" name="TextShape 7"/>
          <p:cNvSpPr txBox="1"/>
          <p:nvPr/>
        </p:nvSpPr>
        <p:spPr>
          <a:xfrm>
            <a:off x="3413160" y="3763800"/>
            <a:ext cx="155268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Warehousing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0" name="TextShape 8"/>
          <p:cNvSpPr txBox="1"/>
          <p:nvPr/>
        </p:nvSpPr>
        <p:spPr>
          <a:xfrm>
            <a:off x="3489480" y="3459240"/>
            <a:ext cx="194148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fc0128"/>
                </a:solidFill>
                <a:latin typeface="Book Antiqua"/>
                <a:ea typeface="Book Antiqua"/>
              </a:rPr>
              <a:t>Multi-tier OLTP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Examining the Midrange Leaders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2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IBM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Hewlett-Packard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Equipment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Microsystems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AT&amp;T Global Information Systems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Shape 1"/>
          <p:cNvSpPr txBox="1"/>
          <p:nvPr/>
        </p:nvSpPr>
        <p:spPr>
          <a:xfrm>
            <a:off x="687240" y="646200"/>
            <a:ext cx="7770960" cy="1104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1995 Worldwide Commercial Multiuser Risc/Unix Market $14B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4" name="TextShape 2"/>
          <p:cNvSpPr txBox="1"/>
          <p:nvPr/>
        </p:nvSpPr>
        <p:spPr>
          <a:xfrm>
            <a:off x="1279440" y="6066000"/>
            <a:ext cx="2711520" cy="274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latin typeface="Book Antiqua"/>
                <a:ea typeface="Book Antiqua"/>
              </a:rPr>
              <a:t>Source: Aberdeen Group, February, 1995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5" name="TextShape 3"/>
          <p:cNvSpPr txBox="1"/>
          <p:nvPr/>
        </p:nvSpPr>
        <p:spPr>
          <a:xfrm>
            <a:off x="3946680" y="5303880"/>
            <a:ext cx="1128600" cy="274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Book Antiqua"/>
                <a:ea typeface="Book Antiqua"/>
              </a:rPr>
              <a:t>Market Share</a:t>
            </a:r>
            <a:endParaRPr b="0" lang="en-US" sz="1200" spc="-1" strike="noStrike"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IBM Hardware Line-up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687240" y="1755720"/>
            <a:ext cx="7770960" cy="4348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RS/6000 Servers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Second largest supplier of multiuser RISC/UNIX systems -- 19% market share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52% revenue increase ‘93/94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1994 revenues = $2 billion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Product line is transitioning from uniprocessor, Power2 (RIOS) systems to SMP, PowerPC 601 servers 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Following an IBM-first strategy, will frequently offer DB2/6000 RDBMS at considerable cost savings with platform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Value Proposition: IBM’s professional services organizations will help our customers implement RISC/UNIX-based open, client-server computing with the RS/6000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IBM Hardware Line-up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9" name="TextShape 2"/>
          <p:cNvSpPr txBox="1"/>
          <p:nvPr/>
        </p:nvSpPr>
        <p:spPr>
          <a:xfrm>
            <a:off x="611280" y="160344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SP2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Up to 512 Power2 processors each running AIX 4.x for commercial and technical applications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1995 revenues = $400 million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Positioned as high-end of RS/6000 line and DB/2 offload for ES/9000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Major commercial applications: Complex Decision Support, LAN server consolidation, OLTP 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Has generated 380 ISV promises to port RDBMSs and applications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Futures: SMP Nodes and RIOS2 upgrades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Value Proposition: IBM’s entry into very large scale, open systems computing.  Hot new technology from IBM.</a:t>
            </a:r>
            <a:endParaRPr b="0" lang="en-US" sz="1800" spc="-1" strike="noStrike"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IBM Strengths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1" name="TextShape 2"/>
          <p:cNvSpPr txBox="1"/>
          <p:nvPr/>
        </p:nvSpPr>
        <p:spPr>
          <a:xfrm>
            <a:off x="687240" y="160344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Size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Global support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Range of products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Talent pool to draw upon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Customer base and sales reps’ knowledge of customers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Shared history,  Customer Trust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Former IBM employees working now as customers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Services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Planning, Implementation, Operations, Outsourcing, Financing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Third-party support and competition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ISVs by the 1,000’s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PCM and peripheral suppliers</a:t>
            </a:r>
            <a:endParaRPr b="0" lang="en-US" sz="1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400" spc="-1" strike="noStrike">
                <a:solidFill>
                  <a:srgbClr val="000000"/>
                </a:solidFill>
                <a:latin typeface="Book Antiqua"/>
                <a:ea typeface="Book Antiqua"/>
              </a:rPr>
              <a:t>Professional service organizations (e.g., Andersen Consulting)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IBM Challenges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3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Processor technology -- PowerPC 600 will not be leading the industry for many years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Re-energizing and focusing the field organization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Gaining the trust of leading-edge, business line manager, and X-generation buyers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Learning how to work with ISVs as allies -- not enemies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Recognizing that its chief competition for IS executive allegiance is not other hardware suppliers such as HP but software solution suppliers such as Oracle, SAP, and Microsoft 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Shape 1"/>
          <p:cNvSpPr txBox="1"/>
          <p:nvPr/>
        </p:nvSpPr>
        <p:spPr>
          <a:xfrm>
            <a:off x="687240" y="646200"/>
            <a:ext cx="7770960" cy="1104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Points-</a:t>
            </a:r>
            <a:r>
              <a:rPr b="1" i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You</a:t>
            </a: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-Should Know: </a:t>
            </a:r>
            <a:br/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IBM RS/6000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5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Customers buy RS/6000 for support and historical relationship reasons and have replaced it until lately because of lack of high-end growth path.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Platform-of-choice for VARs whose customers cannot afford AS/400 but want IBM platform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RDBMS ISVs fear that if they recommend RS/6000 IBM will still switch customer to low priced DB2/6000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Expect growth to continue in 1996 as datacenter managers experiment with RS/6000 Tier-2 surround strategies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RS/6000 with DB2 is neither the fastest nor least expensive option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Whole story includes NetView, Data Propagator, DataHub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 Hardware Line-up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7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</a:pPr>
            <a:r>
              <a:rPr b="1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Midrange: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 9000: 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Multi-user RISC/UNIX industry leader -- 50% share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57% revenue growth in 1995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1995 revenues = $5 billion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Value Proposition: Leading platform for Unix applications in terms of technology and ISV application support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 3000: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Legacy MPE/IX system updated with HP’s PA-RISC technology. Same hardware as HP 9000 but with MPE/iX operating system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 Strengths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9" name="TextShape 2"/>
          <p:cNvSpPr txBox="1"/>
          <p:nvPr/>
        </p:nvSpPr>
        <p:spPr>
          <a:xfrm>
            <a:off x="687240" y="1984320"/>
            <a:ext cx="7770960" cy="4102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Trusted-supplier by IS decision makers for making the transition to high-performance UNIX systems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Supports and is supported by ISVs and professional service organizations -- usually as a first among equals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One of a handful of hardware suppliers that can support enterprises on a global basis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Technology leadership perception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RISC processors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Complete Unix operating environment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OpenView systems management framework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 Professional Service Organization knows Unix operating environment capabilities thoroughly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 Challenges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1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Running as a lean and mean organization means business opportunities often slip by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Making the transformation from selling hot boxes on price and price/ performance to being seen as an incumbent supplier that can add value in additional ways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Current generation of PA-RISC, PA-7200, is not the fastest chip in the market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Does not have a very high-end RISC/UNIX product offering (i.e. clusters &amp; MPP) and is being squeezed by Intel/NT at the low end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After 3 years as Top Gun, HP is getting arrogant, sloppy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Points-</a:t>
            </a:r>
            <a:r>
              <a:rPr b="1" i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You</a:t>
            </a: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-Should Know: HP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Is considered the mainframe alternative leader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In new sales deals, HP’s most common hardware competitors will be IBM and Sun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HP’s Computer Systems Organization (HP 3000/9000, Workstations, PSO) has a separate sales force from its Computer Products Organization (Vectras, LaserJets, NetManagers) resulting in sales confusion and annoyance for customers and prospects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Is consistently ranked as one of the computer industry’s most respected companies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Should be respected but not feared.  HP is not invincible.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Hardware Line-up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5" name="TextShape 2"/>
          <p:cNvSpPr txBox="1"/>
          <p:nvPr/>
        </p:nvSpPr>
        <p:spPr>
          <a:xfrm>
            <a:off x="611280" y="1603440"/>
            <a:ext cx="7770960" cy="413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</a:pPr>
            <a:r>
              <a:rPr b="1" i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Midrange: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ALPHAserver XX00: 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Multi-user RISC/UNIX 64 bit -- 3% market share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75% revenue growth rate 1995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Value Proposition: Faster processors capable of managing vast amounts of memory and disk -- VLM64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VAX: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Legacy VMS system updated to OpenVMS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VAX revenues declining 50% per annum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1995 revenues = less than 10% of company revenues - with </a:t>
            </a:r>
            <a:r>
              <a:rPr b="1" i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all </a:t>
            </a: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add-ons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18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Value Proposition: Hold base while selling evolution and migration (if possible) to OpenVMS and ALPHA AXP</a:t>
            </a:r>
            <a:endParaRPr b="0" lang="en-US" sz="1800" spc="-1" strike="noStrike"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Strengths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7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Alpha performance combined with aggressive pricing has created the best price/performance in the industry.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Digital's UNIX (OSF/1) meets the specifications of more standards setting groups than any other Unix operating system.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will deliver enterprise-class open platforms with Microsoft NT on Alpha.  Note recent TPC-C benchmarks.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is creating software frameworks for enterprise-wide open computing to meet customer needs for applications interoperability from the desktop to datacenter.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Challenges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9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is finally emerging from the restructuring woods.  As a result, customers and prospects remain concerned about: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who will sell to them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where support will come from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which support people will continue to be there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which promised products may be eliminated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With the current neutral attitude of prospects to Digital's limited number of Alpha UNIX systems, Digital has yet to establish a critical mass for long-term viability.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Alpha/NT looks like a rosy future, but lacks 1996 revenues to sustain the company alone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Points-</a:t>
            </a:r>
            <a:r>
              <a:rPr b="1" i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You</a:t>
            </a: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-Should Know: Digital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1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The company's diligence and resolve is regaining it respect from the industry and Wall Street.  Prospects becoming more willing to entertain a Digital solution.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remains an excellent engineering company.  Development of Large In-Memory Databases (LIMD) could revolutionize enterprise OLTP and complex DSS.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Digital and Oracle have been increasing their strategic commitments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Oracle acquires RDB and installed base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Oracle is the LIMD database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Hardware Line-up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3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</a:pPr>
            <a:r>
              <a:rPr b="1" i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Midrange: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SPARCcenter 2000 and SPARCserver 1000 : 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Multi-user RISC/UNIX - 9% market share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Revenues = ~ 20%  of Sun / $1.3 Billion 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SPARCcenter -  2 to 20 processors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SPARCserver -  2 to 8 processors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Challenging IBM for number 2 position with ISVs for application support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Value Proposition:  The open systems, price leader for enterprises that want alternative high-risk, high-reward solutions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Strengths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5" name="TextShape 2"/>
          <p:cNvSpPr txBox="1"/>
          <p:nvPr/>
        </p:nvSpPr>
        <p:spPr>
          <a:xfrm>
            <a:off x="687240" y="1984320"/>
            <a:ext cx="7770960" cy="3920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Originator and still a leader in the open systems client-server computing marketplace.  Customers and Prospects still may have Sun religion.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Large number of software applications available - a pound-for-pound leader.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is regarded as an innovator in providing networked client/server solutions to the industry.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Sun’s positive working relationships with value-added resellers and third party distributors can mean  lower acquisition and maintenance costs.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Strong ISV relationships.  Most ISVs use Sun workstations to develop their client/server products and applications.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Challenges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7" name="TextShape 2"/>
          <p:cNvSpPr txBox="1"/>
          <p:nvPr/>
        </p:nvSpPr>
        <p:spPr>
          <a:xfrm>
            <a:off x="687240" y="1603440"/>
            <a:ext cx="7770960" cy="4532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direct field support is limited and is often contracted out to other firms.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There are very few  references for running SPARCcenter 2000s and SPARCserver 1000s for business critical production OLTP applications. 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Transitions between operating system releases has historically been problematic, compounded by minimal technical support from its corporate offices.  Problems with Solaris in 1994.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Real world scalability of applications appears to be very poor on all of Sun’s workstations and servers.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Loss of influence.  Sun does not appear to be a major player in the new generation of standards setting groups.  Many Sun products, such as its critical OpenLook GUI, may be excluded from future standards.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Points-</a:t>
            </a:r>
            <a:r>
              <a:rPr b="1" i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You</a:t>
            </a: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-Should Know: Sun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9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Large number of applications.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Champion of the “common” customer.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Strong alternate channel presence - will sell through any distributor.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1996 is an important product year with UltraSPARC 64-bit rollout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Sun’s commercial client/server strategy is making inroads via Networking and application development.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Sun maintains both the lowest entry price and best price/performance point for commercial servers.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Shape 1"/>
          <p:cNvSpPr txBox="1"/>
          <p:nvPr/>
        </p:nvSpPr>
        <p:spPr>
          <a:xfrm>
            <a:off x="687240" y="646200"/>
            <a:ext cx="7770960" cy="1104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AT&amp;T Global Information Solutions (i.e. NCR)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1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1995 total revenues of approx. $7.0 Billion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Revenues have been flat for several years -- with financial results running in the red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Spin-out of AT&amp;T has immediate implications to customers and prospects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Is the company viable?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Will the company play in my market?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Shape 1"/>
          <p:cNvSpPr txBox="1"/>
          <p:nvPr/>
        </p:nvSpPr>
        <p:spPr>
          <a:xfrm>
            <a:off x="687240" y="646200"/>
            <a:ext cx="7770960" cy="1104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AT&amp;T Global Information Solutions (i.e. NCR)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3" name="TextShape 2"/>
          <p:cNvSpPr txBox="1"/>
          <p:nvPr/>
        </p:nvSpPr>
        <p:spPr>
          <a:xfrm>
            <a:off x="687240" y="1984320"/>
            <a:ext cx="7770960" cy="404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Product strategy is to offer open systems based on midrange to massively parallel product lines -- Worldmark models from  departmental to Teradata for decision support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All servers based on Unix and Intel Pentium microprocessor -- no RISC servers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Unix System V.4 MP OS with Reliability, Availability, Serviceability enhancements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Low-end servers also run OS/2, SCO Unix, NetWare, and Windows NT (an NT champion)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Full line of peripherals, including RAID storage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High availability clustering with LifeKeeper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Open OLTP with TopEnd 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NCR Strengths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5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Breadth of compatible server products is excellent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Good, often leading, TPC price/performance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The backing of AT&amp;T (for a few more months)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Bullet-proof version of UNIX.  Known for stability.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The Intel multiprocessor market champion (vs. RISC) and leader --  ~$2.0 Billion in 199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Market strength and broad solutions strength in retail and banking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Will mostly consolidate into above markets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Also Telecomm, Government, Transportation markets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Shape 1"/>
          <p:cNvSpPr txBox="1"/>
          <p:nvPr/>
        </p:nvSpPr>
        <p:spPr>
          <a:xfrm>
            <a:off x="687240" y="646200"/>
            <a:ext cx="7770960" cy="1071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Book Antiqua"/>
                <a:ea typeface="Book Antiqua"/>
              </a:rPr>
              <a:t>NCR Challenges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7" name="TextShape 2"/>
          <p:cNvSpPr txBox="1"/>
          <p:nvPr/>
        </p:nvSpPr>
        <p:spPr>
          <a:xfrm>
            <a:off x="687240" y="1984320"/>
            <a:ext cx="7770960" cy="385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While the leader in Intel/Unix servers, losing ground to leading RISC providers, not to mention Compaq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Never the leader in OLTP high-end performance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Intel is depending on NCR to be premier supplier of P6-based servers for enterprise computing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Organization seems to lack the fire required to gain market share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Customer base may erode due to financial uncertainties and pull-out from general market distribution</a:t>
            </a: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Book Antiqua"/>
                <a:ea typeface="Book Antiqua"/>
              </a:rPr>
              <a:t>Failure to properly manage Teradata for big customers has resulted in unexpected backlash and opened up new opportunities for data warehousing/complex DSS.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/>
  <dc:language>en-US</dc:language>
  <cp:revision>0</cp:revision>
  <dc:subject/>
  <dc:title/>
</cp:coreProperties>
</file>