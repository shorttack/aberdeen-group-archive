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wmf" ContentType="image/x-wmf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0.6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9631362" cy="7315200"/>
  <p:notesSz cx="7035800" cy="9105900"/>
  <p:custDataLst>
    <p:tags r:id="rId13"/>
  </p:custDataLst>
  <p:defaultTextStyle>
    <a:defPPr>
      <a:defRPr lang="en-US"/>
    </a:defPPr>
    <a:lvl1pPr marL="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1pPr>
    <a:lvl2pPr marL="4572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2pPr>
    <a:lvl3pPr marL="9144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3pPr>
    <a:lvl4pPr marL="13716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4pPr>
    <a:lvl5pPr marL="18288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0" y="0"/>
      </p:cViewPr>
    </p:cSldViewPr>
  </p:slideViewPr>
  <p:notesViewPr>
    <p:cSldViewPr>
      <p:cViewPr varScale="1"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tags" Target="tags/tag1.xml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9588" cy="4556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>
            <a:noAutofit/>
          </a:bodyPr>
          <a:lstStyle/>
          <a:p>
            <a:pPr lvl="0" defTabSz="949325" eaLnBrk="0" hangingPunct="0"/>
            <a:fld id="{C359212A-2257-49D3-9671-389D2756F53B}" type="header">
              <a:rPr sz="1000" i="1">
                <a:latin typeface="Times New Roman" pitchFamily="18" charset="0"/>
              </a:rPr>
              <a:t>*</a:t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3075" name=""/>
          <p:cNvSpPr>
            <a:spLocks noGrp="1"/>
          </p:cNvSpPr>
          <p:nvPr>
            <p:ph type="dt" sz="quarter" idx="1"/>
          </p:nvPr>
        </p:nvSpPr>
        <p:spPr>
          <a:xfrm>
            <a:off x="3986213" y="0"/>
            <a:ext cx="3049587" cy="4556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6E13EBDB-EBA9-4A86-92C1-510B68AD6988}" type="datetime1">
              <a:rPr sz="1000" i="1">
                <a:latin typeface="Times New Roman" pitchFamily="18" charset="0"/>
              </a:rPr>
              <a:t>*</a:t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3076" name=""/>
          <p:cNvSpPr>
            <a:spLocks noGrp="1"/>
          </p:cNvSpPr>
          <p:nvPr>
            <p:ph type="ftr" sz="quarter" idx="2"/>
          </p:nvPr>
        </p:nvSpPr>
        <p:spPr>
          <a:xfrm>
            <a:off x="0" y="8650288"/>
            <a:ext cx="3049588" cy="4556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947D7065-18F8-4BFA-B70E-BA84D2E2E37C}" type="footer">
              <a:rPr sz="1000" i="1">
                <a:latin typeface="Times New Roman" pitchFamily="18" charset="0"/>
              </a:rPr>
              <a:t>*</a:t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3077" name=""/>
          <p:cNvSpPr>
            <a:spLocks noGrp="1"/>
          </p:cNvSpPr>
          <p:nvPr>
            <p:ph type="sldNum" sz="quarter" idx="3"/>
          </p:nvPr>
        </p:nvSpPr>
        <p:spPr>
          <a:xfrm>
            <a:off x="3986213" y="8650288"/>
            <a:ext cx="3049587" cy="4556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8E885621-DCC3-428C-AFF3-F8199FBCDDE7}" type="slidenum">
              <a:rPr sz="1000" i="1">
                <a:latin typeface="Times New Roman" pitchFamily="18" charset="0"/>
              </a:rPr>
              <a:t>*</a:t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3078" name=""/>
          <p:cNvSpPr/>
          <p:nvPr/>
        </p:nvSpPr>
        <p:spPr>
          <a:xfrm>
            <a:off x="3171825" y="8672513"/>
            <a:ext cx="690563" cy="257175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88900" tIns="46038" rIns="88900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900112" eaLnBrk="0" hangingPunct="0">
              <a:lnSpc>
                <a:spcPct val="90000"/>
              </a:lnSpc>
            </a:pPr>
            <a:r>
              <a:rPr sz="1200">
                <a:latin typeface="Times New Roman" pitchFamily="18" charset="0"/>
              </a:rPr>
              <a:t>Page </a:t>
            </a:r>
            <a:fld id="{517752AB-B54E-4871-BFAC-ED0C38CB5C9F}" type="slidenum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9588" cy="4556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>
            <a:noAutofit/>
          </a:bodyPr>
          <a:lstStyle/>
          <a:p>
            <a:pPr lvl="0" defTabSz="949325" eaLnBrk="0" hangingPunct="0"/>
            <a:fld id="{E1E3BF8A-5867-469F-AC07-D62E8A378370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2051" name=""/>
          <p:cNvSpPr>
            <a:spLocks noGrp="1"/>
          </p:cNvSpPr>
          <p:nvPr>
            <p:ph type="dt" idx="1"/>
          </p:nvPr>
        </p:nvSpPr>
        <p:spPr>
          <a:xfrm>
            <a:off x="3986213" y="0"/>
            <a:ext cx="3049587" cy="4556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2052" name=""/>
          <p:cNvSpPr>
            <a:spLocks noGrp="1"/>
          </p:cNvSpPr>
          <p:nvPr>
            <p:ph type="ftr" sz="quarter" idx="4"/>
          </p:nvPr>
        </p:nvSpPr>
        <p:spPr>
          <a:xfrm>
            <a:off x="0" y="8650288"/>
            <a:ext cx="3049588" cy="4556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0FEE6B96-2D05-498F-BA65-6CB0F01ABA9D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2053" name=""/>
          <p:cNvSpPr>
            <a:spLocks noGrp="1"/>
          </p:cNvSpPr>
          <p:nvPr>
            <p:ph type="sldNum" sz="quarter" idx="5"/>
          </p:nvPr>
        </p:nvSpPr>
        <p:spPr>
          <a:xfrm>
            <a:off x="3986213" y="8650288"/>
            <a:ext cx="3049587" cy="4556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B2B0ECFE-6C76-478A-88F7-8C0E5934C8B2}" type="slidenum">
              <a:rPr sz="1000" i="1">
                <a:latin typeface="Times New Roman" pitchFamily="18" charset="0"/>
              </a:rPr>
              <a:t>*</a:t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2054" name=""/>
          <p:cNvSpPr/>
          <p:nvPr/>
        </p:nvSpPr>
        <p:spPr>
          <a:xfrm>
            <a:off x="3171825" y="8672513"/>
            <a:ext cx="690563" cy="257175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88900" tIns="46038" rIns="88900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900112" eaLnBrk="0" hangingPunct="0">
              <a:lnSpc>
                <a:spcPct val="90000"/>
              </a:lnSpc>
            </a:pPr>
            <a:r>
              <a:rPr sz="1200">
                <a:latin typeface="Times New Roman" pitchFamily="18" charset="0"/>
              </a:rPr>
              <a:t>Page </a:t>
            </a:r>
            <a:fld id="{9A5A1818-9AB6-466E-8A59-923207C06D43}" type="slidenum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2055" name=""/>
          <p:cNvSpPr>
            <a:spLocks noRot="1"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2056" name=""/>
          <p:cNvSpPr>
            <a:spLocks noGrp="1"/>
          </p:cNvSpPr>
          <p:nvPr>
            <p:ph type="body" sz="quarter" idx="3"/>
          </p:nvPr>
        </p:nvSpPr>
        <p:spPr>
          <a:xfrm>
            <a:off x="938213" y="4325938"/>
            <a:ext cx="5159375" cy="4097337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3663" tIns="47625" rIns="93663" bIns="47625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/>
            <a:r>
              <a:t>Body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5122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5123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5124" name=""/>
          <p:cNvSpPr/>
          <p:nvPr/>
        </p:nvSpPr>
        <p:spPr>
          <a:xfrm>
            <a:off x="2717800" y="2478088"/>
            <a:ext cx="2333625" cy="91916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3663" tIns="47625" rIns="93663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r>
              <a:rPr b="1">
                <a:latin typeface="Times New Roman" pitchFamily="18" charset="0"/>
              </a:rPr>
              <a:t>Thomas H. Willmott</a:t>
            </a:r>
            <a:endParaRPr b="1">
              <a:latin typeface="Times New Roman" pitchFamily="18" charset="0"/>
            </a:endParaRPr>
          </a:p>
          <a:p>
            <a:pPr marL="0" lvl="0" indent="0" defTabSz="949325" eaLnBrk="0" hangingPunct="0"/>
            <a:r>
              <a:rPr b="1">
                <a:latin typeface="Times New Roman" pitchFamily="18" charset="0"/>
              </a:rPr>
              <a:t>Aberdeen Group, Inc.</a:t>
            </a:r>
            <a:endParaRPr b="1">
              <a:latin typeface="Times New Roman" pitchFamily="18" charset="0"/>
            </a:endParaRPr>
          </a:p>
          <a:p>
            <a:pPr marL="0" lvl="0" indent="0" defTabSz="949325" eaLnBrk="0" hangingPunct="0"/>
            <a:endParaRPr b="1">
              <a:latin typeface="Times New Roman" pitchFamily="18" charset="0"/>
            </a:endParaRPr>
          </a:p>
        </p:txBody>
      </p:sp>
      <p:sp>
        <p:nvSpPr>
          <p:cNvPr id="5125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CFC7F78D-B9AF-4825-9B00-FBB2E44FF4E7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5126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5127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E55979FD-5AC7-4187-A0B3-CC3E3C027FF5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5128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7122EF59-FEE0-422E-ABAD-D67701691758}" type="slidenum">
              <a:rPr sz="1000" i="1">
                <a:latin typeface="Times New Roman" pitchFamily="18" charset="0"/>
              </a:rPr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7170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7171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7172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6F2F4910-D0CE-40BC-BD8A-4DF906F31D4F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7173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7174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46E9B17C-1B1F-4FD2-A948-0F2A70C35E21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7175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5BB2DCFB-D5BB-4651-8ABF-07F4E237BE11}" type="slidenum">
              <a:rPr sz="1000" i="1">
                <a:latin typeface="Times New Roman" pitchFamily="18" charset="0"/>
              </a:rPr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9218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9219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9220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E2AAC0D1-FD1F-4A4F-B3D4-4FAABDEDCDCF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9221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9222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6658955B-C797-4E4B-98B7-04EFD0BD51F8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9223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0EDD9FEF-3B21-4BE1-8CD8-BB9B77F8801B}" type="slidenum">
              <a:rPr sz="1000" i="1">
                <a:latin typeface="Times New Roman" pitchFamily="18" charset="0"/>
              </a:rPr>
              <a:t>3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1266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11267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1268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61F65B00-6619-4BF6-AC88-3898E24533A3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1269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11270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591BBABC-BC76-45A4-B31E-F5D8A0FE66F9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1271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FE46BE7F-66FC-4CA7-B206-F67667C2C981}" type="slidenum">
              <a:rPr sz="1000" i="1">
                <a:latin typeface="Times New Roman" pitchFamily="18" charset="0"/>
              </a:rPr>
              <a:t>4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3314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13315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3316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D5AFC7C6-666A-4A5A-B8F1-B9F136FD10CD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3317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13318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9B3DE109-D3FD-4C19-8DC0-669958E5C26C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3319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9DE3D3EC-CEF7-484F-8D0F-5003DA57D380}" type="slidenum">
              <a:rPr sz="1000" i="1">
                <a:latin typeface="Times New Roman" pitchFamily="18" charset="0"/>
              </a:rPr>
              <a:t>5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5362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15363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5364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1AD678CA-6611-410F-BC33-1AF69F7240A4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5365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15366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0FEA5CBE-DD37-4D07-B4CA-6915BB1A88A9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5367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40BBE165-EB8B-45B2-908D-F83B17D39312}" type="slidenum">
              <a:rPr sz="1000" i="1">
                <a:latin typeface="Times New Roman" pitchFamily="18" charset="0"/>
              </a:rPr>
              <a:t>6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7410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17411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7412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2754E731-4C93-486A-ACD6-EA3822777FEB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7413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17414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A5F65CA0-C6A4-4BB5-862C-A4CC0177B5DA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7415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DD4CB014-7EFA-4441-A454-AE920F7B7240}" type="slidenum">
              <a:rPr sz="1000" i="1">
                <a:latin typeface="Times New Roman" pitchFamily="18" charset="0"/>
              </a:rPr>
              <a:t>7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9458" name=""/>
          <p:cNvSpPr>
            <a:spLocks noTextEdit="1"/>
          </p:cNvSpPr>
          <p:nvPr>
            <p:ph type="sldImg" idx="2"/>
          </p:nvPr>
        </p:nvSpPr>
        <p:spPr>
          <a:xfrm>
            <a:off x="1133475" y="581025"/>
            <a:ext cx="4768850" cy="3619500"/>
          </a:xfrm>
          <a:noFill/>
          <a:ln w="12700" cap="flat" cmpd="sng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19459" name=""/>
          <p:cNvSpPr/>
          <p:nvPr>
            <p:ph type="body" idx="3"/>
          </p:nvPr>
        </p:nvSpPr>
        <p:spPr>
          <a:xfrm>
            <a:off x="938213" y="4325938"/>
            <a:ext cx="5159375" cy="4097337"/>
          </a:xfrm>
          <a:noFill/>
          <a:ln>
            <a:noFill/>
            <a:miter lim="800000"/>
          </a:ln>
          <a:effectLst/>
        </p:spPr>
        <p:txBody>
          <a:bodyPr vert="horz" wrap="square" lIns="95250" tIns="49213" rIns="95250" bIns="49213" anchor="t" anchorCtr="0">
            <a:noAutofit/>
          </a:bodyPr>
          <a:lstStyle>
            <a:lvl1pPr marL="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65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31862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97000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62138" indent="0" algn="l" defTabSz="949325" rtl="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9460" name=""/>
          <p:cNvSpPr>
            <a:spLocks noGrp="1"/>
          </p:cNvSpPr>
          <p:nvPr>
            <p:ph type="hdr" sz="quarter"/>
          </p:nvPr>
        </p:nvSpPr>
        <p:spPr/>
        <p:txBody>
          <a:bodyPr lIns="19050" tIns="0" rIns="19050" bIns="0">
            <a:noAutofit/>
          </a:bodyPr>
          <a:lstStyle/>
          <a:p>
            <a:pPr lvl="0" defTabSz="949325" eaLnBrk="0" hangingPunct="0"/>
            <a:fld id="{10A88B3C-7B70-4C4A-861D-021C8911C6CB}" type="head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9461" name=""/>
          <p:cNvSpPr>
            <a:spLocks noGrp="1"/>
          </p:cNvSpPr>
          <p:nvPr>
            <p:ph type="dt" idx="1"/>
          </p:nvPr>
        </p:nvSpPr>
        <p:spPr/>
        <p:txBody>
          <a:bodyPr lIns="19050" tIns="0" rIns="19050" bIns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endParaRPr sz="1000" i="1">
              <a:latin typeface="Times New Roman" pitchFamily="18" charset="0"/>
            </a:endParaRPr>
          </a:p>
        </p:txBody>
      </p:sp>
      <p:sp>
        <p:nvSpPr>
          <p:cNvPr id="19462" name=""/>
          <p:cNvSpPr>
            <a:spLocks noGrp="1"/>
          </p:cNvSpPr>
          <p:nvPr>
            <p:ph type="ftr" sz="quarter" idx="4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49325" eaLnBrk="0" hangingPunct="0"/>
            <a:fld id="{B6009925-C91F-4678-BD42-E261691540C8}" type="footer">
              <a:rPr sz="1000" i="1">
                <a:latin typeface="Times New Roman" pitchFamily="18" charset="0"/>
              </a:rPr>
              <a:t/>
            </a:fld>
            <a:endParaRPr sz="1000" i="1">
              <a:latin typeface="Times New Roman" pitchFamily="18" charset="0"/>
            </a:endParaRPr>
          </a:p>
        </p:txBody>
      </p:sp>
      <p:sp>
        <p:nvSpPr>
          <p:cNvPr id="19463" name=""/>
          <p:cNvSpPr>
            <a:spLocks noGrp="1"/>
          </p:cNvSpPr>
          <p:nvPr>
            <p:ph type="sldNum" sz="quarter" idx="5"/>
          </p:nvPr>
        </p:nvSpPr>
        <p:spPr/>
        <p:txBody>
          <a:bodyPr lIns="19050" tIns="0" rIns="19050" bIns="0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r" defTabSz="949325" eaLnBrk="0" hangingPunct="0"/>
            <a:fld id="{261E1227-FD41-4129-A96D-53F9B7D4E695}" type="slidenum">
              <a:rPr sz="1000" i="1">
                <a:latin typeface="Times New Roman" pitchFamily="18" charset="0"/>
              </a:rPr>
              <a:t>8</a:t>
            </a:fld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0" hangingPunct="0"/>
            <a:fld id="{93AE1883-0942-4AA3-9DB2-9C7C3A0314B1}" type="slidenum">
              <a:rPr sz="1400">
                <a:latin typeface="Times New Roman" pitchFamily="18" charset="0"/>
              </a:rPr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wmf" /><Relationship Id="rId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"/>
          <p:cNvSpPr>
            <a:spLocks noGrp="1"/>
          </p:cNvSpPr>
          <p:nvPr>
            <p:ph type="dt" sz="half" idx="2"/>
          </p:nvPr>
        </p:nvSpPr>
        <p:spPr>
          <a:xfrm>
            <a:off x="700088" y="6705600"/>
            <a:ext cx="20574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 anchor="ctr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27" name=""/>
          <p:cNvSpPr>
            <a:spLocks noGrp="1"/>
          </p:cNvSpPr>
          <p:nvPr>
            <p:ph type="ftr" sz="quarter" idx="3"/>
          </p:nvPr>
        </p:nvSpPr>
        <p:spPr>
          <a:xfrm>
            <a:off x="3290888" y="6705600"/>
            <a:ext cx="30480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 anchor="ctr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28" name=""/>
          <p:cNvSpPr>
            <a:spLocks noGrp="1"/>
          </p:cNvSpPr>
          <p:nvPr>
            <p:ph type="sldNum" sz="quarter" idx="4"/>
          </p:nvPr>
        </p:nvSpPr>
        <p:spPr>
          <a:xfrm>
            <a:off x="6872288" y="6705600"/>
            <a:ext cx="20574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 anchor="ctr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8102AF55-4D59-406C-8555-5D6C02A14D40}" type="slidenum">
              <a:rPr sz="1400">
                <a:latin typeface="Times New Roman" pitchFamily="18" charset="0"/>
              </a:rPr>
              <a:t>*</a:t>
            </a:fld>
            <a:endParaRPr sz="1400">
              <a:latin typeface="Times New Roman" pitchFamily="18" charset="0"/>
            </a:endParaRPr>
          </a:p>
        </p:txBody>
      </p:sp>
      <p:sp>
        <p:nvSpPr>
          <p:cNvPr id="1029" name=""/>
          <p:cNvSpPr>
            <a:spLocks noGrp="1"/>
          </p:cNvSpPr>
          <p:nvPr>
            <p:ph type="title"/>
          </p:nvPr>
        </p:nvSpPr>
        <p:spPr>
          <a:xfrm>
            <a:off x="1041400" y="650875"/>
            <a:ext cx="7545388" cy="1219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t>Slide Title</a:t>
            </a:r>
          </a:p>
        </p:txBody>
      </p:sp>
      <p:sp>
        <p:nvSpPr>
          <p:cNvPr id="1030" name=""/>
          <p:cNvSpPr>
            <a:spLocks noGrp="1"/>
          </p:cNvSpPr>
          <p:nvPr>
            <p:ph type="body" idx="1"/>
          </p:nvPr>
        </p:nvSpPr>
        <p:spPr>
          <a:xfrm>
            <a:off x="1041400" y="2111375"/>
            <a:ext cx="7545388" cy="4391025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/>
            <a:r>
              <a:t>Body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31" name=""/>
          <p:cNvSpPr/>
          <p:nvPr/>
        </p:nvSpPr>
        <p:spPr>
          <a:xfrm>
            <a:off x="752475" y="493713"/>
            <a:ext cx="8229600" cy="6450012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bg1"/>
            </a:solidFill>
            <a:miter lim="800000"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</p:sp>
      <p:sp>
        <p:nvSpPr>
          <p:cNvPr id="1032" name=""/>
          <p:cNvSpPr/>
          <p:nvPr/>
        </p:nvSpPr>
        <p:spPr>
          <a:xfrm>
            <a:off x="8170863" y="6954838"/>
            <a:ext cx="1443037" cy="32385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/>
            <a:r>
              <a:rPr sz="15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Aberdeen</a:t>
            </a:r>
            <a:r>
              <a:rPr sz="1500" i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Group</a:t>
            </a:r>
            <a:endParaRPr sz="1500" i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1033" name="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0" y="76200"/>
            <a:ext cx="1333500" cy="1377950"/>
          </a:xfrm>
          <a:prstGeom prst="rect">
            <a:avLst/>
          </a:prstGeom>
          <a:noFill/>
          <a:ln>
            <a:noFill/>
            <a:miter lim="800000"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hf sldNum="0" dt="0"/>
  <p:txStyles>
    <p:titleStyle>
      <a:lvl1pPr marL="0" indent="0" algn="ctr" defTabSz="960438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800" b="1" i="0" u="none" baseline="0">
          <a:solidFill>
            <a:schemeClr val="folHlink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Arial" pitchFamily="34" charset="0"/>
        </a:defRPr>
      </a:lvl1pPr>
    </p:titleStyle>
    <p:bodyStyle>
      <a:lvl1pPr marL="300038" indent="-300038" algn="l" defTabSz="9604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•"/>
        <a:defRPr kumimoji="0" sz="2500" b="1" i="0" u="none" baseline="0">
          <a:solidFill>
            <a:srgbClr val="414141"/>
          </a:solidFill>
          <a:effectLst/>
          <a:latin typeface="Arial" pitchFamily="34" charset="0"/>
          <a:ea typeface="Arial" pitchFamily="34" charset="0"/>
        </a:defRPr>
      </a:lvl1pPr>
      <a:lvl2pPr marL="720725" indent="-241300" algn="l" defTabSz="9604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–"/>
        <a:defRPr kumimoji="0" sz="1900" b="1" i="0" u="none" baseline="0">
          <a:solidFill>
            <a:srgbClr val="414141"/>
          </a:solidFill>
          <a:effectLst/>
          <a:latin typeface="Arial" pitchFamily="34" charset="0"/>
          <a:ea typeface="Arial" pitchFamily="34" charset="0"/>
        </a:defRPr>
      </a:lvl2pPr>
      <a:lvl3pPr marL="1200150" indent="-239712" algn="l" defTabSz="9604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»"/>
        <a:defRPr kumimoji="0" sz="1900" b="1" i="0" u="none" baseline="0">
          <a:solidFill>
            <a:srgbClr val="414141"/>
          </a:solidFill>
          <a:effectLst/>
          <a:latin typeface="Arial" pitchFamily="34" charset="0"/>
          <a:ea typeface="Arial" pitchFamily="34" charset="0"/>
        </a:defRPr>
      </a:lvl3pPr>
      <a:lvl4pPr marL="1620838" indent="-180975" algn="l" defTabSz="9604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•"/>
        <a:defRPr kumimoji="0" sz="1500" b="1" i="0" u="none" baseline="0">
          <a:solidFill>
            <a:srgbClr val="414141"/>
          </a:solidFill>
          <a:effectLst/>
          <a:latin typeface="Arial" pitchFamily="34" charset="0"/>
          <a:ea typeface="Arial" pitchFamily="34" charset="0"/>
        </a:defRPr>
      </a:lvl4pPr>
      <a:lvl5pPr marL="2100262" indent="-179388" algn="l" defTabSz="9604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Tx/>
        <a:buSzTx/>
        <a:buFontTx/>
        <a:buChar char="–"/>
        <a:defRPr kumimoji="0" sz="1500" b="1" i="0" u="none" baseline="0">
          <a:solidFill>
            <a:srgbClr val="414141"/>
          </a:solidFill>
          <a:effectLst/>
          <a:latin typeface="Arial" pitchFamily="34" charset="0"/>
          <a:ea typeface="Arial" pitchFamily="34" charset="0"/>
        </a:defRPr>
      </a:lvl5pPr>
    </p:bodyStyle>
    <p:otherStyle/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098" name=""/>
          <p:cNvSpPr/>
          <p:nvPr>
            <p:ph type="title"/>
          </p:nvPr>
        </p:nvSpPr>
        <p:spPr>
          <a:xfrm>
            <a:off x="1152525" y="762000"/>
            <a:ext cx="7510463" cy="944563"/>
          </a:xfrm>
          <a:prstGeom prst="roundRect">
            <a:avLst>
              <a:gd name="adj" fmla="val 12495"/>
            </a:avLst>
          </a:prstGeo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sp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 sz="5700">
                <a:solidFill>
                  <a:schemeClr val="hlink"/>
                </a:solidFill>
              </a:rPr>
              <a:t>Aberdeen Group</a:t>
            </a:r>
            <a:endParaRPr sz="5700">
              <a:solidFill>
                <a:schemeClr val="hlink"/>
              </a:solidFill>
            </a:endParaRPr>
          </a:p>
        </p:txBody>
      </p:sp>
      <p:sp>
        <p:nvSpPr>
          <p:cNvPr id="4099" name=""/>
          <p:cNvSpPr/>
          <p:nvPr>
            <p:ph type="body" idx="1"/>
          </p:nvPr>
        </p:nvSpPr>
        <p:spPr>
          <a:xfrm>
            <a:off x="1150938" y="4341813"/>
            <a:ext cx="7467600" cy="2519362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b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Peter S. Kastner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Aberdeen Group, Inc.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One Boston Place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Boston, MA 02108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617-723-7890 voice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617-723-7897 fax</a:t>
            </a:r>
            <a:endParaRPr sz="1800">
              <a:solidFill>
                <a:schemeClr val="tx1"/>
              </a:solidFill>
            </a:endParaRPr>
          </a:p>
          <a:p>
            <a:pPr lvl="0" algn="ctr">
              <a:lnSpc>
                <a:spcPct val="80000"/>
              </a:lnSpc>
              <a:buNone/>
            </a:pPr>
            <a:r>
              <a:rPr sz="1800">
                <a:solidFill>
                  <a:schemeClr val="tx1"/>
                </a:solidFill>
              </a:rPr>
              <a:t>www.aberdeen.com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4100" name=""/>
          <p:cNvSpPr/>
          <p:nvPr/>
        </p:nvSpPr>
        <p:spPr>
          <a:xfrm>
            <a:off x="2679700" y="2971800"/>
            <a:ext cx="5105400" cy="779463"/>
          </a:xfrm>
          <a:prstGeom prst="rect">
            <a:avLst/>
          </a:prstGeom>
          <a:noFill/>
          <a:ln>
            <a:noFill/>
            <a:miter lim="800000"/>
          </a:ln>
          <a:effectLst/>
        </p:spPr>
      </p:sp>
      <p:sp>
        <p:nvSpPr>
          <p:cNvPr id="4101" name=""/>
          <p:cNvSpPr/>
          <p:nvPr/>
        </p:nvSpPr>
        <p:spPr>
          <a:xfrm>
            <a:off x="1176338" y="2151063"/>
            <a:ext cx="7615237" cy="2473325"/>
          </a:xfrm>
          <a:prstGeom prst="roundRect">
            <a:avLst>
              <a:gd name="adj" fmla="val 12495"/>
            </a:avLst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960438" eaLnBrk="0" hangingPunct="0">
              <a:lnSpc>
                <a:spcPct val="90000"/>
              </a:lnSpc>
            </a:pPr>
            <a:r>
              <a:rPr sz="4000" b="1">
                <a:effectLst>
                  <a:outerShdw blurRad="38100" dist="38100" dir="2700000" algn="tl">
                    <a:srgbClr val="FFFFFF"/>
                  </a:outerShdw>
                </a:effectLst>
              </a:rPr>
              <a:t>Critical Planning Insights </a:t>
            </a:r>
            <a:endParaRPr sz="4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0" lvl="0" indent="0" algn="ctr" defTabSz="960438" eaLnBrk="0" hangingPunct="0">
              <a:lnSpc>
                <a:spcPct val="90000"/>
              </a:lnSpc>
            </a:pPr>
            <a:endParaRPr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0" lvl="0" indent="0" algn="ctr" defTabSz="960438" eaLnBrk="0" hangingPunct="0">
              <a:lnSpc>
                <a:spcPct val="90000"/>
              </a:lnSpc>
            </a:pPr>
            <a:r>
              <a:rPr sz="40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Into The </a:t>
            </a:r>
            <a:endParaRPr sz="4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0" lvl="0" indent="0" algn="ctr" defTabSz="960438" eaLnBrk="0" hangingPunct="0">
              <a:lnSpc>
                <a:spcPct val="90000"/>
              </a:lnSpc>
            </a:pPr>
            <a:endParaRPr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0" lvl="0" indent="0" algn="ctr" defTabSz="960438" eaLnBrk="0" hangingPunct="0">
              <a:lnSpc>
                <a:spcPct val="90000"/>
              </a:lnSpc>
            </a:pPr>
            <a:r>
              <a:rPr sz="4000" b="1">
                <a:effectLst>
                  <a:outerShdw blurRad="38100" dist="38100" dir="2700000" algn="tl">
                    <a:srgbClr val="FFFFFF"/>
                  </a:outerShdw>
                </a:effectLst>
              </a:rPr>
              <a:t>Dynamics Of Change</a:t>
            </a:r>
            <a:endParaRPr sz="4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1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41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17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3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5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7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9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charRg st="10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6146" name=""/>
          <p:cNvSpPr/>
          <p:nvPr>
            <p:ph type="title"/>
          </p:nvPr>
        </p:nvSpPr>
        <p:spPr>
          <a:xfrm>
            <a:off x="1041400" y="6508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>
                <a:solidFill>
                  <a:schemeClr val="hlink"/>
                </a:solidFill>
              </a:rPr>
              <a:t>Aberdeen Group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6147" name=""/>
          <p:cNvSpPr/>
          <p:nvPr>
            <p:ph type="body" idx="1"/>
          </p:nvPr>
        </p:nvSpPr>
        <p:spPr>
          <a:xfrm>
            <a:off x="1041400" y="2111375"/>
            <a:ext cx="7545388" cy="4391025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>
              <a:buNone/>
            </a:pPr>
            <a:r>
              <a:rPr sz="2800"/>
              <a:t>Agenda</a:t>
            </a:r>
          </a:p>
          <a:p>
            <a:pPr lvl="0">
              <a:buNone/>
            </a:pPr>
          </a:p>
          <a:p>
            <a:pPr lvl="0">
              <a:buNone/>
            </a:pPr>
            <a:r>
              <a:t>	About Aberdeen</a:t>
            </a:r>
          </a:p>
          <a:p>
            <a:pPr lvl="0">
              <a:buNone/>
            </a:pPr>
          </a:p>
          <a:p>
            <a:pPr lvl="0">
              <a:buNone/>
            </a:pPr>
            <a:r>
              <a:t>	Research Practices</a:t>
            </a:r>
          </a:p>
          <a:p>
            <a:pPr lvl="0">
              <a:buNone/>
            </a:pPr>
          </a:p>
          <a:p>
            <a:pPr lvl="0">
              <a:buNone/>
            </a:pPr>
            <a:r>
              <a:t>	Customized Services</a:t>
            </a:r>
            <a:br/>
            <a:br/>
            <a:br/>
            <a:r>
              <a:t>Mercury One-2-One</a:t>
            </a:r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8194" name=""/>
          <p:cNvSpPr/>
          <p:nvPr>
            <p:ph type="title"/>
          </p:nvPr>
        </p:nvSpPr>
        <p:spPr>
          <a:xfrm>
            <a:off x="1041400" y="6508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>
                <a:solidFill>
                  <a:schemeClr val="hlink"/>
                </a:solidFill>
              </a:rPr>
              <a:t>Aberdeen Group Charter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8195" name=""/>
          <p:cNvSpPr/>
          <p:nvPr>
            <p:ph type="body" idx="1"/>
          </p:nvPr>
        </p:nvSpPr>
        <p:spPr>
          <a:xfrm>
            <a:off x="1022350" y="2071688"/>
            <a:ext cx="7807325" cy="3373437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239712" indent="-239712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>
              <a:lnSpc>
                <a:spcPct val="80000"/>
              </a:lnSpc>
            </a:pPr>
            <a:r>
              <a:rPr sz="2400">
                <a:solidFill>
                  <a:schemeClr val="tx1"/>
                </a:solidFill>
              </a:rPr>
              <a:t>Founded in 1988 to provide custom consulting with a realistic business perspective</a:t>
            </a:r>
            <a:endParaRPr sz="2400">
              <a:solidFill>
                <a:schemeClr val="tx1"/>
              </a:solidFill>
            </a:endParaRPr>
          </a:p>
          <a:p>
            <a:pPr lvl="0">
              <a:lnSpc>
                <a:spcPct val="80000"/>
              </a:lnSpc>
              <a:buNone/>
            </a:pPr>
            <a:endParaRPr sz="2400">
              <a:solidFill>
                <a:schemeClr val="tx1"/>
              </a:solidFill>
            </a:endParaRPr>
          </a:p>
          <a:p>
            <a:pPr lvl="0">
              <a:lnSpc>
                <a:spcPct val="80000"/>
              </a:lnSpc>
            </a:pPr>
            <a:r>
              <a:rPr sz="2400">
                <a:solidFill>
                  <a:schemeClr val="tx1"/>
                </a:solidFill>
              </a:rPr>
              <a:t>Emphasis is on identifying and advancing the enterprise value of computing technologies</a:t>
            </a:r>
            <a:endParaRPr sz="2400">
              <a:solidFill>
                <a:schemeClr val="tx1"/>
              </a:solidFill>
            </a:endParaRPr>
          </a:p>
          <a:p>
            <a:pPr lvl="0">
              <a:lnSpc>
                <a:spcPct val="80000"/>
              </a:lnSpc>
              <a:buNone/>
            </a:pPr>
            <a:endParaRPr sz="2400">
              <a:solidFill>
                <a:schemeClr val="tx1"/>
              </a:solidFill>
            </a:endParaRPr>
          </a:p>
          <a:p>
            <a:pPr lvl="0">
              <a:lnSpc>
                <a:spcPct val="80000"/>
              </a:lnSpc>
            </a:pPr>
            <a:r>
              <a:rPr sz="2400">
                <a:solidFill>
                  <a:schemeClr val="tx1"/>
                </a:solidFill>
              </a:rPr>
              <a:t>Provide market and technology dynamics assessment to both technology user and supplier clients</a:t>
            </a:r>
            <a:br>
              <a:rPr sz="2400">
                <a:solidFill>
                  <a:schemeClr val="tx1"/>
                </a:solidFill>
              </a:rPr>
            </a:br>
            <a:endParaRPr sz="2400">
              <a:solidFill>
                <a:schemeClr val="tx1"/>
              </a:solidFill>
            </a:endParaRPr>
          </a:p>
          <a:p>
            <a:pPr lvl="0">
              <a:lnSpc>
                <a:spcPct val="80000"/>
              </a:lnSpc>
            </a:pPr>
            <a:r>
              <a:rPr sz="2400">
                <a:solidFill>
                  <a:schemeClr val="tx1"/>
                </a:solidFill>
              </a:rPr>
              <a:t>Custom-research orientation compared with on-size-fits-all approach of other market researchers</a:t>
            </a:r>
            <a:endParaRPr sz="2400">
              <a:solidFill>
                <a:schemeClr val="tx1"/>
              </a:solidFill>
            </a:endParaRPr>
          </a:p>
          <a:p>
            <a:pPr lvl="0">
              <a:buNone/>
            </a:pPr>
            <a:endParaRPr sz="2400">
              <a:solidFill>
                <a:schemeClr val="tx1"/>
              </a:solidFill>
            </a:endParaRPr>
          </a:p>
        </p:txBody>
      </p:sp>
      <p:sp>
        <p:nvSpPr>
          <p:cNvPr id="81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242" name=""/>
          <p:cNvSpPr/>
          <p:nvPr>
            <p:ph type="title"/>
          </p:nvPr>
        </p:nvSpPr>
        <p:spPr>
          <a:xfrm>
            <a:off x="1041400" y="8032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hlink"/>
                </a:solidFill>
              </a:rPr>
              <a:t>Aberdeen Group</a:t>
            </a:r>
            <a:br>
              <a:rPr>
                <a:solidFill>
                  <a:schemeClr val="tx1"/>
                </a:solidFill>
              </a:rPr>
            </a:br>
            <a:r>
              <a:rPr sz="2800">
                <a:solidFill>
                  <a:schemeClr val="tx1"/>
                </a:solidFill>
              </a:rPr>
              <a:t> </a:t>
            </a:r>
            <a:br>
              <a:rPr sz="2800">
                <a:solidFill>
                  <a:schemeClr val="tx1"/>
                </a:solidFill>
              </a:rPr>
            </a:br>
            <a:r>
              <a:rPr sz="2800">
                <a:solidFill>
                  <a:schemeClr val="tx1"/>
                </a:solidFill>
              </a:rPr>
              <a:t>Resource To The Industry</a:t>
            </a:r>
            <a:br>
              <a:rPr sz="2800">
                <a:solidFill>
                  <a:schemeClr val="tx1"/>
                </a:solidFill>
              </a:rPr>
            </a:br>
            <a:endParaRPr sz="2800">
              <a:solidFill>
                <a:schemeClr val="tx1"/>
              </a:solidFill>
            </a:endParaRPr>
          </a:p>
        </p:txBody>
      </p:sp>
      <p:sp>
        <p:nvSpPr>
          <p:cNvPr id="10243" name=""/>
          <p:cNvSpPr/>
          <p:nvPr>
            <p:ph type="body" idx="1"/>
          </p:nvPr>
        </p:nvSpPr>
        <p:spPr>
          <a:xfrm>
            <a:off x="1041400" y="2492375"/>
            <a:ext cx="7545388" cy="4391025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>
              <a:buNone/>
            </a:pPr>
            <a:r>
              <a:rPr i="1"/>
              <a:t>Education, Clarification and Quotation</a:t>
            </a:r>
            <a:r>
              <a:t> </a:t>
            </a:r>
          </a:p>
          <a:p>
            <a:pPr lvl="0" algn="ctr">
              <a:buNone/>
            </a:pPr>
          </a:p>
          <a:p>
            <a:pPr lvl="0"/>
            <a:r>
              <a:t>Business Press</a:t>
            </a:r>
          </a:p>
          <a:p>
            <a:pPr lvl="1"/>
            <a:r>
              <a:t>Wall St. Journal, NY Times, Fortune, Forbes, and more</a:t>
            </a:r>
          </a:p>
          <a:p>
            <a:pPr lvl="0"/>
            <a:r>
              <a:t>Industry Press</a:t>
            </a:r>
          </a:p>
          <a:p>
            <a:pPr lvl="1"/>
            <a:r>
              <a:t>Computerworld, Software Magazine, Datamation, and more</a:t>
            </a:r>
          </a:p>
          <a:p>
            <a:pPr lvl="0"/>
            <a:r>
              <a:t>Financial Community</a:t>
            </a:r>
          </a:p>
          <a:p>
            <a:pPr lvl="1"/>
            <a:r>
              <a:t>Financial Analysts, Venture Capital Groups, and more</a:t>
            </a:r>
          </a:p>
        </p:txBody>
      </p:sp>
      <p:sp>
        <p:nvSpPr>
          <p:cNvPr id="102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"/>
          <p:cNvSpPr/>
          <p:nvPr>
            <p:ph type="title"/>
          </p:nvPr>
        </p:nvSpPr>
        <p:spPr>
          <a:xfrm>
            <a:off x="1239838" y="663575"/>
            <a:ext cx="7346950" cy="1144588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defPPr>
              <a:tabLst>
                <a:tab pos="960438"/>
              </a:tabLst>
            </a:defPPr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  <a:lvl2pPr>
              <a:defRPr lang="en-US" altLang="en-US"/>
            </a:lvl2pPr>
            <a:lvl3pPr>
              <a:defRPr lang="en-US" altLang="en-US"/>
            </a:lvl3pPr>
            <a:lvl4pPr>
              <a:defRPr lang="en-US" altLang="en-US"/>
            </a:lvl4pPr>
            <a:lvl5pPr>
              <a:defRPr lang="en-US" altLang="en-US"/>
            </a:lvl5pPr>
          </a:lstStyle>
          <a:p>
            <a:pPr lvl="0"/>
            <a:r>
              <a:rPr>
                <a:solidFill>
                  <a:schemeClr val="tx1"/>
                </a:solidFill>
              </a:rPr>
              <a:t>Critical Technology Practices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291" name=""/>
          <p:cNvSpPr/>
          <p:nvPr/>
        </p:nvSpPr>
        <p:spPr>
          <a:xfrm>
            <a:off x="3235325" y="3313113"/>
            <a:ext cx="3254375" cy="1474787"/>
          </a:xfrm>
          <a:prstGeom prst="ellipse">
            <a:avLst/>
          </a:prstGeom>
          <a:solidFill>
            <a:srgbClr val="A2C1FE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17475" tIns="58738" rIns="117475" bIns="58738" anchor="ctr" anchorCtr="1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1152525" eaLnBrk="0" hangingPunct="0">
              <a:spcBef>
                <a:spcPct val="50000"/>
              </a:spcBef>
            </a:pPr>
            <a:r>
              <a:rPr sz="3000" b="1">
                <a:latin typeface="Times New Roman" pitchFamily="18" charset="0"/>
              </a:rPr>
              <a:t>Enterprise Topology</a:t>
            </a:r>
            <a:endParaRPr sz="3000" b="1">
              <a:latin typeface="Times New Roman" pitchFamily="18" charset="0"/>
            </a:endParaRPr>
          </a:p>
        </p:txBody>
      </p:sp>
      <p:sp>
        <p:nvSpPr>
          <p:cNvPr id="12292" name=""/>
          <p:cNvSpPr/>
          <p:nvPr/>
        </p:nvSpPr>
        <p:spPr>
          <a:xfrm>
            <a:off x="925513" y="4978400"/>
            <a:ext cx="2287587" cy="1292225"/>
          </a:xfrm>
          <a:prstGeom prst="cube">
            <a:avLst>
              <a:gd name="adj" fmla="val 24995"/>
            </a:avLst>
          </a:prstGeom>
          <a:solidFill>
            <a:srgbClr val="C0FEF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17475" tIns="58738" rIns="117475" bIns="58738" anchor="ctr" anchorCtr="1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1152525" eaLnBrk="0" hangingPunct="0">
              <a:spcBef>
                <a:spcPct val="50000"/>
              </a:spcBef>
            </a:pPr>
            <a:r>
              <a:rPr sz="2100" b="1">
                <a:latin typeface="Times New Roman" pitchFamily="18" charset="0"/>
              </a:rPr>
              <a:t>Application Development &amp; Acquisition</a:t>
            </a:r>
            <a:endParaRPr sz="2100" b="1">
              <a:latin typeface="Times New Roman" pitchFamily="18" charset="0"/>
            </a:endParaRPr>
          </a:p>
        </p:txBody>
      </p:sp>
      <p:cxnSp>
        <p:nvCxnSpPr>
          <p:cNvPr id="12293" name=""/>
          <p:cNvCxnSpPr/>
          <p:nvPr/>
        </p:nvCxnSpPr>
        <p:spPr>
          <a:xfrm flipH="1">
            <a:off x="1925638" y="3657600"/>
            <a:ext cx="0" cy="10366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4" name=""/>
          <p:cNvCxnSpPr/>
          <p:nvPr/>
        </p:nvCxnSpPr>
        <p:spPr>
          <a:xfrm flipH="1">
            <a:off x="7170738" y="3657600"/>
            <a:ext cx="0" cy="10366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5" name=""/>
          <p:cNvCxnSpPr/>
          <p:nvPr/>
        </p:nvCxnSpPr>
        <p:spPr>
          <a:xfrm flipH="1">
            <a:off x="3924300" y="2713038"/>
            <a:ext cx="1819275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6" name=""/>
          <p:cNvCxnSpPr/>
          <p:nvPr/>
        </p:nvCxnSpPr>
        <p:spPr>
          <a:xfrm flipH="1">
            <a:off x="3924300" y="5578475"/>
            <a:ext cx="1819275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7" name=""/>
          <p:cNvCxnSpPr/>
          <p:nvPr/>
        </p:nvCxnSpPr>
        <p:spPr>
          <a:xfrm flipH="1">
            <a:off x="6173788" y="3322638"/>
            <a:ext cx="352425" cy="227012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8" name=""/>
          <p:cNvCxnSpPr/>
          <p:nvPr/>
        </p:nvCxnSpPr>
        <p:spPr>
          <a:xfrm>
            <a:off x="6389688" y="4554538"/>
            <a:ext cx="227012" cy="35242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299" name=""/>
          <p:cNvCxnSpPr/>
          <p:nvPr/>
        </p:nvCxnSpPr>
        <p:spPr>
          <a:xfrm flipH="1" flipV="1">
            <a:off x="3036888" y="3333750"/>
            <a:ext cx="227012" cy="35242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cxnSp>
        <p:nvCxnSpPr>
          <p:cNvPr id="12300" name=""/>
          <p:cNvCxnSpPr/>
          <p:nvPr/>
        </p:nvCxnSpPr>
        <p:spPr>
          <a:xfrm flipV="1">
            <a:off x="3354388" y="4692650"/>
            <a:ext cx="352425" cy="227013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  <a:effectLst/>
        </p:spPr>
      </p:cxnSp>
      <p:sp>
        <p:nvSpPr>
          <p:cNvPr id="12301" name=""/>
          <p:cNvSpPr/>
          <p:nvPr/>
        </p:nvSpPr>
        <p:spPr>
          <a:xfrm>
            <a:off x="6411913" y="4978400"/>
            <a:ext cx="2287587" cy="1292225"/>
          </a:xfrm>
          <a:prstGeom prst="cube">
            <a:avLst>
              <a:gd name="adj" fmla="val 24995"/>
            </a:avLst>
          </a:prstGeom>
          <a:solidFill>
            <a:srgbClr val="C0FEF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17475" tIns="58738" rIns="117475" bIns="58738" anchor="ctr" anchorCtr="1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1152525" eaLnBrk="0" hangingPunct="0">
              <a:spcBef>
                <a:spcPct val="50000"/>
              </a:spcBef>
            </a:pPr>
            <a:r>
              <a:rPr sz="2100" b="1">
                <a:latin typeface="Times New Roman" pitchFamily="18" charset="0"/>
              </a:rPr>
              <a:t>Networking &amp; Systems Mgt.</a:t>
            </a:r>
            <a:endParaRPr sz="2100" b="1">
              <a:latin typeface="Times New Roman" pitchFamily="18" charset="0"/>
            </a:endParaRPr>
          </a:p>
        </p:txBody>
      </p:sp>
      <p:sp>
        <p:nvSpPr>
          <p:cNvPr id="12302" name=""/>
          <p:cNvSpPr/>
          <p:nvPr/>
        </p:nvSpPr>
        <p:spPr>
          <a:xfrm>
            <a:off x="6564313" y="2006600"/>
            <a:ext cx="2287587" cy="1292225"/>
          </a:xfrm>
          <a:prstGeom prst="cube">
            <a:avLst>
              <a:gd name="adj" fmla="val 24995"/>
            </a:avLst>
          </a:prstGeom>
          <a:solidFill>
            <a:srgbClr val="C0FEF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17475" tIns="58738" rIns="117475" bIns="58738" anchor="ctr" anchorCtr="1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1152525" eaLnBrk="0" hangingPunct="0">
              <a:spcBef>
                <a:spcPct val="50000"/>
              </a:spcBef>
            </a:pPr>
            <a:r>
              <a:rPr sz="2100" b="1">
                <a:latin typeface="Times New Roman" pitchFamily="18" charset="0"/>
              </a:rPr>
              <a:t>Systems Software</a:t>
            </a:r>
            <a:endParaRPr sz="2100" b="1">
              <a:latin typeface="Times New Roman" pitchFamily="18" charset="0"/>
            </a:endParaRPr>
          </a:p>
        </p:txBody>
      </p:sp>
      <p:sp>
        <p:nvSpPr>
          <p:cNvPr id="12303" name=""/>
          <p:cNvSpPr/>
          <p:nvPr/>
        </p:nvSpPr>
        <p:spPr>
          <a:xfrm>
            <a:off x="925513" y="2006600"/>
            <a:ext cx="2287587" cy="1292225"/>
          </a:xfrm>
          <a:prstGeom prst="cube">
            <a:avLst>
              <a:gd name="adj" fmla="val 24995"/>
            </a:avLst>
          </a:prstGeom>
          <a:solidFill>
            <a:srgbClr val="C0FEF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17475" tIns="58738" rIns="117475" bIns="58738" anchor="ctr" anchorCtr="1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1152525" eaLnBrk="0" hangingPunct="0">
              <a:spcBef>
                <a:spcPct val="50000"/>
              </a:spcBef>
            </a:pPr>
            <a:r>
              <a:rPr sz="2100" b="1">
                <a:latin typeface="Times New Roman" pitchFamily="18" charset="0"/>
              </a:rPr>
              <a:t>Hardware</a:t>
            </a:r>
            <a:endParaRPr sz="2100" b="1">
              <a:latin typeface="Times New Roman" pitchFamily="18" charset="0"/>
            </a:endParaRPr>
          </a:p>
        </p:txBody>
      </p:sp>
      <p:sp>
        <p:nvSpPr>
          <p:cNvPr id="123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23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"/>
          <p:cNvSpPr/>
          <p:nvPr/>
        </p:nvSpPr>
        <p:spPr>
          <a:xfrm>
            <a:off x="1100138" y="3497263"/>
            <a:ext cx="7646987" cy="1319212"/>
          </a:xfrm>
          <a:prstGeom prst="ellipse">
            <a:avLst/>
          </a:prstGeom>
          <a:solidFill>
            <a:srgbClr val="A2C1FE"/>
          </a:solidFill>
          <a:ln w="12700">
            <a:solidFill>
              <a:schemeClr val="tx1"/>
            </a:solidFill>
            <a:miter lim="800000"/>
          </a:ln>
          <a:effectLst>
            <a:outerShdw dist="107763" dir="2700000" algn="ctr">
              <a:schemeClr val="folHlink">
                <a:alpha val="50000"/>
              </a:schemeClr>
            </a:outerShdw>
          </a:effectLst>
        </p:spPr>
      </p:sp>
      <p:grpSp>
        <p:nvGrpSpPr>
          <p:cNvPr id="14343" name=""/>
          <p:cNvGrpSpPr/>
          <p:nvPr/>
        </p:nvGrpSpPr>
        <p:grpSpPr>
          <a:xfrm>
            <a:off x="1169988" y="4073525"/>
            <a:ext cx="7661275" cy="1997075"/>
            <a:chOff x="737" y="2566"/>
            <a:chExt cx="4826" cy="1258"/>
          </a:xfrm>
        </p:grpSpPr>
        <p:sp>
          <p:nvSpPr>
            <p:cNvPr id="14339" name=""/>
            <p:cNvSpPr/>
            <p:nvPr/>
          </p:nvSpPr>
          <p:spPr>
            <a:xfrm>
              <a:off x="737" y="2566"/>
              <a:ext cx="163" cy="936"/>
            </a:xfrm>
            <a:custGeom>
              <a:pathLst>
                <a:path w="163" h="936">
                  <a:moveTo>
                    <a:pt x="162" y="857"/>
                  </a:moveTo>
                  <a:lnTo>
                    <a:pt x="162" y="0"/>
                  </a:lnTo>
                  <a:lnTo>
                    <a:pt x="0" y="82"/>
                  </a:lnTo>
                  <a:lnTo>
                    <a:pt x="0" y="935"/>
                  </a:lnTo>
                  <a:lnTo>
                    <a:pt x="162" y="857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A2C1FE"/>
                </a:gs>
                <a:gs pos="100000">
                  <a:schemeClr val="bg1"/>
                </a:gs>
              </a:gsLst>
              <a:lin ang="5400000" scaled="1"/>
            </a:gradFill>
            <a:ln w="25400" cap="rnd" cmpd="sng">
              <a:solidFill>
                <a:schemeClr val="tx1"/>
              </a:solidFill>
              <a:prstDash val="solid"/>
              <a:round/>
            </a:ln>
            <a:effectLst>
              <a:outerShdw dist="107763" dir="2700000" algn="ctr">
                <a:schemeClr val="folHlink">
                  <a:alpha val="50000"/>
                </a:schemeClr>
              </a:outerShdw>
            </a:effectLst>
          </p:spPr>
        </p:sp>
        <p:sp>
          <p:nvSpPr>
            <p:cNvPr id="14340" name=""/>
            <p:cNvSpPr/>
            <p:nvPr/>
          </p:nvSpPr>
          <p:spPr>
            <a:xfrm>
              <a:off x="737" y="3423"/>
              <a:ext cx="2476" cy="400"/>
            </a:xfrm>
            <a:custGeom>
              <a:pathLst>
                <a:path w="2476" h="400">
                  <a:moveTo>
                    <a:pt x="0" y="78"/>
                  </a:moveTo>
                  <a:lnTo>
                    <a:pt x="162" y="0"/>
                  </a:lnTo>
                  <a:lnTo>
                    <a:pt x="2475" y="330"/>
                  </a:lnTo>
                  <a:lnTo>
                    <a:pt x="2347" y="399"/>
                  </a:lnTo>
                  <a:lnTo>
                    <a:pt x="0" y="78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A2C1FE"/>
                </a:gs>
                <a:gs pos="100000">
                  <a:schemeClr val="bg1"/>
                </a:gs>
              </a:gsLst>
              <a:lin ang="5400000" scaled="1"/>
            </a:gradFill>
            <a:ln w="25400" cap="rnd" cmpd="sng">
              <a:solidFill>
                <a:schemeClr val="tx1"/>
              </a:solidFill>
              <a:prstDash val="solid"/>
              <a:round/>
            </a:ln>
            <a:effectLst>
              <a:outerShdw dist="107763" dir="2700000" algn="ctr">
                <a:schemeClr val="folHlink">
                  <a:alpha val="50000"/>
                </a:schemeClr>
              </a:outerShdw>
            </a:effectLst>
          </p:spPr>
        </p:sp>
        <p:sp>
          <p:nvSpPr>
            <p:cNvPr id="14341" name=""/>
            <p:cNvSpPr/>
            <p:nvPr/>
          </p:nvSpPr>
          <p:spPr>
            <a:xfrm>
              <a:off x="3079" y="3433"/>
              <a:ext cx="2484" cy="391"/>
            </a:xfrm>
            <a:custGeom>
              <a:pathLst>
                <a:path w="2484" h="391">
                  <a:moveTo>
                    <a:pt x="0" y="390"/>
                  </a:moveTo>
                  <a:lnTo>
                    <a:pt x="130" y="320"/>
                  </a:lnTo>
                  <a:lnTo>
                    <a:pt x="2483" y="0"/>
                  </a:lnTo>
                  <a:lnTo>
                    <a:pt x="2328" y="74"/>
                  </a:lnTo>
                  <a:lnTo>
                    <a:pt x="0" y="390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A2C1FE"/>
                </a:gs>
                <a:gs pos="100000">
                  <a:schemeClr val="bg1"/>
                </a:gs>
              </a:gsLst>
              <a:lin ang="5400000" scaled="1"/>
            </a:gradFill>
            <a:ln w="25400" cap="rnd" cmpd="sng">
              <a:solidFill>
                <a:schemeClr val="tx1"/>
              </a:solidFill>
              <a:prstDash val="solid"/>
              <a:round/>
            </a:ln>
            <a:effectLst>
              <a:outerShdw dist="107763" dir="2700000" algn="ctr">
                <a:schemeClr val="folHlink">
                  <a:alpha val="50000"/>
                </a:schemeClr>
              </a:outerShdw>
            </a:effectLst>
          </p:spPr>
        </p:sp>
        <p:sp>
          <p:nvSpPr>
            <p:cNvPr id="14342" name=""/>
            <p:cNvSpPr/>
            <p:nvPr/>
          </p:nvSpPr>
          <p:spPr>
            <a:xfrm>
              <a:off x="899" y="2566"/>
              <a:ext cx="4664" cy="1189"/>
            </a:xfrm>
            <a:custGeom>
              <a:pathLst>
                <a:path w="4664" h="1189">
                  <a:moveTo>
                    <a:pt x="0" y="858"/>
                  </a:moveTo>
                  <a:lnTo>
                    <a:pt x="0" y="0"/>
                  </a:lnTo>
                  <a:lnTo>
                    <a:pt x="2325" y="322"/>
                  </a:lnTo>
                  <a:lnTo>
                    <a:pt x="4663" y="0"/>
                  </a:lnTo>
                  <a:lnTo>
                    <a:pt x="4663" y="867"/>
                  </a:lnTo>
                  <a:lnTo>
                    <a:pt x="2311" y="1188"/>
                  </a:lnTo>
                  <a:lnTo>
                    <a:pt x="0" y="858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A2C1FE"/>
                </a:gs>
                <a:gs pos="100000">
                  <a:schemeClr val="bg1"/>
                </a:gs>
              </a:gsLst>
              <a:lin ang="5400000" scaled="1"/>
            </a:gradFill>
            <a:ln w="25400" cap="rnd" cmpd="sng">
              <a:solidFill>
                <a:schemeClr val="tx1"/>
              </a:solidFill>
              <a:prstDash val="solid"/>
              <a:round/>
            </a:ln>
            <a:effectLst>
              <a:outerShdw dist="107763" dir="2700000" algn="ctr">
                <a:schemeClr val="folHlink">
                  <a:alpha val="50000"/>
                </a:schemeClr>
              </a:outerShdw>
            </a:effectLst>
          </p:spPr>
        </p:sp>
      </p:grpSp>
      <p:sp>
        <p:nvSpPr>
          <p:cNvPr id="14344" name=""/>
          <p:cNvSpPr/>
          <p:nvPr/>
        </p:nvSpPr>
        <p:spPr>
          <a:xfrm>
            <a:off x="1384300" y="4922838"/>
            <a:ext cx="1219200" cy="3540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sz="1700" b="1">
                <a:latin typeface="Times New Roman" pitchFamily="18" charset="0"/>
              </a:rPr>
              <a:t>RBDMS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45" name=""/>
          <p:cNvSpPr/>
          <p:nvPr/>
        </p:nvSpPr>
        <p:spPr>
          <a:xfrm>
            <a:off x="1384300" y="4343400"/>
            <a:ext cx="3124200" cy="369888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Supply Chain Management</a:t>
            </a:r>
            <a:endParaRPr b="1">
              <a:latin typeface="Times New Roman" pitchFamily="18" charset="0"/>
            </a:endParaRPr>
          </a:p>
        </p:txBody>
      </p:sp>
      <p:sp>
        <p:nvSpPr>
          <p:cNvPr id="14346" name=""/>
          <p:cNvSpPr/>
          <p:nvPr/>
        </p:nvSpPr>
        <p:spPr>
          <a:xfrm>
            <a:off x="2374900" y="5129213"/>
            <a:ext cx="2362200" cy="369887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Client-Server</a:t>
            </a:r>
            <a:r>
              <a:rPr sz="1700" b="1">
                <a:latin typeface="Times New Roman" pitchFamily="18" charset="0"/>
              </a:rPr>
              <a:t> Tools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47" name=""/>
          <p:cNvSpPr/>
          <p:nvPr/>
        </p:nvSpPr>
        <p:spPr>
          <a:xfrm>
            <a:off x="4279900" y="4800600"/>
            <a:ext cx="1139825" cy="369888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Objects</a:t>
            </a:r>
            <a:endParaRPr b="1">
              <a:latin typeface="Times New Roman" pitchFamily="18" charset="0"/>
            </a:endParaRPr>
          </a:p>
        </p:txBody>
      </p:sp>
      <p:sp>
        <p:nvSpPr>
          <p:cNvPr id="14348" name=""/>
          <p:cNvSpPr/>
          <p:nvPr/>
        </p:nvSpPr>
        <p:spPr>
          <a:xfrm>
            <a:off x="7013575" y="5157788"/>
            <a:ext cx="747713" cy="3540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sz="1700" b="1">
                <a:latin typeface="Times New Roman" pitchFamily="18" charset="0"/>
              </a:rPr>
              <a:t>ERP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49" name=""/>
          <p:cNvSpPr/>
          <p:nvPr/>
        </p:nvSpPr>
        <p:spPr>
          <a:xfrm>
            <a:off x="7361238" y="4256088"/>
            <a:ext cx="1331912" cy="3540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sz="1700" b="1">
                <a:latin typeface="Times New Roman" pitchFamily="18" charset="0"/>
              </a:rPr>
              <a:t>Networking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50" name=""/>
          <p:cNvSpPr/>
          <p:nvPr/>
        </p:nvSpPr>
        <p:spPr>
          <a:xfrm>
            <a:off x="939800" y="749300"/>
            <a:ext cx="7824788" cy="216535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960438" eaLnBrk="0" hangingPunct="0">
              <a:spcBef>
                <a:spcPct val="50000"/>
              </a:spcBef>
            </a:pPr>
            <a:r>
              <a:rPr sz="3400" b="1">
                <a:latin typeface="Times New Roman" pitchFamily="18" charset="0"/>
              </a:rPr>
              <a:t>Aberdeen Provides Solutions</a:t>
            </a:r>
            <a:endParaRPr sz="3400" b="1">
              <a:latin typeface="Times New Roman" pitchFamily="18" charset="0"/>
            </a:endParaRPr>
          </a:p>
          <a:p>
            <a:pPr marL="0" lvl="0" indent="0" algn="ctr" defTabSz="960438" eaLnBrk="0" hangingPunct="0">
              <a:spcBef>
                <a:spcPct val="50000"/>
              </a:spcBef>
            </a:pPr>
            <a:r>
              <a:rPr sz="3400" b="1">
                <a:latin typeface="Times New Roman" pitchFamily="18" charset="0"/>
              </a:rPr>
              <a:t>Where Customers Have Focused</a:t>
            </a:r>
            <a:endParaRPr sz="3400" b="1">
              <a:latin typeface="Times New Roman" pitchFamily="18" charset="0"/>
            </a:endParaRPr>
          </a:p>
          <a:p>
            <a:pPr marL="0" lvl="0" indent="0" algn="ctr" defTabSz="960438" eaLnBrk="0" hangingPunct="0">
              <a:spcBef>
                <a:spcPct val="50000"/>
              </a:spcBef>
            </a:pPr>
            <a:r>
              <a:rPr sz="3400" b="1">
                <a:latin typeface="Times New Roman" pitchFamily="18" charset="0"/>
              </a:rPr>
              <a:t>Their Planning Energies</a:t>
            </a:r>
            <a:endParaRPr sz="3400" b="1">
              <a:latin typeface="Times New Roman" pitchFamily="18" charset="0"/>
            </a:endParaRPr>
          </a:p>
        </p:txBody>
      </p:sp>
      <p:sp>
        <p:nvSpPr>
          <p:cNvPr id="14351" name=""/>
          <p:cNvSpPr/>
          <p:nvPr/>
        </p:nvSpPr>
        <p:spPr>
          <a:xfrm>
            <a:off x="3289300" y="3733800"/>
            <a:ext cx="3527425" cy="384175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algn="ctr" defTabSz="960438" eaLnBrk="0" hangingPunct="0">
              <a:spcBef>
                <a:spcPct val="50000"/>
              </a:spcBef>
            </a:pPr>
            <a:r>
              <a:rPr sz="1900" b="1">
                <a:latin typeface="Times New Roman" pitchFamily="18" charset="0"/>
              </a:rPr>
              <a:t>Client &amp; Server Platforms</a:t>
            </a:r>
            <a:endParaRPr sz="1900" b="1">
              <a:latin typeface="Times New Roman" pitchFamily="18" charset="0"/>
            </a:endParaRPr>
          </a:p>
        </p:txBody>
      </p:sp>
      <p:sp>
        <p:nvSpPr>
          <p:cNvPr id="14352" name=""/>
          <p:cNvSpPr/>
          <p:nvPr/>
        </p:nvSpPr>
        <p:spPr>
          <a:xfrm>
            <a:off x="6184900" y="4800600"/>
            <a:ext cx="2819400" cy="3667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Client-Server Solutions</a:t>
            </a:r>
            <a:endParaRPr b="1">
              <a:latin typeface="Times New Roman" pitchFamily="18" charset="0"/>
            </a:endParaRPr>
          </a:p>
        </p:txBody>
      </p:sp>
      <p:sp>
        <p:nvSpPr>
          <p:cNvPr id="14353" name=""/>
          <p:cNvSpPr/>
          <p:nvPr/>
        </p:nvSpPr>
        <p:spPr>
          <a:xfrm>
            <a:off x="6261100" y="5334000"/>
            <a:ext cx="1524000" cy="3667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Workflow</a:t>
            </a:r>
            <a:endParaRPr b="1">
              <a:latin typeface="Times New Roman" pitchFamily="18" charset="0"/>
            </a:endParaRPr>
          </a:p>
        </p:txBody>
      </p:sp>
      <p:sp>
        <p:nvSpPr>
          <p:cNvPr id="14354" name=""/>
          <p:cNvSpPr/>
          <p:nvPr/>
        </p:nvSpPr>
        <p:spPr>
          <a:xfrm>
            <a:off x="5118100" y="4953000"/>
            <a:ext cx="1143000" cy="3667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Security</a:t>
            </a:r>
            <a:endParaRPr b="1">
              <a:latin typeface="Times New Roman" pitchFamily="18" charset="0"/>
            </a:endParaRPr>
          </a:p>
        </p:txBody>
      </p:sp>
      <p:sp>
        <p:nvSpPr>
          <p:cNvPr id="14355" name=""/>
          <p:cNvSpPr/>
          <p:nvPr/>
        </p:nvSpPr>
        <p:spPr>
          <a:xfrm>
            <a:off x="7632700" y="4572000"/>
            <a:ext cx="1139825" cy="369888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OLAP</a:t>
            </a:r>
            <a:endParaRPr b="1">
              <a:latin typeface="Times New Roman" pitchFamily="18" charset="0"/>
            </a:endParaRPr>
          </a:p>
        </p:txBody>
      </p:sp>
      <p:sp>
        <p:nvSpPr>
          <p:cNvPr id="14356" name=""/>
          <p:cNvSpPr/>
          <p:nvPr/>
        </p:nvSpPr>
        <p:spPr>
          <a:xfrm>
            <a:off x="5270500" y="4495800"/>
            <a:ext cx="2286000" cy="366713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System Management</a:t>
            </a:r>
            <a:endParaRPr b="1">
              <a:latin typeface="Times New Roman" pitchFamily="18" charset="0"/>
            </a:endParaRPr>
          </a:p>
        </p:txBody>
      </p:sp>
      <p:sp>
        <p:nvSpPr>
          <p:cNvPr id="14357" name=""/>
          <p:cNvSpPr/>
          <p:nvPr/>
        </p:nvSpPr>
        <p:spPr>
          <a:xfrm>
            <a:off x="2070100" y="4648200"/>
            <a:ext cx="3200400" cy="369888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6838" tIns="47625" rIns="96838" bIns="47625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marL="0" lvl="0" indent="0" defTabSz="960438" eaLnBrk="0" hangingPunc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Electronic Commerce</a:t>
            </a:r>
            <a:endParaRPr b="1">
              <a:latin typeface="Times New Roman" pitchFamily="18" charset="0"/>
            </a:endParaRPr>
          </a:p>
        </p:txBody>
      </p:sp>
      <p:sp>
        <p:nvSpPr>
          <p:cNvPr id="14358" name=""/>
          <p:cNvSpPr/>
          <p:nvPr/>
        </p:nvSpPr>
        <p:spPr>
          <a:xfrm>
            <a:off x="7847013" y="5157788"/>
            <a:ext cx="488950" cy="36671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b="1">
                <a:latin typeface="Times New Roman" pitchFamily="18" charset="0"/>
              </a:rPr>
              <a:t>OS</a:t>
            </a:r>
            <a:endParaRPr b="1">
              <a:latin typeface="Times New Roman" pitchFamily="18" charset="0"/>
            </a:endParaRPr>
          </a:p>
        </p:txBody>
      </p:sp>
      <p:sp>
        <p:nvSpPr>
          <p:cNvPr id="14359" name=""/>
          <p:cNvSpPr/>
          <p:nvPr/>
        </p:nvSpPr>
        <p:spPr>
          <a:xfrm>
            <a:off x="6094413" y="5094288"/>
            <a:ext cx="976312" cy="350837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700" b="1">
                <a:latin typeface="Times New Roman" pitchFamily="18" charset="0"/>
              </a:rPr>
              <a:t>Wireless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60" name=""/>
          <p:cNvSpPr/>
          <p:nvPr/>
        </p:nvSpPr>
        <p:spPr>
          <a:xfrm>
            <a:off x="3198813" y="5399088"/>
            <a:ext cx="2181225" cy="350837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700" b="1">
                <a:latin typeface="Times New Roman" pitchFamily="18" charset="0"/>
              </a:rPr>
              <a:t>Customer Interaction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61" name=""/>
          <p:cNvSpPr/>
          <p:nvPr/>
        </p:nvSpPr>
        <p:spPr>
          <a:xfrm>
            <a:off x="4418013" y="5627688"/>
            <a:ext cx="1431925" cy="350837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r>
              <a:rPr sz="1700" b="1">
                <a:latin typeface="Times New Roman" pitchFamily="18" charset="0"/>
              </a:rPr>
              <a:t>Conferencing</a:t>
            </a:r>
            <a:endParaRPr sz="1700" b="1">
              <a:latin typeface="Times New Roman" pitchFamily="18" charset="0"/>
            </a:endParaRPr>
          </a:p>
        </p:txBody>
      </p:sp>
      <p:sp>
        <p:nvSpPr>
          <p:cNvPr id="143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43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"/>
          <p:cNvSpPr/>
          <p:nvPr>
            <p:ph type="body" idx="1"/>
          </p:nvPr>
        </p:nvSpPr>
        <p:spPr>
          <a:xfrm>
            <a:off x="1093788" y="2424113"/>
            <a:ext cx="7639050" cy="2627312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/>
            <a:r>
              <a:rPr>
                <a:solidFill>
                  <a:schemeClr val="tx1"/>
                </a:solidFill>
              </a:rPr>
              <a:t>Aberdeen RAMP </a:t>
            </a:r>
            <a:endParaRPr>
              <a:solidFill>
                <a:schemeClr val="tx1"/>
              </a:solidFill>
            </a:endParaRPr>
          </a:p>
          <a:p>
            <a:pPr lvl="0">
              <a:buNone/>
            </a:pPr>
            <a:r>
              <a:rPr>
                <a:solidFill>
                  <a:schemeClr val="tx1"/>
                </a:solidFill>
              </a:rPr>
              <a:t>		(Rapid Accurate Market Positioning)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Aberdeen Focus Groups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Aberdeen Surveys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Ongoing Consultation - Professional Executive Services  Clients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Regular Briefings - Cross-Industry IT Supplier Executives</a:t>
            </a:r>
            <a:endParaRPr>
              <a:solidFill>
                <a:schemeClr val="tx1"/>
              </a:solidFill>
            </a:endParaRPr>
          </a:p>
          <a:p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6387" name=""/>
          <p:cNvSpPr/>
          <p:nvPr>
            <p:ph type="title"/>
          </p:nvPr>
        </p:nvSpPr>
        <p:spPr>
          <a:xfrm>
            <a:off x="1041400" y="6508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>
                <a:solidFill>
                  <a:schemeClr val="hlink"/>
                </a:solidFill>
              </a:rPr>
              <a:t>Aberdeen Group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Research Methods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3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15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5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7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92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6">
                                            <p:txEl>
                                              <p:charRg st="156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8434" name=""/>
          <p:cNvSpPr/>
          <p:nvPr>
            <p:ph type="title"/>
          </p:nvPr>
        </p:nvSpPr>
        <p:spPr>
          <a:xfrm>
            <a:off x="1041400" y="8032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>
                <a:solidFill>
                  <a:schemeClr val="hlink"/>
                </a:solidFill>
              </a:rPr>
              <a:t>Aberdeen Group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Custom Consulting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435" name=""/>
          <p:cNvSpPr/>
          <p:nvPr>
            <p:ph type="body" idx="1"/>
          </p:nvPr>
        </p:nvSpPr>
        <p:spPr>
          <a:xfrm>
            <a:off x="946150" y="2339975"/>
            <a:ext cx="7905750" cy="3744913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>
              <a:buNone/>
            </a:pPr>
            <a:r>
              <a:rPr sz="2900" i="1">
                <a:solidFill>
                  <a:schemeClr val="tx1"/>
                </a:solidFill>
              </a:rPr>
              <a:t>For IT Users and Business Executives:</a:t>
            </a:r>
            <a:endParaRPr sz="2900">
              <a:solidFill>
                <a:schemeClr val="tx1"/>
              </a:solidFill>
            </a:endParaRPr>
          </a:p>
          <a:p>
            <a:pPr lvl="0">
              <a:buNone/>
            </a:pPr>
            <a:r>
              <a:rPr sz="1400">
                <a:solidFill>
                  <a:schemeClr val="tx1"/>
                </a:solidFill>
              </a:rPr>
              <a:t> </a:t>
            </a:r>
            <a:endParaRPr sz="1400">
              <a:solidFill>
                <a:schemeClr val="tx1"/>
              </a:solidFill>
            </a:endParaRPr>
          </a:p>
          <a:p>
            <a:pPr lvl="0"/>
            <a:r>
              <a:rPr sz="2900">
                <a:solidFill>
                  <a:schemeClr val="tx1"/>
                </a:solidFill>
              </a:rPr>
              <a:t>IT Audits and Reviews</a:t>
            </a:r>
            <a:endParaRPr sz="2900">
              <a:solidFill>
                <a:schemeClr val="tx1"/>
              </a:solidFill>
            </a:endParaRPr>
          </a:p>
          <a:p>
            <a:pPr lvl="0"/>
            <a:r>
              <a:rPr sz="2900">
                <a:solidFill>
                  <a:schemeClr val="tx1"/>
                </a:solidFill>
              </a:rPr>
              <a:t>Evaluation of New Market Opportunities  </a:t>
            </a:r>
            <a:endParaRPr sz="2900">
              <a:solidFill>
                <a:schemeClr val="tx1"/>
              </a:solidFill>
            </a:endParaRPr>
          </a:p>
          <a:p>
            <a:pPr lvl="0"/>
            <a:r>
              <a:rPr sz="2900">
                <a:solidFill>
                  <a:schemeClr val="tx1"/>
                </a:solidFill>
              </a:rPr>
              <a:t>Strategic and Tactical IT Planning </a:t>
            </a:r>
            <a:endParaRPr sz="2900">
              <a:solidFill>
                <a:schemeClr val="tx1"/>
              </a:solidFill>
            </a:endParaRPr>
          </a:p>
          <a:p>
            <a:pPr lvl="0"/>
            <a:r>
              <a:rPr sz="2900">
                <a:solidFill>
                  <a:schemeClr val="tx1"/>
                </a:solidFill>
              </a:rPr>
              <a:t>Acquisition and Evaluation Support</a:t>
            </a:r>
            <a:endParaRPr sz="2900">
              <a:solidFill>
                <a:schemeClr val="tx1"/>
              </a:solidFill>
            </a:endParaRPr>
          </a:p>
          <a:p>
            <a:pPr lvl="0"/>
            <a:r>
              <a:rPr sz="2900">
                <a:solidFill>
                  <a:schemeClr val="tx1"/>
                </a:solidFill>
              </a:rPr>
              <a:t>Implementation Strategies</a:t>
            </a:r>
            <a:endParaRPr sz="2900">
              <a:solidFill>
                <a:schemeClr val="tx1"/>
              </a:solidFill>
            </a:endParaRPr>
          </a:p>
        </p:txBody>
      </p:sp>
      <p:sp>
        <p:nvSpPr>
          <p:cNvPr id="18436" name=""/>
          <p:cNvSpPr/>
          <p:nvPr/>
        </p:nvSpPr>
        <p:spPr>
          <a:xfrm>
            <a:off x="1187450" y="815975"/>
            <a:ext cx="7545388" cy="1219200"/>
          </a:xfrm>
          <a:prstGeom prst="rect">
            <a:avLst/>
          </a:prstGeom>
          <a:noFill/>
          <a:ln>
            <a:noFill/>
            <a:miter lim="800000"/>
          </a:ln>
          <a:effectLst/>
        </p:spPr>
      </p:sp>
      <p:sp>
        <p:nvSpPr>
          <p:cNvPr id="184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84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0482" name=""/>
          <p:cNvSpPr/>
          <p:nvPr>
            <p:ph type="title"/>
          </p:nvPr>
        </p:nvSpPr>
        <p:spPr>
          <a:xfrm>
            <a:off x="1041400" y="650875"/>
            <a:ext cx="7545388" cy="1219200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ctr" anchorCtr="0">
            <a:noAutofit/>
          </a:bodyPr>
          <a:lstStyle>
            <a:lvl1pPr marL="0" indent="0" algn="ctr" defTabSz="96043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800" b="1" i="0" u="none" baseline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Arial" pitchFamily="34" charset="0"/>
              </a:defRPr>
            </a:lvl1pPr>
          </a:lstStyle>
          <a:p>
            <a:pPr lvl="0"/>
            <a:r>
              <a:rPr>
                <a:solidFill>
                  <a:schemeClr val="hlink"/>
                </a:solidFill>
              </a:rPr>
              <a:t>Mercury One-2-One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0483" name=""/>
          <p:cNvSpPr/>
          <p:nvPr>
            <p:ph type="body" idx="1"/>
          </p:nvPr>
        </p:nvSpPr>
        <p:spPr>
          <a:xfrm>
            <a:off x="1041400" y="2111375"/>
            <a:ext cx="7545388" cy="4391025"/>
          </a:xfrm>
          <a:noFill/>
          <a:ln>
            <a:noFill/>
            <a:miter lim="800000"/>
          </a:ln>
          <a:effectLst/>
        </p:spPr>
        <p:txBody>
          <a:bodyPr vert="horz" wrap="square" lIns="96838" tIns="47625" rIns="96838" bIns="47625" anchor="t" anchorCtr="0">
            <a:noAutofit/>
          </a:bodyPr>
          <a:lstStyle>
            <a:lvl1pPr marL="300038" indent="-30003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720725" indent="-241300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1200150" indent="-239712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9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620838" indent="-180975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2100262" indent="-179388" algn="l" defTabSz="9604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500" b="1" i="0" u="none" baseline="0">
                <a:solidFill>
                  <a:srgbClr val="41414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/>
            <a:r>
              <a:t>Client-server technology</a:t>
            </a:r>
          </a:p>
          <a:p>
            <a:pPr lvl="0"/>
            <a:r>
              <a:t>Networking &amp; comms</a:t>
            </a:r>
          </a:p>
          <a:p>
            <a:pPr lvl="0"/>
            <a:r>
              <a:t>Desktop</a:t>
            </a:r>
          </a:p>
          <a:p>
            <a:pPr lvl="0"/>
            <a:r>
              <a:t>Strategic vendor partners</a:t>
            </a:r>
          </a:p>
          <a:p>
            <a:pPr lvl="0"/>
            <a:r>
              <a:t>Next steps ...</a:t>
            </a:r>
          </a:p>
        </p:txBody>
      </p:sp>
      <p:sp>
        <p:nvSpPr>
          <p:cNvPr id="204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ECECE"/>
      </a:accent1>
      <a:accent2>
        <a:srgbClr val="D49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18FFD"/>
      </a:hlink>
      <a:folHlink>
        <a:srgbClr val="DADADA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999933"/>
        </a:lt2>
        <a:accent1>
          <a:srgbClr val="339933"/>
        </a:accent1>
        <a:accent2>
          <a:srgbClr val="8000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33CC"/>
        </a:hlink>
        <a:folHlink>
          <a:srgbClr val="FFCC66"/>
        </a:folHlink>
      </a:clrScheme>
      <a:clrMap bg1="lt1" tx1="dk1" bg2="dk2" tx2="lt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C0128"/>
      </a:hlink>
      <a:folHlink>
        <a:srgbClr val="CECECE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C0128"/>
      </a:hlink>
      <a:folHlink>
        <a:srgbClr val="CECECE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Custom</PresentationFormat>
  <Paragraphs>76</Paragraphs>
  <Slides>9</Slides>
  <Notes>8</Notes>
  <TotalTime>59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13">
      <vt:lpstr>Arial</vt:lpstr>
      <vt:lpstr>Times New Roman</vt:lpstr>
      <vt:lpstr>Calibri</vt:lpstr>
      <vt:lpstr>Default Design</vt:lpstr>
      <vt:lpstr>Aberdeen Group</vt:lpstr>
      <vt:lpstr>Aberdeen Group</vt:lpstr>
      <vt:lpstr>Aberdeen Group Charter</vt:lpstr>
      <vt:lpstr>Aberdeen Group Resource To The Industry</vt:lpstr>
      <vt:lpstr>Critical Technology Practices</vt:lpstr>
      <vt:lpstr>PowerPoint Presentation</vt:lpstr>
      <vt:lpstr>Aberdeen GroupResearch Methods</vt:lpstr>
      <vt:lpstr>Aberdeen GroupCustom Consulting</vt:lpstr>
      <vt:lpstr>Mercury One-2-One</vt:lpstr>
    </vt:vector>
  </TitlesOfParts>
  <LinksUpToDate>0</LinksUpToDate>
  <SharedDoc>0</SharedDoc>
  <HyperlinksChanged>0</HyperlinksChanged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Planning Meeting</dc:title>
  <cp:category>sales</cp:category>
  <dc:description>November 28th, 1996 London, UK</dc:description>
  <cp:keywords>sales mercury one2one</cp:keywords>
  <cp:revision>4</cp:revision>
  <cp:lastPrinted>1996-11-26T19:38:38.640</cp:lastPrinted>
  <dcterms:created xsi:type="dcterms:W3CDTF">1996-03-19T11:08:28Z</dcterms:created>
  <dcterms:modified xsi:type="dcterms:W3CDTF">2024-06-14T00:32:55Z</dcterms:modified>
</cp:coreProperties>
</file>