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6" r:id="rId2"/>
    <p:sldId id="257" r:id="rId3"/>
    <p:sldId id="263" r:id="rId4"/>
    <p:sldId id="264" r:id="rId5"/>
    <p:sldId id="262" r:id="rId6"/>
    <p:sldId id="258" r:id="rId7"/>
    <p:sldId id="266" r:id="rId8"/>
    <p:sldId id="278" r:id="rId9"/>
    <p:sldId id="270" r:id="rId10"/>
    <p:sldId id="281" r:id="rId11"/>
    <p:sldId id="279" r:id="rId12"/>
    <p:sldId id="283" r:id="rId13"/>
    <p:sldId id="259" r:id="rId14"/>
    <p:sldId id="260" r:id="rId15"/>
    <p:sldId id="274" r:id="rId16"/>
    <p:sldId id="276" r:id="rId17"/>
    <p:sldId id="268" r:id="rId18"/>
    <p:sldId id="288" r:id="rId19"/>
    <p:sldId id="284" r:id="rId20"/>
    <p:sldId id="285" r:id="rId21"/>
    <p:sldId id="261" r:id="rId22"/>
    <p:sldId id="287" r:id="rId23"/>
  </p:sldIdLst>
  <p:sldSz cx="9144000" cy="6858000" type="screen4x3"/>
  <p:notesSz cx="6858000" cy="9180513"/>
  <p:custDataLst>
    <p:tags r:id="rId26"/>
  </p:custDataLst>
  <p:defaultTextStyle>
    <a:defPPr>
      <a:defRPr lang="en-US"/>
    </a:defPPr>
    <a:lvl1pPr marL="0" indent="0" algn="l" defTabSz="914400" rtl="0" eaLnBrk="1" fontAlgn="base" hangingPunct="1">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sz="1800" b="0" i="0" u="none" baseline="0">
        <a:solidFill>
          <a:schemeClr val="tx1"/>
        </a:solidFill>
        <a:effectLst/>
        <a:latin typeface="Arial" pitchFamily="34" charset="0"/>
        <a:ea typeface="Arial" pitchFamily="34" charset="0"/>
      </a:defRPr>
    </a:lvl5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94660"/>
  </p:normalViewPr>
  <p:slideViewPr>
    <p:cSldViewPr>
      <p:cViewPr varScale="1">
        <p:scale>
          <a:sx n="56" d="100"/>
          <a:sy n="56" d="100"/>
        </p:scale>
        <p:origin x="0" y="0"/>
      </p:cViewPr>
      <p:guideLst/>
    </p:cSldViewPr>
  </p:slideViewPr>
  <p:notesViewPr>
    <p:cSldViewPr>
      <p:cViewPr varScale="1">
        <p:scale>
          <a:sx n="96" d="100"/>
          <a:sy n="96" d="100"/>
        </p:scale>
        <p:origin x="4328"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Header Placeholder 3073"/>
          <p:cNvSpPr>
            <a:spLocks noGrp="1"/>
          </p:cNvSpPr>
          <p:nvPr>
            <p:ph type="hdr" sz="quarter"/>
          </p:nvPr>
        </p:nvSpPr>
        <p:spPr>
          <a:xfrm>
            <a:off x="0" y="17463"/>
            <a:ext cx="2971800" cy="457200"/>
          </a:xfrm>
          <a:prstGeom prst="rect">
            <a:avLst/>
          </a:prstGeom>
          <a:noFill/>
          <a:ln>
            <a:noFill/>
            <a:miter lim="800000"/>
          </a:ln>
          <a:effectLst/>
        </p:spPr>
        <p:txBody>
          <a:bodyPr lIns="19050" tIns="0" rIns="19050" bIns="0">
            <a:noAutofit/>
          </a:bodyPr>
          <a:lstStyle/>
          <a:p>
            <a:pPr lvl="0" eaLnBrk="0" hangingPunct="0"/>
            <a:fld id="{85532276-F65A-437E-ADDE-DE32D9394DA6}" type="header">
              <a:rPr sz="1000" i="1"/>
              <a:t>*</a:t>
            </a:fld>
            <a:endParaRPr sz="1000" i="1"/>
          </a:p>
        </p:txBody>
      </p:sp>
      <p:sp>
        <p:nvSpPr>
          <p:cNvPr id="3075" name="Date Placeholder 3074"/>
          <p:cNvSpPr>
            <a:spLocks noGrp="1"/>
          </p:cNvSpPr>
          <p:nvPr>
            <p:ph type="dt" sz="quarter" idx="1"/>
          </p:nvPr>
        </p:nvSpPr>
        <p:spPr>
          <a:xfrm>
            <a:off x="3886200" y="17463"/>
            <a:ext cx="2971800" cy="457200"/>
          </a:xfrm>
          <a:prstGeom prst="rect">
            <a:avLst/>
          </a:prstGeom>
          <a:noFill/>
          <a:ln>
            <a:noFill/>
            <a:miter lim="800000"/>
          </a:ln>
          <a:effectLst/>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36E3D217-F475-494D-BA90-9C15E4C565AD}" type="datetime1">
              <a:rPr lang="en-US" sz="1000" i="1"/>
              <a:t>6/13/24</a:t>
            </a:fld>
            <a:endParaRPr sz="1000" i="1"/>
          </a:p>
        </p:txBody>
      </p:sp>
      <p:sp>
        <p:nvSpPr>
          <p:cNvPr id="3076" name="Footer Placeholder 3075"/>
          <p:cNvSpPr>
            <a:spLocks noGrp="1"/>
          </p:cNvSpPr>
          <p:nvPr>
            <p:ph type="ftr" sz="quarter" idx="2"/>
          </p:nvPr>
        </p:nvSpPr>
        <p:spPr>
          <a:xfrm>
            <a:off x="0" y="8704263"/>
            <a:ext cx="2971800" cy="457200"/>
          </a:xfrm>
          <a:prstGeom prst="rect">
            <a:avLst/>
          </a:prstGeom>
          <a:noFill/>
          <a:ln>
            <a:noFill/>
            <a:miter lim="800000"/>
          </a:ln>
          <a:effectLst/>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3B5C4FBA-875C-4077-9BFF-FE916DDEBBE1}" type="footer">
              <a:rPr sz="1000" i="1"/>
              <a:t>*</a:t>
            </a:fld>
            <a:endParaRPr sz="1000" i="1"/>
          </a:p>
        </p:txBody>
      </p:sp>
      <p:sp>
        <p:nvSpPr>
          <p:cNvPr id="3077" name="Slide Number Placeholder 3076"/>
          <p:cNvSpPr>
            <a:spLocks noGrp="1"/>
          </p:cNvSpPr>
          <p:nvPr>
            <p:ph type="sldNum" sz="quarter" idx="3"/>
          </p:nvPr>
        </p:nvSpPr>
        <p:spPr>
          <a:xfrm>
            <a:off x="3886200" y="8704263"/>
            <a:ext cx="2971800" cy="457200"/>
          </a:xfrm>
          <a:prstGeom prst="rect">
            <a:avLst/>
          </a:prstGeom>
          <a:noFill/>
          <a:ln>
            <a:noFill/>
            <a:miter lim="800000"/>
          </a:ln>
          <a:effectLst/>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C1138A7E-EDAC-400B-9103-B6F21CC5F321}" type="slidenum">
              <a:rPr sz="1000" i="1"/>
              <a:t>‹#›</a:t>
            </a:fld>
            <a:endParaRPr sz="1000" i="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Header Placeholder 2049"/>
          <p:cNvSpPr>
            <a:spLocks noGrp="1"/>
          </p:cNvSpPr>
          <p:nvPr>
            <p:ph type="hdr" sz="quarter"/>
          </p:nvPr>
        </p:nvSpPr>
        <p:spPr>
          <a:xfrm>
            <a:off x="0" y="17463"/>
            <a:ext cx="2971800" cy="457200"/>
          </a:xfrm>
          <a:prstGeom prst="rect">
            <a:avLst/>
          </a:prstGeom>
          <a:noFill/>
          <a:ln>
            <a:noFill/>
            <a:miter lim="800000"/>
          </a:ln>
          <a:effectLst/>
        </p:spPr>
        <p:txBody>
          <a:bodyPr lIns="19050" tIns="0" rIns="19050" bIns="0">
            <a:noAutofit/>
          </a:bodyPr>
          <a:lstStyle/>
          <a:p>
            <a:pPr lvl="0" eaLnBrk="0" hangingPunct="0"/>
            <a:fld id="{C419A042-DF4E-4AD6-B9B9-938C60228863}" type="header">
              <a:rPr sz="1000" i="1"/>
              <a:t>​</a:t>
            </a:fld>
            <a:endParaRPr sz="1000" i="1"/>
          </a:p>
        </p:txBody>
      </p:sp>
      <p:sp>
        <p:nvSpPr>
          <p:cNvPr id="2051" name="Date Placeholder 2050"/>
          <p:cNvSpPr>
            <a:spLocks noGrp="1"/>
          </p:cNvSpPr>
          <p:nvPr>
            <p:ph type="dt" idx="1"/>
          </p:nvPr>
        </p:nvSpPr>
        <p:spPr>
          <a:xfrm>
            <a:off x="3886200" y="17463"/>
            <a:ext cx="2971800" cy="457200"/>
          </a:xfrm>
          <a:prstGeom prst="rect">
            <a:avLst/>
          </a:prstGeom>
          <a:noFill/>
          <a:ln>
            <a:noFill/>
            <a:miter lim="800000"/>
          </a:ln>
          <a:effectLst/>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052" name="Slide Image Placeholder 2051"/>
          <p:cNvSpPr>
            <a:spLocks noGrp="1" noRot="1" noChangeAspect="1" noTextEdit="1"/>
          </p:cNvSpPr>
          <p:nvPr>
            <p:ph type="sldImg" idx="2"/>
          </p:nvPr>
        </p:nvSpPr>
        <p:spPr>
          <a:xfrm>
            <a:off x="1149350" y="709613"/>
            <a:ext cx="4559300" cy="3416300"/>
          </a:xfrm>
          <a:prstGeom prst="rect">
            <a:avLst/>
          </a:prstGeom>
          <a:noFill/>
          <a:ln w="12700">
            <a:solidFill>
              <a:schemeClr val="tx1"/>
            </a:solidFill>
            <a:miter lim="800000"/>
          </a:ln>
          <a:effectLst/>
        </p:spPr>
      </p:sp>
      <p:sp>
        <p:nvSpPr>
          <p:cNvPr id="2053" name="Notes Placeholder 2052"/>
          <p:cNvSpPr>
            <a:spLocks noGrp="1"/>
          </p:cNvSpPr>
          <p:nvPr>
            <p:ph type="body" sz="quarter" idx="3"/>
          </p:nvPr>
        </p:nvSpPr>
        <p:spPr>
          <a:xfrm>
            <a:off x="914400" y="4360863"/>
            <a:ext cx="5029200" cy="4114800"/>
          </a:xfrm>
          <a:prstGeom prst="rect">
            <a:avLst/>
          </a:prstGeom>
          <a:noFill/>
          <a:ln>
            <a:noFill/>
            <a:miter lim="800000"/>
          </a:ln>
          <a:effectLst/>
        </p:spPr>
        <p:txBody>
          <a:bodyPr lIns="92075" tIns="46038" rIns="92075" bIns="46038">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Click to edit Master text styles</a:t>
            </a:r>
          </a:p>
          <a:p>
            <a:pPr lvl="1"/>
            <a:r>
              <a:t>Second level</a:t>
            </a:r>
          </a:p>
          <a:p>
            <a:pPr lvl="2"/>
            <a:r>
              <a:t>Third level</a:t>
            </a:r>
          </a:p>
          <a:p>
            <a:pPr lvl="3"/>
            <a:r>
              <a:t>Fourth level</a:t>
            </a:r>
          </a:p>
          <a:p>
            <a:pPr lvl="4"/>
            <a:r>
              <a:t>Fifth level</a:t>
            </a:r>
          </a:p>
        </p:txBody>
      </p:sp>
      <p:sp>
        <p:nvSpPr>
          <p:cNvPr id="2054" name="Footer Placeholder 2053"/>
          <p:cNvSpPr>
            <a:spLocks noGrp="1"/>
          </p:cNvSpPr>
          <p:nvPr>
            <p:ph type="ftr" sz="quarter" idx="4"/>
          </p:nvPr>
        </p:nvSpPr>
        <p:spPr>
          <a:xfrm>
            <a:off x="0" y="8704263"/>
            <a:ext cx="2971800" cy="457200"/>
          </a:xfrm>
          <a:prstGeom prst="rect">
            <a:avLst/>
          </a:prstGeom>
          <a:noFill/>
          <a:ln>
            <a:noFill/>
            <a:miter lim="800000"/>
          </a:ln>
          <a:effectLst/>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DA8B530D-A346-4E0A-98FE-0E532B6F8282}" type="footer">
              <a:rPr sz="1000" i="1"/>
              <a:t>(c) Aberdeen Group, Inc., 1996</a:t>
            </a:fld>
            <a:endParaRPr sz="1000" i="1"/>
          </a:p>
        </p:txBody>
      </p:sp>
      <p:sp>
        <p:nvSpPr>
          <p:cNvPr id="2055" name="Slide Number Placeholder 2054"/>
          <p:cNvSpPr>
            <a:spLocks noGrp="1"/>
          </p:cNvSpPr>
          <p:nvPr>
            <p:ph type="sldNum" sz="quarter" idx="5"/>
          </p:nvPr>
        </p:nvSpPr>
        <p:spPr>
          <a:xfrm>
            <a:off x="3886200" y="8704263"/>
            <a:ext cx="2971800" cy="457200"/>
          </a:xfrm>
          <a:prstGeom prst="rect">
            <a:avLst/>
          </a:prstGeom>
          <a:noFill/>
          <a:ln>
            <a:noFill/>
            <a:miter lim="800000"/>
          </a:ln>
          <a:effectLst/>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A08C5CA9-813B-449D-9062-92F0134EE865}" type="slidenum">
              <a:rPr sz="1000" i="1"/>
              <a:t>‹#›</a:t>
            </a:fld>
            <a:endParaRPr sz="1000" i="1"/>
          </a:p>
        </p:txBody>
      </p:sp>
    </p:spTree>
  </p:cSld>
  <p:clrMap bg1="lt1" tx1="dk1" bg2="lt2" tx2="dk2" accent1="accent1" accent2="accent2" accent3="accent3" accent4="accent4" accent5="accent5" accent6="accent6" hlink="hlink" folHlink="folHlink"/>
  <p:hf/>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5121"/>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5123" name="Notes Placeholder 5122"/>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It has taken most organizations at least a decade to deploy workgroup collaboration systems (i.e., groupware), yet complaints about costs, security, manageability, and interoperability are all too common.  And many suppliers (e.g., Novell) lack a clear vision of the future.  </a:t>
            </a:r>
          </a:p>
          <a:p>
            <a:pPr lvl="0"/>
            <a:r>
              <a:t>Aberdeen Group’s research indicates workgroup collaboration will quickly spread far beyond the workgroup’s cubicles -- across the enterprise via Intranets and to customers and suppliers via the Internet.  This will create challenges an opportunities that IT organizations should understand.  Moreover, new approaches such as Oracle’s InterOffice will play a pivotal role in the proliferation of worldwide collaboration systems</a:t>
            </a:r>
          </a:p>
          <a:p>
            <a:pPr lvl="0"/>
            <a:endParaRPr/>
          </a:p>
          <a:p>
            <a:pPr lvl="0"/>
            <a:r>
              <a:rPr b="1"/>
              <a:t>-  Bio and responsbilities</a:t>
            </a:r>
          </a:p>
          <a:p>
            <a:pPr lvl="0"/>
            <a:r>
              <a:rPr b="1"/>
              <a:t>- Aberdeen Group Inc at www.aberdeen.com</a:t>
            </a:r>
          </a:p>
          <a:p>
            <a:pPr lvl="0"/>
            <a:r>
              <a:rPr b="1"/>
              <a:t>- </a:t>
            </a:r>
            <a:r>
              <a:rPr b="1" i="1"/>
              <a:t>Oracle InterOffice -- Helping IS deploy solutions to business partners and customers over the Internet </a:t>
            </a:r>
            <a:r>
              <a:rPr b="1"/>
              <a:t>-- ask for free copy</a:t>
            </a:r>
          </a:p>
        </p:txBody>
      </p:sp>
      <p:sp>
        <p:nvSpPr>
          <p:cNvPr id="5124" name="Header Placeholder 5123"/>
          <p:cNvSpPr>
            <a:spLocks noGrp="1"/>
          </p:cNvSpPr>
          <p:nvPr>
            <p:ph type="hdr" sz="quarter"/>
          </p:nvPr>
        </p:nvSpPr>
        <p:spPr/>
        <p:txBody>
          <a:bodyPr lIns="19050" tIns="0" rIns="19050" bIns="0">
            <a:noAutofit/>
          </a:bodyPr>
          <a:lstStyle/>
          <a:p>
            <a:pPr lvl="0" eaLnBrk="0" hangingPunct="0"/>
            <a:fld id="{382753D8-41C5-40AB-A5F8-FA02FE71515C}" type="header">
              <a:rPr sz="1000" i="1"/>
              <a:t>​</a:t>
            </a:fld>
            <a:endParaRPr sz="1000" i="1"/>
          </a:p>
        </p:txBody>
      </p:sp>
      <p:sp>
        <p:nvSpPr>
          <p:cNvPr id="5125" name="Date Placeholder 5124"/>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5126" name="Footer Placeholder 5125"/>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88DF8909-1C85-48D9-8F14-433D423CC5FA}" type="footer">
              <a:rPr sz="1000" i="1"/>
              <a:t>(c) Aberdeen Group, Inc., 1996</a:t>
            </a:fld>
            <a:endParaRPr sz="1000" i="1"/>
          </a:p>
        </p:txBody>
      </p:sp>
      <p:sp>
        <p:nvSpPr>
          <p:cNvPr id="5127" name="Slide Number Placeholder 5126"/>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1B751FA8-C3A0-4529-9F02-056DF003BA1D}" type="slidenum">
              <a:rPr sz="1000" i="1"/>
              <a:t>1</a:t>
            </a:fld>
            <a:endParaRPr sz="1000" i="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7169"/>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7171" name="Notes Placeholder 7170"/>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This talk is aimed at IT executives who are thinking about new ideas (hate the Paradigm word) for how to think about, plan, and execute a successful reengineering strategy that opens up the Enterprise to customers, supplioers, and other workers.</a:t>
            </a:r>
          </a:p>
          <a:p>
            <a:pPr lvl="0"/>
            <a:r>
              <a:t>Workgroup and collaboration products have been aroud for almost 20 years.  When did you first use e-mail?</a:t>
            </a:r>
          </a:p>
          <a:p>
            <a:pPr lvl="0"/>
            <a:r>
              <a:t>But past experiences will not work in our fast changing world</a:t>
            </a:r>
          </a:p>
          <a:p>
            <a:endParaRPr/>
          </a:p>
          <a:p>
            <a:pPr lvl="0"/>
            <a:r>
              <a:t>We will look at the workgroup collaboration market</a:t>
            </a:r>
          </a:p>
          <a:p>
            <a:pPr lvl="0"/>
            <a:r>
              <a:t>-  Business, market, and technology trends that will change our thinking</a:t>
            </a:r>
          </a:p>
          <a:p>
            <a:pPr lvl="0"/>
            <a:r>
              <a:t>-  Discuss how to set technology requirements for your Enterprise</a:t>
            </a:r>
          </a:p>
          <a:p>
            <a:pPr lvl="0"/>
            <a:r>
              <a:t>-  Look at Aberdeen’s research, recommendations, and conclusions</a:t>
            </a:r>
          </a:p>
        </p:txBody>
      </p:sp>
      <p:sp>
        <p:nvSpPr>
          <p:cNvPr id="7172" name="Header Placeholder 7171"/>
          <p:cNvSpPr>
            <a:spLocks noGrp="1"/>
          </p:cNvSpPr>
          <p:nvPr>
            <p:ph type="hdr" sz="quarter"/>
          </p:nvPr>
        </p:nvSpPr>
        <p:spPr/>
        <p:txBody>
          <a:bodyPr lIns="19050" tIns="0" rIns="19050" bIns="0">
            <a:noAutofit/>
          </a:bodyPr>
          <a:lstStyle/>
          <a:p>
            <a:pPr lvl="0" eaLnBrk="0" hangingPunct="0"/>
            <a:fld id="{2492DB08-C6AC-4844-8D5D-1CE1D97BB23C}" type="header">
              <a:rPr sz="1000" i="1"/>
              <a:t>​</a:t>
            </a:fld>
            <a:endParaRPr sz="1000" i="1"/>
          </a:p>
        </p:txBody>
      </p:sp>
      <p:sp>
        <p:nvSpPr>
          <p:cNvPr id="7173" name="Date Placeholder 7172"/>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7174" name="Footer Placeholder 7173"/>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B8C8348F-C1F8-4F59-8C71-50FA30E900BD}" type="footer">
              <a:rPr sz="1000" i="1"/>
              <a:t>(c) Aberdeen Group, Inc., 1996</a:t>
            </a:fld>
            <a:endParaRPr sz="1000" i="1"/>
          </a:p>
        </p:txBody>
      </p:sp>
      <p:sp>
        <p:nvSpPr>
          <p:cNvPr id="7175" name="Slide Number Placeholder 7174"/>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A0E08F6B-D6F7-487A-933E-AA738B88534B}" type="slidenum">
              <a:rPr sz="1000" i="1"/>
              <a:t>2</a:t>
            </a:fld>
            <a:endParaRPr sz="1000" i="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9217"/>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9219" name="Notes Placeholder 9218"/>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Lots of definitions</a:t>
            </a:r>
          </a:p>
          <a:p>
            <a:pPr lvl="0"/>
            <a:r>
              <a:t>Communication via electronics</a:t>
            </a:r>
          </a:p>
          <a:p>
            <a:pPr lvl="0"/>
            <a:r>
              <a:t>Coleman:  productivity and reengineered processes</a:t>
            </a:r>
          </a:p>
          <a:p>
            <a:pPr lvl="0"/>
            <a:r>
              <a:t>Johansen: anytime, anywhere anticipated the Internet</a:t>
            </a:r>
          </a:p>
          <a:p>
            <a:pPr lvl="0"/>
            <a:r>
              <a:t>Kastner:  look outward.  Avoid airplane trips.  Meet new markets and geographies.</a:t>
            </a:r>
          </a:p>
        </p:txBody>
      </p:sp>
      <p:sp>
        <p:nvSpPr>
          <p:cNvPr id="9220" name="Header Placeholder 9219"/>
          <p:cNvSpPr>
            <a:spLocks noGrp="1"/>
          </p:cNvSpPr>
          <p:nvPr>
            <p:ph type="hdr" sz="quarter"/>
          </p:nvPr>
        </p:nvSpPr>
        <p:spPr/>
        <p:txBody>
          <a:bodyPr lIns="19050" tIns="0" rIns="19050" bIns="0">
            <a:noAutofit/>
          </a:bodyPr>
          <a:lstStyle/>
          <a:p>
            <a:pPr lvl="0" eaLnBrk="0" hangingPunct="0"/>
            <a:fld id="{7E0F1E99-EC43-40DE-84B4-13A5D93E59DE}" type="header">
              <a:rPr sz="1000" i="1"/>
              <a:t>​</a:t>
            </a:fld>
            <a:endParaRPr sz="1000" i="1"/>
          </a:p>
        </p:txBody>
      </p:sp>
      <p:sp>
        <p:nvSpPr>
          <p:cNvPr id="9221" name="Date Placeholder 9220"/>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9222" name="Footer Placeholder 9221"/>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B7F66C3C-D10C-4E1A-837A-E26A7802ADCA}" type="footer">
              <a:rPr sz="1000" i="1"/>
              <a:t>(c) Aberdeen Group, Inc., 1996</a:t>
            </a:fld>
            <a:endParaRPr sz="1000" i="1"/>
          </a:p>
        </p:txBody>
      </p:sp>
      <p:sp>
        <p:nvSpPr>
          <p:cNvPr id="9223" name="Slide Number Placeholder 9222"/>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FA1B1295-B97D-4D7F-91B9-01259FEE9E23}" type="slidenum">
              <a:rPr sz="1000" i="1"/>
              <a:t>3</a:t>
            </a:fld>
            <a:endParaRPr sz="1000" i="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1265"/>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11267" name="Notes Placeholder 11266"/>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Large market attracts major product players</a:t>
            </a:r>
          </a:p>
          <a:p>
            <a:pPr lvl="0"/>
            <a:r>
              <a:t>Fast growing with large installed base</a:t>
            </a:r>
          </a:p>
          <a:p>
            <a:pPr lvl="0"/>
            <a:r>
              <a:t>Projected merger with Internet &amp; Intranet technologies should explode collaboration market over next five years</a:t>
            </a:r>
          </a:p>
        </p:txBody>
      </p:sp>
      <p:sp>
        <p:nvSpPr>
          <p:cNvPr id="11268" name="Header Placeholder 11267"/>
          <p:cNvSpPr>
            <a:spLocks noGrp="1"/>
          </p:cNvSpPr>
          <p:nvPr>
            <p:ph type="hdr" sz="quarter"/>
          </p:nvPr>
        </p:nvSpPr>
        <p:spPr/>
        <p:txBody>
          <a:bodyPr lIns="19050" tIns="0" rIns="19050" bIns="0">
            <a:noAutofit/>
          </a:bodyPr>
          <a:lstStyle/>
          <a:p>
            <a:pPr lvl="0" eaLnBrk="0" hangingPunct="0"/>
            <a:fld id="{00E313CE-1852-4263-9655-A98103D7F6E8}" type="header">
              <a:rPr sz="1000" i="1"/>
              <a:t>​</a:t>
            </a:fld>
            <a:endParaRPr sz="1000" i="1"/>
          </a:p>
        </p:txBody>
      </p:sp>
      <p:sp>
        <p:nvSpPr>
          <p:cNvPr id="11269" name="Date Placeholder 11268"/>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11270" name="Footer Placeholder 11269"/>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799302F9-93F6-4AA9-B9C6-F22C74D18C94}" type="footer">
              <a:rPr sz="1000" i="1"/>
              <a:t>(c) Aberdeen Group, Inc., 1996</a:t>
            </a:fld>
            <a:endParaRPr sz="1000" i="1"/>
          </a:p>
        </p:txBody>
      </p:sp>
      <p:sp>
        <p:nvSpPr>
          <p:cNvPr id="11271" name="Slide Number Placeholder 11270"/>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60BAE832-E387-40CC-B325-84FD1C06362C}" type="slidenum">
              <a:rPr sz="1000" i="1"/>
              <a:t>4</a:t>
            </a:fld>
            <a:endParaRPr sz="1000" i="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3313"/>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13315" name="Notes Placeholder 13314"/>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e-mail -- ties WW companies together today.  Proof Oracle etc.</a:t>
            </a:r>
          </a:p>
          <a:p>
            <a:pPr lvl="0"/>
            <a:r>
              <a:t>Conferencing -- calendar &amp; schedules today</a:t>
            </a:r>
          </a:p>
          <a:p>
            <a:pPr lvl="0"/>
            <a:r>
              <a:t>	  - discussion groups -&gt; Internet newsgroups</a:t>
            </a:r>
          </a:p>
          <a:p>
            <a:pPr lvl="0"/>
            <a:r>
              <a:t>	  -   viedo conferencing tomorrow</a:t>
            </a:r>
          </a:p>
          <a:p>
            <a:pPr lvl="0"/>
            <a:r>
              <a:t>Group decision support</a:t>
            </a:r>
          </a:p>
          <a:p>
            <a:pPr lvl="0"/>
            <a:r>
              <a:t>	- maybe Notes-like ‘cabinets’</a:t>
            </a:r>
          </a:p>
          <a:p>
            <a:pPr lvl="0"/>
            <a:r>
              <a:t>	- Workgroup datamarts for complex DSS, OLAP</a:t>
            </a:r>
          </a:p>
          <a:p>
            <a:pPr lvl="0"/>
            <a:r>
              <a:t>Documents -- most organization’s data is here</a:t>
            </a:r>
          </a:p>
          <a:p>
            <a:pPr lvl="0"/>
            <a:r>
              <a:t>Workflow -- fewer secretaries; automatic; self-adapting process saves unnecessary steps; re-engineering; e-mail as workflow</a:t>
            </a:r>
          </a:p>
          <a:p>
            <a:pPr lvl="0"/>
            <a:r>
              <a:t>Development too -- workgroup duties vary.  Need to marry workgroup-specific applications with general-purpose collaboration</a:t>
            </a:r>
          </a:p>
        </p:txBody>
      </p:sp>
      <p:sp>
        <p:nvSpPr>
          <p:cNvPr id="13316" name="Header Placeholder 13315"/>
          <p:cNvSpPr>
            <a:spLocks noGrp="1"/>
          </p:cNvSpPr>
          <p:nvPr>
            <p:ph type="hdr" sz="quarter"/>
          </p:nvPr>
        </p:nvSpPr>
        <p:spPr/>
        <p:txBody>
          <a:bodyPr lIns="19050" tIns="0" rIns="19050" bIns="0">
            <a:noAutofit/>
          </a:bodyPr>
          <a:lstStyle/>
          <a:p>
            <a:pPr lvl="0" eaLnBrk="0" hangingPunct="0"/>
            <a:fld id="{D74866B2-14B5-4233-93D5-550658099630}" type="header">
              <a:rPr sz="1000" i="1"/>
              <a:t>​</a:t>
            </a:fld>
            <a:endParaRPr sz="1000" i="1"/>
          </a:p>
        </p:txBody>
      </p:sp>
      <p:sp>
        <p:nvSpPr>
          <p:cNvPr id="13317" name="Date Placeholder 13316"/>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13318" name="Footer Placeholder 13317"/>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B56D41A9-F880-451D-9C65-117C4B2E160D}" type="footer">
              <a:rPr sz="1000" i="1"/>
              <a:t>(c) Aberdeen Group, Inc., 1996</a:t>
            </a:fld>
            <a:endParaRPr sz="1000" i="1"/>
          </a:p>
        </p:txBody>
      </p:sp>
      <p:sp>
        <p:nvSpPr>
          <p:cNvPr id="13319" name="Slide Number Placeholder 13318"/>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5C79CD5C-3365-49C8-9A24-4B501A0BEE1A}" type="slidenum">
              <a:rPr sz="1000" i="1"/>
              <a:t>5</a:t>
            </a:fld>
            <a:endParaRPr sz="1000" i="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5361"/>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15363" name="Notes Placeholder 15362"/>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Butterfly world hits the Web</a:t>
            </a:r>
          </a:p>
          <a:p>
            <a:endParaRPr/>
          </a:p>
          <a:p>
            <a:pPr lvl="0"/>
            <a:r>
              <a:t>Segue into Trends that are driving changes in the collaboration market</a:t>
            </a:r>
          </a:p>
          <a:p>
            <a:pPr lvl="0"/>
            <a:r>
              <a:t>	- business forces</a:t>
            </a:r>
          </a:p>
          <a:p>
            <a:pPr lvl="0"/>
            <a:r>
              <a:t>	- Why people buy</a:t>
            </a:r>
          </a:p>
          <a:p>
            <a:pPr lvl="0"/>
            <a:r>
              <a:t>	- Rapid changes in technology</a:t>
            </a:r>
          </a:p>
          <a:p>
            <a:pPr lvl="0"/>
            <a:r>
              <a:t>	- Market maturation</a:t>
            </a:r>
          </a:p>
        </p:txBody>
      </p:sp>
      <p:sp>
        <p:nvSpPr>
          <p:cNvPr id="15364" name="Header Placeholder 15363"/>
          <p:cNvSpPr>
            <a:spLocks noGrp="1"/>
          </p:cNvSpPr>
          <p:nvPr>
            <p:ph type="hdr" sz="quarter"/>
          </p:nvPr>
        </p:nvSpPr>
        <p:spPr/>
        <p:txBody>
          <a:bodyPr lIns="19050" tIns="0" rIns="19050" bIns="0">
            <a:noAutofit/>
          </a:bodyPr>
          <a:lstStyle/>
          <a:p>
            <a:pPr lvl="0" eaLnBrk="0" hangingPunct="0"/>
            <a:fld id="{898A5094-9DE3-4135-8550-4904828B9C80}" type="header">
              <a:rPr sz="1000" i="1"/>
              <a:t>​</a:t>
            </a:fld>
            <a:endParaRPr sz="1000" i="1"/>
          </a:p>
        </p:txBody>
      </p:sp>
      <p:sp>
        <p:nvSpPr>
          <p:cNvPr id="15365" name="Date Placeholder 15364"/>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15366" name="Footer Placeholder 15365"/>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98554CF0-6C34-41BE-8338-88BC41C10306}" type="footer">
              <a:rPr sz="1000" i="1"/>
              <a:t>(c) Aberdeen Group, Inc., 1996</a:t>
            </a:fld>
            <a:endParaRPr sz="1000" i="1"/>
          </a:p>
        </p:txBody>
      </p:sp>
      <p:sp>
        <p:nvSpPr>
          <p:cNvPr id="15367" name="Slide Number Placeholder 15366"/>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F1CBE783-2ED7-4B96-8CD1-EDA5E3DB65BB}" type="slidenum">
              <a:rPr sz="1000" i="1"/>
              <a:t>6</a:t>
            </a:fld>
            <a:endParaRPr sz="1000" i="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7409"/>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17411" name="Notes Placeholder 17410"/>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Business Competition is Global</a:t>
            </a:r>
          </a:p>
          <a:p>
            <a:pPr lvl="0"/>
            <a:r>
              <a:t>	Phillips NV</a:t>
            </a:r>
          </a:p>
          <a:p>
            <a:pPr lvl="0"/>
            <a:r>
              <a:t>- Dispersion: talent pools, cheaper manufacturing, supply chain management</a:t>
            </a:r>
          </a:p>
          <a:p>
            <a:pPr lvl="0"/>
            <a:r>
              <a:t>- Communicate: 24x7 operations x 365 days</a:t>
            </a:r>
          </a:p>
          <a:p>
            <a:pPr lvl="0"/>
            <a:r>
              <a:t>- Cycle times: project teams.  Global 24x7 development.  India sw.</a:t>
            </a:r>
          </a:p>
          <a:p>
            <a:pPr lvl="0"/>
            <a:r>
              <a:t>- Globalization:  everywhere, competition</a:t>
            </a:r>
          </a:p>
          <a:p>
            <a:pPr lvl="0"/>
            <a:r>
              <a:t>- Downsizing: business process efficiency.  Now process automation.</a:t>
            </a:r>
          </a:p>
          <a:p>
            <a:pPr lvl="0"/>
            <a:r>
              <a:t>	+ Parcel management system</a:t>
            </a:r>
          </a:p>
          <a:p>
            <a:pPr lvl="0"/>
            <a:r>
              <a:t>	+ Internet news groups</a:t>
            </a:r>
          </a:p>
          <a:p>
            <a:pPr lvl="0"/>
            <a:r>
              <a:t>-  Knowledge is power</a:t>
            </a:r>
          </a:p>
        </p:txBody>
      </p:sp>
      <p:sp>
        <p:nvSpPr>
          <p:cNvPr id="17412" name="Header Placeholder 17411"/>
          <p:cNvSpPr>
            <a:spLocks noGrp="1"/>
          </p:cNvSpPr>
          <p:nvPr>
            <p:ph type="hdr" sz="quarter"/>
          </p:nvPr>
        </p:nvSpPr>
        <p:spPr/>
        <p:txBody>
          <a:bodyPr lIns="19050" tIns="0" rIns="19050" bIns="0">
            <a:noAutofit/>
          </a:bodyPr>
          <a:lstStyle/>
          <a:p>
            <a:pPr lvl="0" eaLnBrk="0" hangingPunct="0"/>
            <a:fld id="{44B3B3E3-FF14-48E6-BA53-49B7358F0B54}" type="header">
              <a:rPr sz="1000" i="1"/>
              <a:t>​</a:t>
            </a:fld>
            <a:endParaRPr sz="1000" i="1"/>
          </a:p>
        </p:txBody>
      </p:sp>
      <p:sp>
        <p:nvSpPr>
          <p:cNvPr id="17413" name="Date Placeholder 17412"/>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17414" name="Footer Placeholder 17413"/>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E6ACBD71-A68D-4791-8A4C-E36086515E97}" type="footer">
              <a:rPr sz="1000" i="1"/>
              <a:t>(c) Aberdeen Group, Inc., 1996</a:t>
            </a:fld>
            <a:endParaRPr sz="1000" i="1"/>
          </a:p>
        </p:txBody>
      </p:sp>
      <p:sp>
        <p:nvSpPr>
          <p:cNvPr id="17415" name="Slide Number Placeholder 17414"/>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719D810C-7CE6-48C3-9847-A358B5628AC4}" type="slidenum">
              <a:rPr sz="1000" i="1"/>
              <a:t>7</a:t>
            </a:fld>
            <a:endParaRPr sz="1000" i="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9457"/>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19459" name="Notes Placeholder 19458"/>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Motivations for Buying workgroup collaboration systems</a:t>
            </a:r>
          </a:p>
          <a:p>
            <a:pPr lvl="0"/>
            <a:r>
              <a:t>Andy Grove of Intel says ...</a:t>
            </a:r>
          </a:p>
          <a:p>
            <a:pPr lvl="0"/>
            <a:r>
              <a:t>Better customer support:  Cisco 25,000 calls eliminated</a:t>
            </a:r>
          </a:p>
        </p:txBody>
      </p:sp>
      <p:sp>
        <p:nvSpPr>
          <p:cNvPr id="19460" name="Header Placeholder 19459"/>
          <p:cNvSpPr>
            <a:spLocks noGrp="1"/>
          </p:cNvSpPr>
          <p:nvPr>
            <p:ph type="hdr" sz="quarter"/>
          </p:nvPr>
        </p:nvSpPr>
        <p:spPr/>
        <p:txBody>
          <a:bodyPr lIns="19050" tIns="0" rIns="19050" bIns="0">
            <a:noAutofit/>
          </a:bodyPr>
          <a:lstStyle/>
          <a:p>
            <a:pPr lvl="0" eaLnBrk="0" hangingPunct="0"/>
            <a:fld id="{2CFC32C0-6406-46B2-9F98-4F99D32810D3}" type="header">
              <a:rPr sz="1000" i="1"/>
              <a:t>​</a:t>
            </a:fld>
            <a:endParaRPr sz="1000" i="1"/>
          </a:p>
        </p:txBody>
      </p:sp>
      <p:sp>
        <p:nvSpPr>
          <p:cNvPr id="19461" name="Date Placeholder 19460"/>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19462" name="Footer Placeholder 19461"/>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E35CEEF0-E70E-459F-9652-4E8A7BC04B6F}" type="footer">
              <a:rPr sz="1000" i="1"/>
              <a:t>(c) Aberdeen Group, Inc., 1996</a:t>
            </a:fld>
            <a:endParaRPr sz="1000" i="1"/>
          </a:p>
        </p:txBody>
      </p:sp>
      <p:sp>
        <p:nvSpPr>
          <p:cNvPr id="19463" name="Slide Number Placeholder 19462"/>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A0F42B8F-9242-4CB6-9E30-E176DE77CF34}" type="slidenum">
              <a:rPr sz="1000" i="1"/>
              <a:t>8</a:t>
            </a:fld>
            <a:endParaRPr sz="1000" i="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21505"/>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21507" name="Notes Placeholder 21506"/>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endParaRPr/>
          </a:p>
        </p:txBody>
      </p:sp>
      <p:sp>
        <p:nvSpPr>
          <p:cNvPr id="21508" name="Header Placeholder 21507"/>
          <p:cNvSpPr>
            <a:spLocks noGrp="1"/>
          </p:cNvSpPr>
          <p:nvPr>
            <p:ph type="hdr" sz="quarter"/>
          </p:nvPr>
        </p:nvSpPr>
        <p:spPr/>
        <p:txBody>
          <a:bodyPr lIns="19050" tIns="0" rIns="19050" bIns="0">
            <a:noAutofit/>
          </a:bodyPr>
          <a:lstStyle/>
          <a:p>
            <a:pPr lvl="0" eaLnBrk="0" hangingPunct="0"/>
            <a:fld id="{ED3B881F-DB5F-4710-BBEB-F474A2FDB36D}" type="header">
              <a:rPr sz="1000" i="1"/>
              <a:t>​</a:t>
            </a:fld>
            <a:endParaRPr sz="1000" i="1"/>
          </a:p>
        </p:txBody>
      </p:sp>
      <p:sp>
        <p:nvSpPr>
          <p:cNvPr id="21509" name="Date Placeholder 21508"/>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1510" name="Footer Placeholder 21509"/>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A5515CC8-EC55-4EC2-9CA8-C646F305D544}" type="footer">
              <a:rPr sz="1000" i="1"/>
              <a:t>(c) Aberdeen Group, Inc., 1996</a:t>
            </a:fld>
            <a:endParaRPr sz="1000" i="1"/>
          </a:p>
        </p:txBody>
      </p:sp>
      <p:sp>
        <p:nvSpPr>
          <p:cNvPr id="21511" name="Slide Number Placeholder 21510"/>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8AB7B10B-7E3A-430A-AF46-6D7BE7E7F866}" type="slidenum">
              <a:rPr sz="1000" i="1"/>
              <a:t>9</a:t>
            </a:fld>
            <a:endParaRPr sz="1000" i="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23553"/>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23555" name="Notes Placeholder 23554"/>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PCs per person will prove to be a good indicator of the overall competitiveness of a country in the global economy</a:t>
            </a:r>
          </a:p>
          <a:p>
            <a:pPr lvl="0"/>
            <a:r>
              <a:t>The Netherlands is highly advanced</a:t>
            </a:r>
          </a:p>
        </p:txBody>
      </p:sp>
      <p:sp>
        <p:nvSpPr>
          <p:cNvPr id="23556" name="Header Placeholder 23555"/>
          <p:cNvSpPr>
            <a:spLocks noGrp="1"/>
          </p:cNvSpPr>
          <p:nvPr>
            <p:ph type="hdr" sz="quarter"/>
          </p:nvPr>
        </p:nvSpPr>
        <p:spPr/>
        <p:txBody>
          <a:bodyPr lIns="19050" tIns="0" rIns="19050" bIns="0">
            <a:noAutofit/>
          </a:bodyPr>
          <a:lstStyle/>
          <a:p>
            <a:pPr lvl="0" eaLnBrk="0" hangingPunct="0"/>
            <a:fld id="{AB72732C-0CCB-48E1-A4D9-BD090EDD3494}" type="header">
              <a:rPr sz="1000" i="1"/>
              <a:t>​</a:t>
            </a:fld>
            <a:endParaRPr sz="1000" i="1"/>
          </a:p>
        </p:txBody>
      </p:sp>
      <p:sp>
        <p:nvSpPr>
          <p:cNvPr id="23557" name="Date Placeholder 23556"/>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3558" name="Footer Placeholder 23557"/>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876A2246-0D44-4AF5-B129-CA7312A31BA6}" type="footer">
              <a:rPr sz="1000" i="1"/>
              <a:t>(c) Aberdeen Group, Inc., 1996</a:t>
            </a:fld>
            <a:endParaRPr sz="1000" i="1"/>
          </a:p>
        </p:txBody>
      </p:sp>
      <p:sp>
        <p:nvSpPr>
          <p:cNvPr id="23559" name="Slide Number Placeholder 23558"/>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B7DC00C9-BCE0-46C3-8503-DFEB987203F4}" type="slidenum">
              <a:rPr sz="1000" i="1"/>
              <a:t>10</a:t>
            </a:fld>
            <a:endParaRPr sz="1000" i="1"/>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25601"/>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25603" name="Notes Placeholder 25602"/>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endParaRPr/>
          </a:p>
        </p:txBody>
      </p:sp>
      <p:sp>
        <p:nvSpPr>
          <p:cNvPr id="25604" name="Header Placeholder 25603"/>
          <p:cNvSpPr>
            <a:spLocks noGrp="1"/>
          </p:cNvSpPr>
          <p:nvPr>
            <p:ph type="hdr" sz="quarter"/>
          </p:nvPr>
        </p:nvSpPr>
        <p:spPr/>
        <p:txBody>
          <a:bodyPr lIns="19050" tIns="0" rIns="19050" bIns="0">
            <a:noAutofit/>
          </a:bodyPr>
          <a:lstStyle/>
          <a:p>
            <a:pPr lvl="0" eaLnBrk="0" hangingPunct="0"/>
            <a:fld id="{7AEBBDA6-5BF3-40F9-8602-496856DF6227}" type="header">
              <a:rPr sz="1000" i="1"/>
              <a:t>​</a:t>
            </a:fld>
            <a:endParaRPr sz="1000" i="1"/>
          </a:p>
        </p:txBody>
      </p:sp>
      <p:sp>
        <p:nvSpPr>
          <p:cNvPr id="25605" name="Date Placeholder 25604"/>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5606" name="Footer Placeholder 25605"/>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31D1636E-C5BC-4BD6-A24A-81B6FA923ED8}" type="footer">
              <a:rPr sz="1000" i="1"/>
              <a:t>(c) Aberdeen Group, Inc., 1996</a:t>
            </a:fld>
            <a:endParaRPr sz="1000" i="1"/>
          </a:p>
        </p:txBody>
      </p:sp>
      <p:sp>
        <p:nvSpPr>
          <p:cNvPr id="25607" name="Slide Number Placeholder 25606"/>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18CCC505-201C-4E76-B7AA-A93F388B6528}" type="slidenum">
              <a:rPr sz="1000" i="1"/>
              <a:t>11</a:t>
            </a:fld>
            <a:endParaRPr sz="1000" i="1"/>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27649"/>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27651" name="Notes Placeholder 27650"/>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Groupware systems in the past helped workgroups collaborate.  Good for the workgroup but not necessarily good for the enterprise.</a:t>
            </a:r>
          </a:p>
          <a:p>
            <a:endParaRPr/>
          </a:p>
          <a:p>
            <a:pPr lvl="0"/>
            <a:r>
              <a:t>The globalization of the economy, coupled with the availability of the Internet for transport creates a brand, new, once in a generation opportunity</a:t>
            </a:r>
          </a:p>
          <a:p>
            <a:pPr lvl="0"/>
            <a:r>
              <a:t>	- communicate with your customers</a:t>
            </a:r>
          </a:p>
          <a:p>
            <a:pPr lvl="0"/>
            <a:r>
              <a:t>	- work more closely with suppliers on designs, supply 	    chain management issues, quality</a:t>
            </a:r>
          </a:p>
          <a:p>
            <a:pPr lvl="0"/>
            <a:r>
              <a:t>	- Competitors:  if it leads to standards, or larger 		   markets for all.  Example:  cable modems.</a:t>
            </a:r>
          </a:p>
        </p:txBody>
      </p:sp>
      <p:sp>
        <p:nvSpPr>
          <p:cNvPr id="27652" name="Header Placeholder 27651"/>
          <p:cNvSpPr>
            <a:spLocks noGrp="1"/>
          </p:cNvSpPr>
          <p:nvPr>
            <p:ph type="hdr" sz="quarter"/>
          </p:nvPr>
        </p:nvSpPr>
        <p:spPr/>
        <p:txBody>
          <a:bodyPr lIns="19050" tIns="0" rIns="19050" bIns="0">
            <a:noAutofit/>
          </a:bodyPr>
          <a:lstStyle/>
          <a:p>
            <a:pPr lvl="0" eaLnBrk="0" hangingPunct="0"/>
            <a:fld id="{28E9516C-6689-4457-B5FF-992CEA0F4D83}" type="header">
              <a:rPr sz="1000" i="1"/>
              <a:t>​</a:t>
            </a:fld>
            <a:endParaRPr sz="1000" i="1"/>
          </a:p>
        </p:txBody>
      </p:sp>
      <p:sp>
        <p:nvSpPr>
          <p:cNvPr id="27653" name="Date Placeholder 27652"/>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7654" name="Footer Placeholder 27653"/>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0D8B6811-3548-4CDC-AF92-A823F12CFCA8}" type="footer">
              <a:rPr sz="1000" i="1"/>
              <a:t>(c) Aberdeen Group, Inc., 1996</a:t>
            </a:fld>
            <a:endParaRPr sz="1000" i="1"/>
          </a:p>
        </p:txBody>
      </p:sp>
      <p:sp>
        <p:nvSpPr>
          <p:cNvPr id="27655" name="Slide Number Placeholder 27654"/>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637CC6BC-04D4-4BF6-AEA6-CB07B86C6F55}" type="slidenum">
              <a:rPr sz="1000" i="1"/>
              <a:t>12</a:t>
            </a:fld>
            <a:endParaRPr sz="1000" i="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29697"/>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29699" name="Notes Placeholder 29698"/>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But before you walk into the President’s office …</a:t>
            </a:r>
          </a:p>
          <a:p>
            <a:pPr lvl="0"/>
            <a:r>
              <a:t>1.  It takes senior management directives, not just technology from the IT department, to effect sensible reengineering.  Yes, workgroup collaboration is an ideal technology to use as the infrastructure for process reengineering.</a:t>
            </a:r>
          </a:p>
          <a:p>
            <a:pPr lvl="0"/>
            <a:r>
              <a:t>2. Plan for the long term, think big</a:t>
            </a:r>
          </a:p>
          <a:p>
            <a:pPr lvl="0"/>
            <a:r>
              <a:t>3. The first application to roll out is almost always electronic mail.  Make sure the top bosses start using it to direct their staff.  Then, the rst will naturally take care of itself.  Example:  IBM</a:t>
            </a:r>
          </a:p>
          <a:p>
            <a:pPr lvl="0"/>
            <a:r>
              <a:t>4.  Buying groupware software should be like buying programming software:  a tool and not an end point</a:t>
            </a:r>
          </a:p>
          <a:p>
            <a:pPr lvl="0"/>
            <a:r>
              <a:t>	- What applications should supplement the core mail, scheduling and document management tools? </a:t>
            </a:r>
          </a:p>
        </p:txBody>
      </p:sp>
      <p:sp>
        <p:nvSpPr>
          <p:cNvPr id="29700" name="Header Placeholder 29699"/>
          <p:cNvSpPr>
            <a:spLocks noGrp="1"/>
          </p:cNvSpPr>
          <p:nvPr>
            <p:ph type="hdr" sz="quarter"/>
          </p:nvPr>
        </p:nvSpPr>
        <p:spPr/>
        <p:txBody>
          <a:bodyPr lIns="19050" tIns="0" rIns="19050" bIns="0">
            <a:noAutofit/>
          </a:bodyPr>
          <a:lstStyle/>
          <a:p>
            <a:pPr lvl="0" eaLnBrk="0" hangingPunct="0"/>
            <a:fld id="{98503772-0024-4959-A112-2B7092D28916}" type="header">
              <a:rPr sz="1000" i="1"/>
              <a:t>​</a:t>
            </a:fld>
            <a:endParaRPr sz="1000" i="1"/>
          </a:p>
        </p:txBody>
      </p:sp>
      <p:sp>
        <p:nvSpPr>
          <p:cNvPr id="29701" name="Date Placeholder 29700"/>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29702" name="Footer Placeholder 29701"/>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7A84EE5A-4F57-4BA7-83A4-97F0A96864A9}" type="footer">
              <a:rPr sz="1000" i="1"/>
              <a:t>(c) Aberdeen Group, Inc., 1996</a:t>
            </a:fld>
            <a:endParaRPr sz="1000" i="1"/>
          </a:p>
        </p:txBody>
      </p:sp>
      <p:sp>
        <p:nvSpPr>
          <p:cNvPr id="29703" name="Slide Number Placeholder 29702"/>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B724B6D9-6ACF-439C-B851-27D362D946DB}" type="slidenum">
              <a:rPr sz="1000" i="1"/>
              <a:t>13</a:t>
            </a:fld>
            <a:endParaRPr sz="1000" i="1"/>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31745"/>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31747" name="Notes Placeholder 31746"/>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When evaluating collaboration software:</a:t>
            </a:r>
          </a:p>
          <a:p>
            <a:pPr lvl="0"/>
            <a:r>
              <a:t>- scalability:  ability to grow (suppliers, customers, acquisitions)</a:t>
            </a:r>
          </a:p>
          <a:p>
            <a:pPr lvl="0"/>
            <a:r>
              <a:t>- platforms</a:t>
            </a:r>
          </a:p>
          <a:p>
            <a:pPr lvl="0"/>
            <a:r>
              <a:t>- standards:  you will buy from lots of sources</a:t>
            </a:r>
          </a:p>
          <a:p>
            <a:pPr lvl="0"/>
            <a:r>
              <a:t>- The Internet will absolutely play a large role in future collaboration</a:t>
            </a:r>
          </a:p>
          <a:p>
            <a:pPr lvl="0"/>
            <a:r>
              <a:t>- Application extensibility:  to build/buy custom applications for workgroups that leverages the productivity enhancers of collaboration software.  Example:  tie Tax Department to tax regulations on-line; project management tools; video training; knowledge bases</a:t>
            </a:r>
          </a:p>
        </p:txBody>
      </p:sp>
      <p:sp>
        <p:nvSpPr>
          <p:cNvPr id="31748" name="Header Placeholder 31747"/>
          <p:cNvSpPr>
            <a:spLocks noGrp="1"/>
          </p:cNvSpPr>
          <p:nvPr>
            <p:ph type="hdr" sz="quarter"/>
          </p:nvPr>
        </p:nvSpPr>
        <p:spPr/>
        <p:txBody>
          <a:bodyPr lIns="19050" tIns="0" rIns="19050" bIns="0">
            <a:noAutofit/>
          </a:bodyPr>
          <a:lstStyle/>
          <a:p>
            <a:pPr lvl="0" eaLnBrk="0" hangingPunct="0"/>
            <a:fld id="{A3C5D566-77C9-4ADA-BF90-394844EF5DFF}" type="header">
              <a:rPr sz="1000" i="1"/>
              <a:t>​</a:t>
            </a:fld>
            <a:endParaRPr sz="1000" i="1"/>
          </a:p>
        </p:txBody>
      </p:sp>
      <p:sp>
        <p:nvSpPr>
          <p:cNvPr id="31749" name="Date Placeholder 31748"/>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31750" name="Footer Placeholder 31749"/>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04217EA7-6545-4BBC-A126-AE96E5920725}" type="footer">
              <a:rPr sz="1000" i="1"/>
              <a:t>(c) Aberdeen Group, Inc., 1996</a:t>
            </a:fld>
            <a:endParaRPr sz="1000" i="1"/>
          </a:p>
        </p:txBody>
      </p:sp>
      <p:sp>
        <p:nvSpPr>
          <p:cNvPr id="31751" name="Slide Number Placeholder 31750"/>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F0BF4342-EAEA-4788-BA0F-81A6A36C5F8A}" type="slidenum">
              <a:rPr sz="1000" i="1"/>
              <a:t>14</a:t>
            </a:fld>
            <a:endParaRPr sz="1000" i="1"/>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33793"/>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33795" name="Notes Placeholder 33794"/>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Technologically sophisticated organizations have grabbed collaboration technology to seek/maintain competitive advantege</a:t>
            </a:r>
          </a:p>
          <a:p>
            <a:pPr lvl="0"/>
            <a:r>
              <a:t>	- computer companies</a:t>
            </a:r>
          </a:p>
          <a:p>
            <a:pPr lvl="0"/>
            <a:r>
              <a:t>	- Financial services &amp; telecommunications</a:t>
            </a:r>
          </a:p>
          <a:p>
            <a:endParaRPr/>
          </a:p>
          <a:p>
            <a:pPr lvl="0"/>
            <a:r>
              <a:t>Organizationally sophisticated enterprises have used collaboration software to </a:t>
            </a:r>
          </a:p>
          <a:p>
            <a:pPr lvl="0"/>
            <a:r>
              <a:t>	extend management and control across widely 		separated sites (Delta, Lufthansa)</a:t>
            </a:r>
          </a:p>
          <a:p>
            <a:endParaRPr/>
          </a:p>
          <a:p>
            <a:pPr lvl="0"/>
            <a:r>
              <a:t>	Reengineer to survive (Harley Davidson)</a:t>
            </a:r>
          </a:p>
          <a:p>
            <a:endParaRPr/>
          </a:p>
          <a:p>
            <a:pPr lvl="0"/>
            <a:r>
              <a:t>Some are able to do both</a:t>
            </a:r>
          </a:p>
          <a:p>
            <a:pPr lvl="0"/>
            <a:r>
              <a:t>	Arthur Andersen and Price Waterhouse</a:t>
            </a:r>
          </a:p>
          <a:p>
            <a:pPr lvl="0"/>
            <a:r>
              <a:t>	Hewlet Packard (labs)</a:t>
            </a:r>
          </a:p>
        </p:txBody>
      </p:sp>
      <p:sp>
        <p:nvSpPr>
          <p:cNvPr id="33796" name="Header Placeholder 33795"/>
          <p:cNvSpPr>
            <a:spLocks noGrp="1"/>
          </p:cNvSpPr>
          <p:nvPr>
            <p:ph type="hdr" sz="quarter"/>
          </p:nvPr>
        </p:nvSpPr>
        <p:spPr/>
        <p:txBody>
          <a:bodyPr lIns="19050" tIns="0" rIns="19050" bIns="0">
            <a:noAutofit/>
          </a:bodyPr>
          <a:lstStyle/>
          <a:p>
            <a:pPr lvl="0" eaLnBrk="0" hangingPunct="0"/>
            <a:fld id="{D2242D68-F34A-4BCC-B9AD-2228CC640FB8}" type="header">
              <a:rPr sz="1000" i="1"/>
              <a:t>​</a:t>
            </a:fld>
            <a:endParaRPr sz="1000" i="1"/>
          </a:p>
        </p:txBody>
      </p:sp>
      <p:sp>
        <p:nvSpPr>
          <p:cNvPr id="33797" name="Date Placeholder 33796"/>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33798" name="Footer Placeholder 33797"/>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93BF0E68-1441-4F25-AB4F-47F2B3B6BB36}" type="footer">
              <a:rPr sz="1000" i="1"/>
              <a:t>(c) Aberdeen Group, Inc., 1996</a:t>
            </a:fld>
            <a:endParaRPr sz="1000" i="1"/>
          </a:p>
        </p:txBody>
      </p:sp>
      <p:sp>
        <p:nvSpPr>
          <p:cNvPr id="33799" name="Slide Number Placeholder 33798"/>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297C24B5-F2A5-4228-8322-FBB38F12FEAE}" type="slidenum">
              <a:rPr sz="1000" i="1"/>
              <a:t>15</a:t>
            </a:fld>
            <a:endParaRPr sz="1000" i="1"/>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35841"/>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35843" name="Notes Placeholder 35842"/>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It is a mistake commonly made to push a collaboration system request through a simple ROI spreadsheet model.  You will usually come out with a negative return on investment.</a:t>
            </a:r>
          </a:p>
          <a:p>
            <a:endParaRPr/>
          </a:p>
          <a:p>
            <a:pPr lvl="0"/>
            <a:r>
              <a:t>Why?  Because if collaboration’s benefits typically allow organizations to grow without adding (as many) people.  Productivity improvements partially brought about through collaboration may be lost or difficult to measure</a:t>
            </a:r>
          </a:p>
          <a:p>
            <a:endParaRPr/>
          </a:p>
          <a:p>
            <a:pPr lvl="0"/>
            <a:r>
              <a:t>But look at the macro-economic evidence.  Since 1985, many US workers have lost their secretaries (or worse, their jobs) to reengineering and downsizing.  Yet productivity per worker is up considerably (source:  US Dept of Commerce).</a:t>
            </a:r>
          </a:p>
        </p:txBody>
      </p:sp>
      <p:sp>
        <p:nvSpPr>
          <p:cNvPr id="35844" name="Header Placeholder 35843"/>
          <p:cNvSpPr>
            <a:spLocks noGrp="1"/>
          </p:cNvSpPr>
          <p:nvPr>
            <p:ph type="hdr" sz="quarter"/>
          </p:nvPr>
        </p:nvSpPr>
        <p:spPr/>
        <p:txBody>
          <a:bodyPr lIns="19050" tIns="0" rIns="19050" bIns="0">
            <a:noAutofit/>
          </a:bodyPr>
          <a:lstStyle/>
          <a:p>
            <a:pPr lvl="0" eaLnBrk="0" hangingPunct="0"/>
            <a:fld id="{879EA975-C4F8-4D0D-9D79-F42D87229EDD}" type="header">
              <a:rPr sz="1000" i="1"/>
              <a:t>​</a:t>
            </a:fld>
            <a:endParaRPr sz="1000" i="1"/>
          </a:p>
        </p:txBody>
      </p:sp>
      <p:sp>
        <p:nvSpPr>
          <p:cNvPr id="35845" name="Date Placeholder 35844"/>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35846" name="Footer Placeholder 35845"/>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28890222-95BE-4B6D-B05E-EEA7C6ACC3DB}" type="footer">
              <a:rPr sz="1000" i="1"/>
              <a:t>(c) Aberdeen Group, Inc., 1996</a:t>
            </a:fld>
            <a:endParaRPr sz="1000" i="1"/>
          </a:p>
        </p:txBody>
      </p:sp>
      <p:sp>
        <p:nvSpPr>
          <p:cNvPr id="35847" name="Slide Number Placeholder 35846"/>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15B4DD90-63E7-4269-937B-4F699EFA8874}" type="slidenum">
              <a:rPr sz="1000" i="1"/>
              <a:t>16</a:t>
            </a:fld>
            <a:endParaRPr sz="1000" i="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37889"/>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37891" name="Notes Placeholder 37890"/>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Portable: cross-platform and wireless</a:t>
            </a:r>
          </a:p>
        </p:txBody>
      </p:sp>
      <p:sp>
        <p:nvSpPr>
          <p:cNvPr id="37892" name="Header Placeholder 37891"/>
          <p:cNvSpPr>
            <a:spLocks noGrp="1"/>
          </p:cNvSpPr>
          <p:nvPr>
            <p:ph type="hdr" sz="quarter"/>
          </p:nvPr>
        </p:nvSpPr>
        <p:spPr/>
        <p:txBody>
          <a:bodyPr lIns="19050" tIns="0" rIns="19050" bIns="0">
            <a:noAutofit/>
          </a:bodyPr>
          <a:lstStyle/>
          <a:p>
            <a:pPr lvl="0" eaLnBrk="0" hangingPunct="0"/>
            <a:fld id="{6AC3C9E3-0C58-40E8-A941-33E218B79964}" type="header">
              <a:rPr sz="1000" i="1"/>
              <a:t>​</a:t>
            </a:fld>
            <a:endParaRPr sz="1000" i="1"/>
          </a:p>
        </p:txBody>
      </p:sp>
      <p:sp>
        <p:nvSpPr>
          <p:cNvPr id="37893" name="Date Placeholder 37892"/>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37894" name="Footer Placeholder 37893"/>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CBBF78C1-7C07-4A6E-ADB5-680CE645816E}" type="footer">
              <a:rPr sz="1000" i="1"/>
              <a:t>(c) Aberdeen Group, Inc., 1996</a:t>
            </a:fld>
            <a:endParaRPr sz="1000" i="1"/>
          </a:p>
        </p:txBody>
      </p:sp>
      <p:sp>
        <p:nvSpPr>
          <p:cNvPr id="37895" name="Slide Number Placeholder 37894"/>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63A8351D-6399-4019-917F-CA5E552A41A6}" type="slidenum">
              <a:rPr sz="1000" i="1"/>
              <a:t>17</a:t>
            </a:fld>
            <a:endParaRPr sz="1000" i="1"/>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39937"/>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39939" name="Notes Placeholder 39938"/>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Oracle:  Fewer, bigger servers -- easier to administer.  Others: server per workgroup philosophy</a:t>
            </a:r>
          </a:p>
          <a:p>
            <a:pPr lvl="0"/>
            <a:r>
              <a:t>Standards: Oracel InterOffice is open.  See next slide.</a:t>
            </a:r>
          </a:p>
          <a:p>
            <a:pPr lvl="0"/>
            <a:r>
              <a:t>With built-in Internet-awareness, it’s easy to envision widely deployed applications at customers, suppliers and others</a:t>
            </a:r>
          </a:p>
          <a:p>
            <a:pPr lvl="0"/>
            <a:r>
              <a:t>Adds collaboration capabilities to custom IT-built applications for workflow, scheduling, etc.</a:t>
            </a:r>
          </a:p>
          <a:p>
            <a:pPr lvl="0"/>
            <a:r>
              <a:t>Integration is excellent.  Ties to RDBMS, ConText, video server, on-line analytical processing (OLAP) add enormous value to base collaboration capabilities. </a:t>
            </a:r>
          </a:p>
        </p:txBody>
      </p:sp>
      <p:sp>
        <p:nvSpPr>
          <p:cNvPr id="39940" name="Header Placeholder 39939"/>
          <p:cNvSpPr>
            <a:spLocks noGrp="1"/>
          </p:cNvSpPr>
          <p:nvPr>
            <p:ph type="hdr" sz="quarter"/>
          </p:nvPr>
        </p:nvSpPr>
        <p:spPr/>
        <p:txBody>
          <a:bodyPr lIns="19050" tIns="0" rIns="19050" bIns="0">
            <a:noAutofit/>
          </a:bodyPr>
          <a:lstStyle/>
          <a:p>
            <a:pPr lvl="0" eaLnBrk="0" hangingPunct="0"/>
            <a:fld id="{484FBDEB-0D74-47E3-85E9-73FAA12C8E27}" type="header">
              <a:rPr sz="1000" i="1"/>
              <a:t>​</a:t>
            </a:fld>
            <a:endParaRPr sz="1000" i="1"/>
          </a:p>
        </p:txBody>
      </p:sp>
      <p:sp>
        <p:nvSpPr>
          <p:cNvPr id="39941" name="Date Placeholder 39940"/>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39942" name="Footer Placeholder 39941"/>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FFCCCEE7-81E8-4241-9D7C-30FC72BD11A6}" type="footer">
              <a:rPr sz="1000" i="1"/>
              <a:t>(c) Aberdeen Group, Inc., 1996</a:t>
            </a:fld>
            <a:endParaRPr sz="1000" i="1"/>
          </a:p>
        </p:txBody>
      </p:sp>
      <p:sp>
        <p:nvSpPr>
          <p:cNvPr id="39943" name="Slide Number Placeholder 39942"/>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FEC0C2D1-75EF-4595-8016-B2EA5777821D}" type="slidenum">
              <a:rPr sz="1000" i="1"/>
              <a:t>18</a:t>
            </a:fld>
            <a:endParaRPr sz="1000" i="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41985"/>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41987" name="Notes Placeholder 41986"/>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No detail here, but …</a:t>
            </a:r>
          </a:p>
          <a:p>
            <a:pPr lvl="0"/>
            <a:r>
              <a:t>Full set of features for messaging, scheduling, document management, workflow plus Internet enablement</a:t>
            </a:r>
          </a:p>
        </p:txBody>
      </p:sp>
      <p:sp>
        <p:nvSpPr>
          <p:cNvPr id="41988" name="Header Placeholder 41987"/>
          <p:cNvSpPr>
            <a:spLocks noGrp="1"/>
          </p:cNvSpPr>
          <p:nvPr>
            <p:ph type="hdr" sz="quarter"/>
          </p:nvPr>
        </p:nvSpPr>
        <p:spPr/>
        <p:txBody>
          <a:bodyPr lIns="19050" tIns="0" rIns="19050" bIns="0">
            <a:noAutofit/>
          </a:bodyPr>
          <a:lstStyle/>
          <a:p>
            <a:pPr lvl="0" eaLnBrk="0" hangingPunct="0"/>
            <a:fld id="{06698817-A0A3-4F9C-A350-612B34D8B682}" type="header">
              <a:rPr sz="1000" i="1"/>
              <a:t>​</a:t>
            </a:fld>
            <a:endParaRPr sz="1000" i="1"/>
          </a:p>
        </p:txBody>
      </p:sp>
      <p:sp>
        <p:nvSpPr>
          <p:cNvPr id="41989" name="Date Placeholder 41988"/>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41990" name="Footer Placeholder 41989"/>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BE3A8847-D4F3-4FCF-BC6C-9C587627D142}" type="footer">
              <a:rPr sz="1000" i="1"/>
              <a:t>(c) Aberdeen Group, Inc., 1996</a:t>
            </a:fld>
            <a:endParaRPr sz="1000" i="1"/>
          </a:p>
        </p:txBody>
      </p:sp>
      <p:sp>
        <p:nvSpPr>
          <p:cNvPr id="41991" name="Slide Number Placeholder 41990"/>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F1D65BC6-1D99-456A-9B5A-F06BA3EB4C03}" type="slidenum">
              <a:rPr sz="1000" i="1"/>
              <a:t>19</a:t>
            </a:fld>
            <a:endParaRPr sz="1000" i="1"/>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44033"/>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44035" name="Notes Placeholder 44034"/>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In order to isolate IT from the enormous changes in underlying technology, Oracle has built InterOffice on a multi-tier architecture.</a:t>
            </a:r>
          </a:p>
          <a:p>
            <a:pPr lvl="0"/>
            <a:r>
              <a:t>Standards such as MAPI allow InterOffice to work with other vendors’ best-of-breed (or legacy) products.</a:t>
            </a:r>
          </a:p>
          <a:p>
            <a:pPr lvl="0"/>
            <a:r>
              <a:t>Ultimately, data is managed by Oracle7, a robust, proven, scalable data repository.</a:t>
            </a:r>
          </a:p>
        </p:txBody>
      </p:sp>
      <p:sp>
        <p:nvSpPr>
          <p:cNvPr id="44036" name="Header Placeholder 44035"/>
          <p:cNvSpPr>
            <a:spLocks noGrp="1"/>
          </p:cNvSpPr>
          <p:nvPr>
            <p:ph type="hdr" sz="quarter"/>
          </p:nvPr>
        </p:nvSpPr>
        <p:spPr/>
        <p:txBody>
          <a:bodyPr lIns="19050" tIns="0" rIns="19050" bIns="0">
            <a:noAutofit/>
          </a:bodyPr>
          <a:lstStyle/>
          <a:p>
            <a:pPr lvl="0" eaLnBrk="0" hangingPunct="0"/>
            <a:fld id="{32D227C2-B6FF-4513-8081-383A43655E35}" type="header">
              <a:rPr sz="1000" i="1"/>
              <a:t>​</a:t>
            </a:fld>
            <a:endParaRPr sz="1000" i="1"/>
          </a:p>
        </p:txBody>
      </p:sp>
      <p:sp>
        <p:nvSpPr>
          <p:cNvPr id="44037" name="Date Placeholder 44036"/>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44038" name="Footer Placeholder 44037"/>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432700C0-9BB4-40D6-AB5B-8D1498D9DB36}" type="footer">
              <a:rPr sz="1000" i="1"/>
              <a:t>(c) Aberdeen Group, Inc., 1996</a:t>
            </a:fld>
            <a:endParaRPr sz="1000" i="1"/>
          </a:p>
        </p:txBody>
      </p:sp>
      <p:sp>
        <p:nvSpPr>
          <p:cNvPr id="44039" name="Slide Number Placeholder 44038"/>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30CBF37E-BE84-4CDE-A896-2410DF5CA87F}" type="slidenum">
              <a:rPr sz="1000" i="1"/>
              <a:t>20</a:t>
            </a:fld>
            <a:endParaRPr sz="1000" i="1"/>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46081"/>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46083" name="Notes Placeholder 46082"/>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pPr lvl="0"/>
            <a:r>
              <a:t>Don’t buy collaboration software for a workgroup, think about the whole enterprise and all of its constituencies.</a:t>
            </a:r>
          </a:p>
          <a:p>
            <a:pPr lvl="0"/>
            <a:r>
              <a:t>The Internet is not just hype.  It will become the backbone for worldwide collaboration.  It can be used to enormous competitive advantage.</a:t>
            </a:r>
          </a:p>
          <a:p>
            <a:pPr lvl="0"/>
            <a:r>
              <a:t>When evaluating workgroup collaboration software, Aberdeen Group places high value on an extensible architecture that isolates technology details from applications and programmers.</a:t>
            </a:r>
          </a:p>
          <a:p>
            <a:pPr lvl="0"/>
            <a:r>
              <a:t>Oracle is one of the fastest growing large companies in the world.  Oracle runs on Oracle products, including InterOffice.  That’s not true with a Microsoft.  For buyers, ask for customer references for fast growing sites.  How have they managed the growth.  Would they choose the same products again?  Was the product over-promised?  Does the product have a future?</a:t>
            </a:r>
          </a:p>
        </p:txBody>
      </p:sp>
      <p:sp>
        <p:nvSpPr>
          <p:cNvPr id="46084" name="Header Placeholder 46083"/>
          <p:cNvSpPr>
            <a:spLocks noGrp="1"/>
          </p:cNvSpPr>
          <p:nvPr>
            <p:ph type="hdr" sz="quarter"/>
          </p:nvPr>
        </p:nvSpPr>
        <p:spPr/>
        <p:txBody>
          <a:bodyPr lIns="19050" tIns="0" rIns="19050" bIns="0">
            <a:noAutofit/>
          </a:bodyPr>
          <a:lstStyle/>
          <a:p>
            <a:pPr lvl="0" eaLnBrk="0" hangingPunct="0"/>
            <a:fld id="{997AF7DF-3385-4E93-AD7C-8CE617779476}" type="header">
              <a:rPr sz="1000" i="1"/>
              <a:t>​</a:t>
            </a:fld>
            <a:endParaRPr sz="1000" i="1"/>
          </a:p>
        </p:txBody>
      </p:sp>
      <p:sp>
        <p:nvSpPr>
          <p:cNvPr id="46085" name="Date Placeholder 46084"/>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46086" name="Footer Placeholder 46085"/>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19D24824-2571-429F-B45B-9FD86703D8A4}" type="footer">
              <a:rPr sz="1000" i="1"/>
              <a:t>(c) Aberdeen Group, Inc., 1996</a:t>
            </a:fld>
            <a:endParaRPr sz="1000" i="1"/>
          </a:p>
        </p:txBody>
      </p:sp>
      <p:sp>
        <p:nvSpPr>
          <p:cNvPr id="46087" name="Slide Number Placeholder 46086"/>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3DCAA6B5-B299-4B70-A514-8A29A116F497}" type="slidenum">
              <a:rPr sz="1000" i="1"/>
              <a:t>21</a:t>
            </a:fld>
            <a:endParaRPr sz="1000" i="1"/>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48129"/>
          <p:cNvSpPr>
            <a:spLocks noGrp="1" noRot="1" noChangeAspect="1" noTextEdit="1"/>
          </p:cNvSpPr>
          <p:nvPr>
            <p:ph type="sldImg" idx="2"/>
          </p:nvPr>
        </p:nvSpPr>
        <p:spPr>
          <a:xfrm>
            <a:off x="1149350" y="709613"/>
            <a:ext cx="4559300" cy="3416300"/>
          </a:xfrm>
          <a:noFill/>
          <a:ln w="12700" cap="flat" cmpd="sng">
            <a:solidFill>
              <a:schemeClr val="tx1"/>
            </a:solidFill>
            <a:prstDash val="solid"/>
            <a:miter lim="800000"/>
          </a:ln>
          <a:effectLst/>
        </p:spPr>
      </p:sp>
      <p:sp>
        <p:nvSpPr>
          <p:cNvPr id="48131" name="Notes Placeholder 48130"/>
          <p:cNvSpPr>
            <a:spLocks noGrp="1"/>
          </p:cNvSpPr>
          <p:nvPr>
            <p:ph type="body" idx="3"/>
          </p:nvPr>
        </p:nvSpPr>
        <p:spPr>
          <a:xfrm>
            <a:off x="914400" y="4360863"/>
            <a:ext cx="5029200" cy="4114800"/>
          </a:xfrm>
          <a:noFill/>
          <a:ln>
            <a:noFill/>
            <a:miter lim="800000"/>
          </a:ln>
          <a:effectLst/>
        </p:spPr>
        <p:txBody>
          <a:bodyPr vert="horz" wrap="square" lIns="92075" tIns="46038" rIns="92075" bIns="46038" anchor="t" anchorCtr="0">
            <a:noAutofit/>
          </a:bodyPr>
          <a:lstStyle>
            <a:lvl1pPr marL="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1pPr>
            <a:lvl2pPr marL="4572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2pPr>
            <a:lvl3pPr marL="9144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3pPr>
            <a:lvl4pPr marL="13716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4pPr>
            <a:lvl5pPr marL="1828800" indent="0" algn="l" defTabSz="914400" rtl="0" eaLnBrk="0" fontAlgn="base" hangingPunct="0">
              <a:lnSpc>
                <a:spcPct val="100000"/>
              </a:lnSpc>
              <a:spcBef>
                <a:spcPct val="30000"/>
              </a:spcBef>
              <a:spcAft>
                <a:spcPct val="0"/>
              </a:spcAft>
              <a:buClrTx/>
              <a:buSzTx/>
              <a:buFontTx/>
              <a:buNone/>
              <a:defRPr kumimoji="0" lang="en-US" altLang="en-US" sz="1400" b="0" i="0" u="none" baseline="0">
                <a:solidFill>
                  <a:schemeClr val="tx1"/>
                </a:solidFill>
                <a:effectLst/>
                <a:latin typeface="Times New Roman" pitchFamily="18" charset="0"/>
                <a:ea typeface="Arial" pitchFamily="34" charset="0"/>
              </a:defRPr>
            </a:lvl5pPr>
          </a:lstStyle>
          <a:p>
            <a:endParaRPr/>
          </a:p>
        </p:txBody>
      </p:sp>
      <p:sp>
        <p:nvSpPr>
          <p:cNvPr id="48132" name="Header Placeholder 48131"/>
          <p:cNvSpPr>
            <a:spLocks noGrp="1"/>
          </p:cNvSpPr>
          <p:nvPr>
            <p:ph type="hdr" sz="quarter"/>
          </p:nvPr>
        </p:nvSpPr>
        <p:spPr/>
        <p:txBody>
          <a:bodyPr lIns="19050" tIns="0" rIns="19050" bIns="0">
            <a:noAutofit/>
          </a:bodyPr>
          <a:lstStyle/>
          <a:p>
            <a:pPr lvl="0" eaLnBrk="0" hangingPunct="0"/>
            <a:fld id="{DFE106FC-00BF-46C8-99D4-FACACC3F2001}" type="header">
              <a:rPr sz="1000" i="1"/>
              <a:t>​</a:t>
            </a:fld>
            <a:endParaRPr sz="1000" i="1"/>
          </a:p>
        </p:txBody>
      </p:sp>
      <p:sp>
        <p:nvSpPr>
          <p:cNvPr id="48133" name="Date Placeholder 48132"/>
          <p:cNvSpPr>
            <a:spLocks noGrp="1"/>
          </p:cNvSpPr>
          <p:nvPr>
            <p:ph type="dt" idx="1"/>
          </p:nvPr>
        </p:nvSpPr>
        <p:spPr/>
        <p:txBody>
          <a:bodyPr lIns="19050" tIns="0" rIns="19050" bIns="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r>
              <a:rPr sz="1000" i="1"/>
              <a:t>Oracle Netherlands - 25 September 1996</a:t>
            </a:r>
          </a:p>
        </p:txBody>
      </p:sp>
      <p:sp>
        <p:nvSpPr>
          <p:cNvPr id="48134" name="Footer Placeholder 48133"/>
          <p:cNvSpPr>
            <a:spLocks noGrp="1"/>
          </p:cNvSpPr>
          <p:nvPr>
            <p:ph type="ftr" sz="quarter" idx="4"/>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fld id="{7D4C0A17-FF33-4BC2-AD11-8CF64018941B}" type="footer">
              <a:rPr sz="1000" i="1"/>
              <a:t>(c) Aberdeen Group, Inc., 1996</a:t>
            </a:fld>
            <a:endParaRPr sz="1000" i="1"/>
          </a:p>
        </p:txBody>
      </p:sp>
      <p:sp>
        <p:nvSpPr>
          <p:cNvPr id="48135" name="Slide Number Placeholder 48134"/>
          <p:cNvSpPr>
            <a:spLocks noGrp="1"/>
          </p:cNvSpPr>
          <p:nvPr>
            <p:ph type="sldNum" sz="quarter" idx="5"/>
          </p:nvPr>
        </p:nvSpPr>
        <p:spPr/>
        <p:txBody>
          <a:bodyPr lIns="19050" tIns="0" rIns="19050" bIns="0" anchor="b"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31E742FF-C492-4731-83EC-53630F504E49}" type="slidenum">
              <a:rPr sz="1000" i="1"/>
              <a:t>22</a:t>
            </a:fld>
            <a:endParaRPr sz="1000" i="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5"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
        <p:nvSpPr>
          <p:cNvPr id="6" name="Slide Number Placeholder 5"/>
          <p:cNvSpPr>
            <a:spLocks noGrp="1"/>
          </p:cNvSpPr>
          <p:nvPr>
            <p:ph type="sldNum" sz="quarter" idx="12"/>
          </p:nvPr>
        </p:nvSpPr>
        <p:spPr/>
        <p:txBody>
          <a:bodyPr/>
          <a:lstStyle/>
          <a:p>
            <a:pPr lvl="0" algn="r" eaLnBrk="0" hangingPunct="0"/>
            <a:fld id="{93AE1883-0942-4AA3-9DB2-9C7C3A0314B1}" type="slidenum">
              <a:rPr sz="140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5"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
        <p:nvSpPr>
          <p:cNvPr id="6" name="Slide Number Placeholder 5"/>
          <p:cNvSpPr>
            <a:spLocks noGrp="1"/>
          </p:cNvSpPr>
          <p:nvPr>
            <p:ph type="sldNum" sz="quarter" idx="12"/>
          </p:nvPr>
        </p:nvSpPr>
        <p:spPr/>
        <p:txBody>
          <a:bodyPr/>
          <a:lstStyle/>
          <a:p>
            <a:pPr lvl="0" algn="r" eaLnBrk="0" hangingPunct="0"/>
            <a:fld id="{93AE1883-0942-4AA3-9DB2-9C7C3A0314B1}" type="slidenum">
              <a:rPr sz="140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eaLnBrk="0" hangingPunct="0"/>
            <a:endParaRPr sz="1400">
              <a:latin typeface="Times New Roman" pitchFamily="18" charset="0"/>
            </a:endParaRPr>
          </a:p>
        </p:txBody>
      </p:sp>
      <p:sp>
        <p:nvSpPr>
          <p:cNvPr id="6" name="Footer Placeholder 5"/>
          <p:cNvSpPr>
            <a:spLocks noGrp="1"/>
          </p:cNvSpPr>
          <p:nvPr>
            <p:ph type="ftr" sz="quarter" idx="11"/>
          </p:nvPr>
        </p:nvSpPr>
        <p:spPr/>
        <p:txBody>
          <a:bodyPr/>
          <a:lstStyle/>
          <a:p>
            <a:pPr lvl="0" algn="ctr" eaLnBrk="0" hangingPunct="0"/>
            <a:endParaRPr sz="1400">
              <a:latin typeface="Times New Roman" pitchFamily="18" charset="0"/>
            </a:endParaRPr>
          </a:p>
        </p:txBody>
      </p:sp>
      <p:sp>
        <p:nvSpPr>
          <p:cNvPr id="7" name="Slide Number Placeholder 6"/>
          <p:cNvSpPr>
            <a:spLocks noGrp="1"/>
          </p:cNvSpPr>
          <p:nvPr>
            <p:ph type="sldNum" sz="quarter" idx="12"/>
          </p:nvPr>
        </p:nvSpPr>
        <p:spPr/>
        <p:txBody>
          <a:bodyPr/>
          <a:lstStyle/>
          <a:p>
            <a:pPr lvl="0" algn="r" eaLnBrk="0" hangingPunct="0"/>
            <a:fld id="{93AE1883-0942-4AA3-9DB2-9C7C3A0314B1}" type="slidenum">
              <a:rPr sz="140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t>Click to edit Master title style</a:t>
            </a:r>
            <a:endParaRPr lang="en-US"/>
          </a:p>
        </p:txBody>
      </p:sp>
      <p:sp>
        <p:nvSpPr>
          <p:cNvPr id="3" name="Date Placeholder 2"/>
          <p:cNvSpPr>
            <a:spLocks noGrp="1"/>
          </p:cNvSpPr>
          <p:nvPr>
            <p:ph type="dt" sz="half" idx="10"/>
          </p:nvPr>
        </p:nvSpPr>
        <p:spPr/>
        <p:txBody>
          <a:bodyPr/>
          <a:lstStyle/>
          <a:p>
            <a:pPr lvl="0" eaLnBrk="0" hangingPunct="0"/>
            <a:endParaRPr sz="1400">
              <a:latin typeface="Times New Roman" pitchFamily="18" charset="0"/>
            </a:endParaRPr>
          </a:p>
        </p:txBody>
      </p:sp>
      <p:sp>
        <p:nvSpPr>
          <p:cNvPr id="4" name="Footer Placeholder 3"/>
          <p:cNvSpPr>
            <a:spLocks noGrp="1"/>
          </p:cNvSpPr>
          <p:nvPr>
            <p:ph type="ftr" sz="quarter" idx="11"/>
          </p:nvPr>
        </p:nvSpPr>
        <p:spPr/>
        <p:txBody>
          <a:bodyPr/>
          <a:lstStyle/>
          <a:p>
            <a:pPr lvl="0" algn="ctr" eaLnBrk="0" hangingPunct="0"/>
            <a:endParaRPr sz="1400">
              <a:latin typeface="Times New Roman" pitchFamily="18" charset="0"/>
            </a:endParaRPr>
          </a:p>
        </p:txBody>
      </p:sp>
      <p:sp>
        <p:nvSpPr>
          <p:cNvPr id="5" name="Slide Number Placeholder 4"/>
          <p:cNvSpPr>
            <a:spLocks noGrp="1"/>
          </p:cNvSpPr>
          <p:nvPr>
            <p:ph type="sldNum" sz="quarter" idx="12"/>
          </p:nvPr>
        </p:nvSpPr>
        <p:spPr/>
        <p:txBody>
          <a:bodyPr/>
          <a:lstStyle/>
          <a:p>
            <a:pPr lvl="0" algn="r" eaLnBrk="0" hangingPunct="0"/>
            <a:fld id="{93AE1883-0942-4AA3-9DB2-9C7C3A0314B1}" type="slidenum">
              <a:rPr sz="140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eaLnBrk="0" hangingPunct="0"/>
            <a:endParaRPr sz="1400">
              <a:latin typeface="Times New Roman" pitchFamily="18" charset="0"/>
            </a:endParaRPr>
          </a:p>
        </p:txBody>
      </p:sp>
      <p:sp>
        <p:nvSpPr>
          <p:cNvPr id="3" name="Footer Placeholder 2"/>
          <p:cNvSpPr>
            <a:spLocks noGrp="1"/>
          </p:cNvSpPr>
          <p:nvPr>
            <p:ph type="ftr" sz="quarter" idx="11"/>
          </p:nvPr>
        </p:nvSpPr>
        <p:spPr/>
        <p:txBody>
          <a:bodyPr/>
          <a:lstStyle/>
          <a:p>
            <a:pPr lvl="0" algn="ctr" eaLnBrk="0" hangingPunct="0"/>
            <a:endParaRPr sz="1400">
              <a:latin typeface="Times New Roman" pitchFamily="18" charset="0"/>
            </a:endParaRPr>
          </a:p>
        </p:txBody>
      </p:sp>
      <p:sp>
        <p:nvSpPr>
          <p:cNvPr id="4" name="Slide Number Placeholder 3"/>
          <p:cNvSpPr>
            <a:spLocks noGrp="1"/>
          </p:cNvSpPr>
          <p:nvPr>
            <p:ph type="sldNum" sz="quarter" idx="12"/>
          </p:nvPr>
        </p:nvSpPr>
        <p:spPr/>
        <p:txBody>
          <a:bodyPr/>
          <a:lstStyle/>
          <a:p>
            <a:pPr lvl="0" algn="r" eaLnBrk="0" hangingPunct="0"/>
            <a:fld id="{93AE1883-0942-4AA3-9DB2-9C7C3A0314B1}" type="slidenum">
              <a:rPr sz="140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Date Placeholder 1025"/>
          <p:cNvSpPr>
            <a:spLocks noGrp="1"/>
          </p:cNvSpPr>
          <p:nvPr>
            <p:ph type="dt" sz="half" idx="2"/>
          </p:nvPr>
        </p:nvSpPr>
        <p:spPr>
          <a:xfrm>
            <a:off x="711200" y="6248400"/>
            <a:ext cx="1897063" cy="45720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endParaRPr sz="1400">
              <a:latin typeface="Times New Roman" pitchFamily="18" charset="0"/>
            </a:endParaRPr>
          </a:p>
        </p:txBody>
      </p:sp>
      <p:sp>
        <p:nvSpPr>
          <p:cNvPr id="1027" name="Footer Placeholder 1026"/>
          <p:cNvSpPr>
            <a:spLocks noGrp="1"/>
          </p:cNvSpPr>
          <p:nvPr>
            <p:ph type="ftr" sz="quarter" idx="3"/>
          </p:nvPr>
        </p:nvSpPr>
        <p:spPr>
          <a:xfrm>
            <a:off x="3149600" y="6248400"/>
            <a:ext cx="2844800" cy="45720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ctr" eaLnBrk="0" hangingPunct="0"/>
            <a:endParaRPr sz="1400">
              <a:latin typeface="Times New Roman" pitchFamily="18" charset="0"/>
            </a:endParaRPr>
          </a:p>
        </p:txBody>
      </p:sp>
      <p:sp>
        <p:nvSpPr>
          <p:cNvPr id="1028" name="Slide Number Placeholder 1027"/>
          <p:cNvSpPr>
            <a:spLocks noGrp="1"/>
          </p:cNvSpPr>
          <p:nvPr>
            <p:ph type="sldNum" sz="quarter" idx="4"/>
          </p:nvPr>
        </p:nvSpPr>
        <p:spPr>
          <a:xfrm>
            <a:off x="6535738" y="6248400"/>
            <a:ext cx="1897062" cy="457200"/>
          </a:xfrm>
          <a:prstGeom prst="rect">
            <a:avLst/>
          </a:prstGeom>
          <a:noFill/>
          <a:ln>
            <a:noFill/>
            <a:miter lim="800000"/>
          </a:ln>
          <a:effectLst/>
        </p:spPr>
        <p:txBody>
          <a:bodyPr wrap="none" lIns="92075" tIns="46038" rIns="92075" bIns="46038" anchor="ctr" anchorCtr="0">
            <a:no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r" eaLnBrk="0" hangingPunct="0"/>
            <a:fld id="{A4562B66-B841-4690-A3E2-BF3BD2164519}" type="slidenum">
              <a:rPr sz="1400"/>
              <a:t>‹#›</a:t>
            </a:fld>
            <a:endParaRPr sz="1400"/>
          </a:p>
        </p:txBody>
      </p:sp>
      <p:grpSp>
        <p:nvGrpSpPr>
          <p:cNvPr id="1036" name="Group 1035"/>
          <p:cNvGrpSpPr/>
          <p:nvPr/>
        </p:nvGrpSpPr>
        <p:grpSpPr>
          <a:xfrm>
            <a:off x="236538" y="0"/>
            <a:ext cx="8896350" cy="6845300"/>
            <a:chOff x="149" y="0"/>
            <a:chExt cx="5604" cy="4312"/>
          </a:xfrm>
        </p:grpSpPr>
        <p:sp>
          <p:nvSpPr>
            <p:cNvPr id="1029" name="Rectangle 1028"/>
            <p:cNvSpPr/>
            <p:nvPr/>
          </p:nvSpPr>
          <p:spPr>
            <a:xfrm>
              <a:off x="149" y="0"/>
              <a:ext cx="150" cy="4312"/>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sp>
          <p:nvSpPr>
            <p:cNvPr id="1030" name="Rectangle 1029"/>
            <p:cNvSpPr/>
            <p:nvPr/>
          </p:nvSpPr>
          <p:spPr>
            <a:xfrm>
              <a:off x="277" y="0"/>
              <a:ext cx="235" cy="2940"/>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sp>
          <p:nvSpPr>
            <p:cNvPr id="1031" name="Rectangle 1030"/>
            <p:cNvSpPr/>
            <p:nvPr/>
          </p:nvSpPr>
          <p:spPr>
            <a:xfrm>
              <a:off x="203" y="0"/>
              <a:ext cx="682" cy="2112"/>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sp>
          <p:nvSpPr>
            <p:cNvPr id="1032" name="Rectangle 1031"/>
            <p:cNvSpPr/>
            <p:nvPr/>
          </p:nvSpPr>
          <p:spPr>
            <a:xfrm>
              <a:off x="256" y="0"/>
              <a:ext cx="192" cy="2448"/>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sp>
          <p:nvSpPr>
            <p:cNvPr id="1033" name="Rectangle 1032"/>
            <p:cNvSpPr/>
            <p:nvPr/>
          </p:nvSpPr>
          <p:spPr>
            <a:xfrm>
              <a:off x="373" y="924"/>
              <a:ext cx="331" cy="768"/>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sp>
          <p:nvSpPr>
            <p:cNvPr id="1034" name="Rectangle 1033"/>
            <p:cNvSpPr/>
            <p:nvPr/>
          </p:nvSpPr>
          <p:spPr>
            <a:xfrm>
              <a:off x="320" y="888"/>
              <a:ext cx="5433" cy="84"/>
            </a:xfrm>
            <a:prstGeom prst="rect">
              <a:avLst/>
            </a:prstGeom>
            <a:gradFill rotWithShape="0">
              <a:gsLst>
                <a:gs pos="0">
                  <a:srgbClr val="F57B49">
                    <a:gamma/>
                    <a:tint val="20000"/>
                    <a:invGamma/>
                  </a:srgbClr>
                </a:gs>
                <a:gs pos="100000">
                  <a:srgbClr val="F57B49"/>
                </a:gs>
              </a:gsLst>
              <a:lin ang="5400000" scaled="1"/>
            </a:gradFill>
            <a:ln>
              <a:noFill/>
              <a:miter lim="800000"/>
            </a:ln>
            <a:effectLst/>
          </p:spPr>
        </p:sp>
        <p:cxnSp>
          <p:nvCxnSpPr>
            <p:cNvPr id="1035" name="Straight Connector 1034"/>
            <p:cNvCxnSpPr/>
            <p:nvPr/>
          </p:nvCxnSpPr>
          <p:spPr>
            <a:xfrm>
              <a:off x="149" y="888"/>
              <a:ext cx="5604" cy="0"/>
            </a:xfrm>
            <a:prstGeom prst="line">
              <a:avLst/>
            </a:prstGeom>
            <a:noFill/>
            <a:ln w="12700">
              <a:solidFill>
                <a:schemeClr val="tx1"/>
              </a:solidFill>
              <a:miter lim="800000"/>
            </a:ln>
            <a:effectLst/>
          </p:spPr>
        </p:cxnSp>
      </p:grpSp>
      <p:sp>
        <p:nvSpPr>
          <p:cNvPr id="1037" name="Title Placeholder 1036"/>
          <p:cNvSpPr>
            <a:spLocks noGrp="1"/>
          </p:cNvSpPr>
          <p:nvPr>
            <p:ph type="title"/>
          </p:nvPr>
        </p:nvSpPr>
        <p:spPr>
          <a:xfrm>
            <a:off x="1189038" y="228600"/>
            <a:ext cx="6842125" cy="1143000"/>
          </a:xfrm>
          <a:prstGeom prst="rect">
            <a:avLst/>
          </a:prstGeom>
          <a:noFill/>
          <a:ln>
            <a:noFill/>
            <a:miter lim="800000"/>
          </a:ln>
          <a:effectLst/>
        </p:spPr>
        <p:txBody>
          <a:bodyPr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Click to edit Master title style</a:t>
            </a:r>
          </a:p>
        </p:txBody>
      </p:sp>
      <p:sp>
        <p:nvSpPr>
          <p:cNvPr id="1038" name="Text Placeholder 1037"/>
          <p:cNvSpPr>
            <a:spLocks noGrp="1"/>
          </p:cNvSpPr>
          <p:nvPr>
            <p:ph type="body" idx="1"/>
          </p:nvPr>
        </p:nvSpPr>
        <p:spPr>
          <a:xfrm>
            <a:off x="1152525" y="1828800"/>
            <a:ext cx="6892925" cy="4191000"/>
          </a:xfrm>
          <a:prstGeom prst="rect">
            <a:avLst/>
          </a:prstGeom>
          <a:noFill/>
          <a:ln>
            <a:noFill/>
            <a:miter lim="800000"/>
          </a:ln>
          <a:effectLst/>
        </p:spPr>
        <p:txBody>
          <a:bodyPr lIns="92075" tIns="46038" rIns="92075" bIns="46038">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Click to edit Master text styles</a:t>
            </a:r>
          </a:p>
          <a:p>
            <a:pPr lvl="1"/>
            <a:r>
              <a:t>Second Level</a:t>
            </a:r>
          </a:p>
          <a:p>
            <a:pPr lvl="2"/>
            <a:r>
              <a:t>Third Level</a:t>
            </a:r>
          </a:p>
          <a:p>
            <a:pPr lvl="3"/>
            <a:r>
              <a:t>Fourth Level</a:t>
            </a:r>
          </a:p>
          <a:p>
            <a:pPr lvl="4"/>
            <a:r>
              <a:t>Fifth Level</a:t>
            </a:r>
          </a:p>
        </p:txBody>
      </p:sp>
      <p:sp>
        <p:nvSpPr>
          <p:cNvPr id="1039" name="Rectangle 1038"/>
          <p:cNvSpPr/>
          <p:nvPr/>
        </p:nvSpPr>
        <p:spPr>
          <a:xfrm>
            <a:off x="6927850" y="6399213"/>
            <a:ext cx="1571625"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eaLnBrk="0" hangingPunct="0"/>
            <a:r>
              <a:rPr sz="1600" b="1">
                <a:solidFill>
                  <a:srgbClr val="618FFD"/>
                </a:solidFill>
                <a:latin typeface="Times New Roman" pitchFamily="18" charset="0"/>
              </a:rPr>
              <a:t>Aberdeen</a:t>
            </a:r>
            <a:r>
              <a:rPr sz="1600" b="1" i="1">
                <a:solidFill>
                  <a:srgbClr val="618FFD"/>
                </a:solidFill>
                <a:latin typeface="Times New Roman" pitchFamily="18" charset="0"/>
              </a:rPr>
              <a:t>Group</a:t>
            </a:r>
          </a:p>
        </p:txBody>
      </p:sp>
      <p:sp>
        <p:nvSpPr>
          <p:cNvPr id="1040" name="Rectangle 1039"/>
          <p:cNvSpPr/>
          <p:nvPr/>
        </p:nvSpPr>
        <p:spPr>
          <a:xfrm>
            <a:off x="8470900" y="6399213"/>
            <a:ext cx="431800" cy="33655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ctr" eaLnBrk="0" hangingPunct="0"/>
            <a:fld id="{5FB8F92D-9731-4CFA-AE0C-B62B0FBCCF8F}" type="slidenum">
              <a:rPr sz="1600" b="1" i="1"/>
              <a:t>‹#›</a:t>
            </a:fld>
            <a:endParaRPr sz="1600" b="1" i="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hf sldNum="0" dt="0"/>
  <p:txStyles>
    <p:titleStyle>
      <a:lvl1pPr marL="0" indent="0" algn="ctr" defTabSz="914400" rtl="0" eaLnBrk="0" fontAlgn="base" hangingPunct="0">
        <a:lnSpc>
          <a:spcPct val="100000"/>
        </a:lnSpc>
        <a:spcBef>
          <a:spcPct val="0"/>
        </a:spcBef>
        <a:spcAft>
          <a:spcPct val="0"/>
        </a:spcAft>
        <a:buClrTx/>
        <a:buSzTx/>
        <a:buFontTx/>
        <a:buNone/>
        <a:defRPr kumimoji="0" sz="4000" b="1" i="0" u="none" baseline="0">
          <a:solidFill>
            <a:schemeClr val="tx2"/>
          </a:solidFill>
          <a:effectLst/>
          <a:latin typeface="Arial" pitchFamily="34" charset="0"/>
          <a:ea typeface="Arial" pitchFamily="34" charset="0"/>
        </a:defRPr>
      </a:lvl1pPr>
    </p:titleStyle>
    <p:body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sz="1400" b="0" i="1" u="none" baseline="0">
          <a:solidFill>
            <a:schemeClr val="tx1"/>
          </a:solidFill>
          <a:effectLst/>
          <a:latin typeface="Arial" pitchFamily="34" charset="0"/>
          <a:ea typeface="Arial" pitchFamily="34" charset="0"/>
        </a:defRPr>
      </a:lvl5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4097"/>
          <p:cNvSpPr>
            <a:spLocks noGrp="1"/>
          </p:cNvSpPr>
          <p:nvPr>
            <p:ph type="ctrTitle"/>
          </p:nvPr>
        </p:nvSpPr>
        <p:spPr>
          <a:xfrm>
            <a:off x="685800" y="2286000"/>
            <a:ext cx="7772400"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rPr sz="3600"/>
              <a:t>If </a:t>
            </a:r>
            <a:r>
              <a:rPr sz="3600" i="1"/>
              <a:t>Workgroup</a:t>
            </a:r>
            <a:r>
              <a:rPr sz="3600"/>
              <a:t> Collaboration is a Problem, How Are We Going to Collaborate With the </a:t>
            </a:r>
            <a:r>
              <a:rPr sz="3600" i="1"/>
              <a:t>World</a:t>
            </a:r>
            <a:r>
              <a:rPr sz="3600"/>
              <a:t>?</a:t>
            </a:r>
          </a:p>
        </p:txBody>
      </p:sp>
      <p:sp>
        <p:nvSpPr>
          <p:cNvPr id="4099" name="Subtitle 4098"/>
          <p:cNvSpPr>
            <a:spLocks noGrp="1"/>
          </p:cNvSpPr>
          <p:nvPr>
            <p:ph type="subTitle" idx="1"/>
          </p:nvPr>
        </p:nvSpPr>
        <p:spPr>
          <a:xfrm>
            <a:off x="1371600" y="3886200"/>
            <a:ext cx="6400800" cy="1752600"/>
          </a:xfrm>
          <a:noFill/>
          <a:ln>
            <a:noFill/>
            <a:miter lim="800000"/>
          </a:ln>
          <a:effectLst/>
        </p:spPr>
        <p:txBody>
          <a:bodyPr vert="horz" wrap="square" lIns="92075" tIns="46038" rIns="92075" bIns="46038" anchor="t" anchorCtr="0">
            <a:noAutofit/>
          </a:bodyPr>
          <a:lstStyle>
            <a:lvl1pPr marL="342900" indent="-342900" algn="ctr" rtl="0" eaLnBrk="0" fontAlgn="base" hangingPunct="0">
              <a:lnSpc>
                <a:spcPct val="100000"/>
              </a:lnSpc>
              <a:spcBef>
                <a:spcPct val="20000"/>
              </a:spcBef>
              <a:spcAft>
                <a:spcPct val="0"/>
              </a:spcAft>
              <a:buClr>
                <a:schemeClr val="tx1"/>
              </a:buClr>
              <a:buSzPct val="75000"/>
              <a:buFont typeface="Monotype Sorts" charset="0"/>
              <a:buNone/>
              <a:defRPr kumimoji="0" lang="en-US" altLang="en-US" sz="2400" b="1" i="0" u="none" baseline="0">
                <a:solidFill>
                  <a:schemeClr val="tx1"/>
                </a:solidFill>
                <a:effectLst/>
                <a:latin typeface="Arial" pitchFamily="34" charset="0"/>
                <a:ea typeface="Arial" pitchFamily="34" charset="0"/>
              </a:defRPr>
            </a:lvl1pPr>
            <a:lvl2pPr marL="742950" indent="-285750" algn="ctr" rtl="0" eaLnBrk="0" fontAlgn="base" hangingPunct="0">
              <a:lnSpc>
                <a:spcPct val="100000"/>
              </a:lnSpc>
              <a:spcBef>
                <a:spcPct val="20000"/>
              </a:spcBef>
              <a:spcAft>
                <a:spcPct val="0"/>
              </a:spcAft>
              <a:buClr>
                <a:schemeClr val="tx1"/>
              </a:buClr>
              <a:buSzTx/>
              <a:buFontTx/>
              <a:buNone/>
              <a:defRPr kumimoji="0" lang="en-US" altLang="en-US" sz="2000" b="1" i="0" u="none" baseline="0">
                <a:solidFill>
                  <a:schemeClr val="tx1"/>
                </a:solidFill>
                <a:effectLst/>
                <a:latin typeface="Arial" pitchFamily="34" charset="0"/>
                <a:ea typeface="Arial" pitchFamily="34" charset="0"/>
              </a:defRPr>
            </a:lvl2pPr>
            <a:lvl3pPr marL="1143000" indent="-228600" algn="ctr" rtl="0" eaLnBrk="0" fontAlgn="base" hangingPunct="0">
              <a:lnSpc>
                <a:spcPct val="100000"/>
              </a:lnSpc>
              <a:spcBef>
                <a:spcPct val="20000"/>
              </a:spcBef>
              <a:spcAft>
                <a:spcPct val="0"/>
              </a:spcAft>
              <a:buClr>
                <a:schemeClr val="tx1"/>
              </a:buClr>
              <a:buSzTx/>
              <a:buFontTx/>
              <a:buNone/>
              <a:defRPr kumimoji="0" lang="en-US" altLang="en-US" sz="1800" b="1" i="0" u="none" baseline="0">
                <a:solidFill>
                  <a:schemeClr val="tx1"/>
                </a:solidFill>
                <a:effectLst/>
                <a:latin typeface="Arial" pitchFamily="34" charset="0"/>
                <a:ea typeface="Arial" pitchFamily="34" charset="0"/>
              </a:defRPr>
            </a:lvl3pPr>
            <a:lvl4pPr marL="1600200" indent="-228600" algn="ctr" rtl="0" eaLnBrk="0" fontAlgn="base" hangingPunct="0">
              <a:lnSpc>
                <a:spcPct val="100000"/>
              </a:lnSpc>
              <a:spcBef>
                <a:spcPct val="20000"/>
              </a:spcBef>
              <a:spcAft>
                <a:spcPct val="0"/>
              </a:spcAft>
              <a:buClr>
                <a:schemeClr val="tx1"/>
              </a:buClr>
              <a:buSzTx/>
              <a:buFontTx/>
              <a:buNone/>
              <a:defRPr kumimoji="0" lang="en-US" altLang="en-US" sz="1600" b="0" i="1" u="none" baseline="0">
                <a:solidFill>
                  <a:schemeClr val="tx1"/>
                </a:solidFill>
                <a:effectLst/>
                <a:latin typeface="Arial" pitchFamily="34" charset="0"/>
                <a:ea typeface="Arial" pitchFamily="34" charset="0"/>
              </a:defRPr>
            </a:lvl4pPr>
            <a:lvl5pPr marL="2057400" indent="-228600" algn="ctr" rtl="0" eaLnBrk="0" fontAlgn="base" hangingPunct="0">
              <a:lnSpc>
                <a:spcPct val="100000"/>
              </a:lnSpc>
              <a:spcBef>
                <a:spcPct val="20000"/>
              </a:spcBef>
              <a:spcAft>
                <a:spcPct val="0"/>
              </a:spcAft>
              <a:buClr>
                <a:schemeClr val="tx1"/>
              </a:buClr>
              <a:buSzTx/>
              <a:buFontTx/>
              <a:buNone/>
              <a:defRPr kumimoji="0" lang="en-US" altLang="en-US" sz="1400" b="0" i="1" u="none" baseline="0">
                <a:solidFill>
                  <a:schemeClr val="tx1"/>
                </a:solidFill>
                <a:effectLst/>
                <a:latin typeface="Arial" pitchFamily="34" charset="0"/>
                <a:ea typeface="Arial" pitchFamily="34" charset="0"/>
              </a:defRPr>
            </a:lvl5pPr>
          </a:lstStyle>
          <a:p>
            <a:pPr lvl="0"/>
            <a:r>
              <a:rPr sz="1800"/>
              <a:t>Peter S. Kastner</a:t>
            </a:r>
            <a:br>
              <a:rPr sz="1800"/>
            </a:br>
            <a:r>
              <a:rPr sz="1800"/>
              <a:t>Vice President</a:t>
            </a:r>
            <a:br>
              <a:rPr sz="1800"/>
            </a:br>
            <a:r>
              <a:rPr sz="1800"/>
              <a:t>Aberdeen Group, Inc.</a:t>
            </a:r>
            <a:br>
              <a:rPr sz="1800"/>
            </a:br>
            <a:r>
              <a:rPr sz="1800"/>
              <a:t>One Boston Place</a:t>
            </a:r>
            <a:br>
              <a:rPr sz="1800"/>
            </a:br>
            <a:r>
              <a:rPr sz="1800"/>
              <a:t>Boston, MA  02108</a:t>
            </a:r>
          </a:p>
        </p:txBody>
      </p:sp>
      <p:sp>
        <p:nvSpPr>
          <p:cNvPr id="4100"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4101"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6145"/>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Workgroup Collaboration</a:t>
            </a:r>
            <a:br/>
            <a:r>
              <a:t>In a Global World</a:t>
            </a:r>
          </a:p>
        </p:txBody>
      </p:sp>
      <p:sp>
        <p:nvSpPr>
          <p:cNvPr id="6147" name="Text Placeholder 6146"/>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Definition and the Market</a:t>
            </a:r>
          </a:p>
          <a:p>
            <a:pPr lvl="0"/>
            <a:r>
              <a:t>Trends</a:t>
            </a:r>
          </a:p>
          <a:p>
            <a:pPr lvl="0"/>
            <a:r>
              <a:t>Crafting a Strategy</a:t>
            </a:r>
          </a:p>
          <a:p>
            <a:pPr lvl="0"/>
            <a:r>
              <a:t>Setting Requirements</a:t>
            </a:r>
          </a:p>
          <a:p>
            <a:pPr lvl="0"/>
            <a:r>
              <a:t>Aberdeen Recommendations &amp; Conclusions</a:t>
            </a:r>
          </a:p>
        </p:txBody>
      </p:sp>
      <p:sp>
        <p:nvSpPr>
          <p:cNvPr id="6148"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6149"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8193"/>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Definitions</a:t>
            </a:r>
          </a:p>
        </p:txBody>
      </p:sp>
      <p:sp>
        <p:nvSpPr>
          <p:cNvPr id="8195" name="Text Placeholder 8194"/>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Groupware and collaboration</a:t>
            </a:r>
          </a:p>
          <a:p>
            <a:pPr lvl="1"/>
            <a:r>
              <a:t>Software that electronically helps people communicate with each other</a:t>
            </a:r>
          </a:p>
          <a:p>
            <a:pPr lvl="1"/>
            <a:r>
              <a:t>“Computer-mediated collaboration that increases the productivity or functionality of person-to-person processes” -- (Coleman 1992)</a:t>
            </a:r>
          </a:p>
          <a:p>
            <a:pPr lvl="1"/>
            <a:r>
              <a:t>“Supports any time, any where” -- (Johansen 1991)</a:t>
            </a:r>
          </a:p>
          <a:p>
            <a:pPr lvl="1"/>
            <a:r>
              <a:t>“Extends face-to-face communication to cross organizational and geographic boundaries, while eliminating the requirement for face-to-face” -- (Kastner 1996)</a:t>
            </a:r>
          </a:p>
        </p:txBody>
      </p:sp>
      <p:sp>
        <p:nvSpPr>
          <p:cNvPr id="8196"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8197"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0241"/>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The Market</a:t>
            </a:r>
          </a:p>
        </p:txBody>
      </p:sp>
      <p:sp>
        <p:nvSpPr>
          <p:cNvPr id="10243" name="Text Placeholder 10242"/>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Groupware market is growing quickly</a:t>
            </a:r>
          </a:p>
          <a:p>
            <a:pPr lvl="1"/>
            <a:r>
              <a:t>From US$1.7 Billion in 1993 to $5.5 billion in 1998 (Yankee Group)</a:t>
            </a:r>
          </a:p>
          <a:p>
            <a:pPr lvl="0"/>
            <a:r>
              <a:t>Growth</a:t>
            </a:r>
          </a:p>
          <a:p>
            <a:pPr lvl="1"/>
            <a:r>
              <a:t>13.6 million users of Lotus Notes or ccMail (IBM)</a:t>
            </a:r>
          </a:p>
          <a:p>
            <a:pPr lvl="1"/>
            <a:r>
              <a:t>Over 5 million GroupWise seats (Novell)</a:t>
            </a:r>
          </a:p>
          <a:p>
            <a:pPr lvl="1"/>
            <a:r>
              <a:t>Growth rate is 15% per year (Ovum)</a:t>
            </a:r>
          </a:p>
          <a:p>
            <a:pPr lvl="0"/>
            <a:r>
              <a:t>Growth in Intranets &amp; Internet</a:t>
            </a:r>
          </a:p>
          <a:p>
            <a:pPr lvl="1"/>
            <a:r>
              <a:t>15 million users</a:t>
            </a:r>
          </a:p>
          <a:p>
            <a:pPr lvl="1"/>
            <a:r>
              <a:t>Dramatically increasing monetary investments</a:t>
            </a:r>
          </a:p>
          <a:p>
            <a:pPr lvl="1"/>
            <a:r>
              <a:t>One-half or more of Web servers are Intranets (Netscape)</a:t>
            </a:r>
          </a:p>
        </p:txBody>
      </p:sp>
      <p:sp>
        <p:nvSpPr>
          <p:cNvPr id="10244"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10245"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2289"/>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Characteristics</a:t>
            </a:r>
          </a:p>
        </p:txBody>
      </p:sp>
      <p:sp>
        <p:nvSpPr>
          <p:cNvPr id="12291" name="Text Placeholder 12290"/>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Electronic mail and messaging</a:t>
            </a:r>
          </a:p>
          <a:p>
            <a:pPr lvl="0"/>
            <a:r>
              <a:t>Conferencing and meeting</a:t>
            </a:r>
          </a:p>
          <a:p>
            <a:pPr lvl="1"/>
            <a:r>
              <a:t>calendaring and scheduling</a:t>
            </a:r>
          </a:p>
          <a:p>
            <a:pPr lvl="1"/>
            <a:r>
              <a:t>Video and audio conferences</a:t>
            </a:r>
          </a:p>
          <a:p>
            <a:pPr lvl="0"/>
            <a:r>
              <a:t>Group decision support and shared databases</a:t>
            </a:r>
          </a:p>
          <a:p>
            <a:pPr lvl="0"/>
            <a:r>
              <a:t>Group document handling and management</a:t>
            </a:r>
          </a:p>
          <a:p>
            <a:pPr lvl="0"/>
            <a:r>
              <a:t>Workflow</a:t>
            </a:r>
          </a:p>
          <a:p>
            <a:pPr lvl="0"/>
            <a:r>
              <a:t>Development and Utilities</a:t>
            </a:r>
          </a:p>
        </p:txBody>
      </p:sp>
      <p:sp>
        <p:nvSpPr>
          <p:cNvPr id="12292"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12293"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4337"/>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Trends</a:t>
            </a:r>
          </a:p>
        </p:txBody>
      </p:sp>
      <p:sp>
        <p:nvSpPr>
          <p:cNvPr id="14339" name="Text Placeholder 14338"/>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Global, driving forces</a:t>
            </a:r>
          </a:p>
          <a:p>
            <a:pPr lvl="0"/>
            <a:r>
              <a:t>Buyer motivations</a:t>
            </a:r>
          </a:p>
          <a:p>
            <a:pPr lvl="0"/>
            <a:r>
              <a:t>Technology</a:t>
            </a:r>
          </a:p>
          <a:p>
            <a:pPr lvl="0"/>
            <a:r>
              <a:t>Market maturation</a:t>
            </a:r>
          </a:p>
        </p:txBody>
      </p:sp>
      <p:sp>
        <p:nvSpPr>
          <p:cNvPr id="14340" name="Freeform 14339"/>
          <p:cNvSpPr/>
          <p:nvPr/>
        </p:nvSpPr>
        <p:spPr>
          <a:xfrm>
            <a:off x="838200" y="4244975"/>
            <a:ext cx="4519613" cy="1695450"/>
          </a:xfrm>
          <a:custGeom>
            <a:avLst/>
            <a:gdLst/>
            <a:ahLst/>
            <a:cxnLst/>
            <a:rect l="0" t="0" r="0" b="0"/>
            <a:pathLst>
              <a:path w="2847" h="1068">
                <a:moveTo>
                  <a:pt x="1123" y="606"/>
                </a:moveTo>
                <a:lnTo>
                  <a:pt x="1124" y="629"/>
                </a:lnTo>
                <a:lnTo>
                  <a:pt x="1128" y="651"/>
                </a:lnTo>
                <a:lnTo>
                  <a:pt x="1133" y="674"/>
                </a:lnTo>
                <a:lnTo>
                  <a:pt x="1138" y="697"/>
                </a:lnTo>
                <a:lnTo>
                  <a:pt x="1145" y="722"/>
                </a:lnTo>
                <a:lnTo>
                  <a:pt x="1153" y="743"/>
                </a:lnTo>
                <a:lnTo>
                  <a:pt x="1162" y="766"/>
                </a:lnTo>
                <a:lnTo>
                  <a:pt x="1173" y="788"/>
                </a:lnTo>
                <a:lnTo>
                  <a:pt x="1186" y="809"/>
                </a:lnTo>
                <a:lnTo>
                  <a:pt x="1198" y="831"/>
                </a:lnTo>
                <a:lnTo>
                  <a:pt x="1212" y="851"/>
                </a:lnTo>
                <a:lnTo>
                  <a:pt x="1227" y="870"/>
                </a:lnTo>
                <a:lnTo>
                  <a:pt x="1243" y="890"/>
                </a:lnTo>
                <a:lnTo>
                  <a:pt x="1261" y="909"/>
                </a:lnTo>
                <a:lnTo>
                  <a:pt x="1280" y="928"/>
                </a:lnTo>
                <a:lnTo>
                  <a:pt x="1301" y="946"/>
                </a:lnTo>
                <a:lnTo>
                  <a:pt x="1321" y="963"/>
                </a:lnTo>
                <a:lnTo>
                  <a:pt x="1342" y="980"/>
                </a:lnTo>
                <a:lnTo>
                  <a:pt x="1365" y="996"/>
                </a:lnTo>
                <a:lnTo>
                  <a:pt x="1388" y="1011"/>
                </a:lnTo>
                <a:lnTo>
                  <a:pt x="1413" y="1026"/>
                </a:lnTo>
                <a:lnTo>
                  <a:pt x="1437" y="1039"/>
                </a:lnTo>
                <a:lnTo>
                  <a:pt x="1463" y="1051"/>
                </a:lnTo>
                <a:lnTo>
                  <a:pt x="1489" y="1063"/>
                </a:lnTo>
                <a:lnTo>
                  <a:pt x="1503" y="1067"/>
                </a:lnTo>
                <a:lnTo>
                  <a:pt x="1531" y="1054"/>
                </a:lnTo>
                <a:lnTo>
                  <a:pt x="1558" y="1040"/>
                </a:lnTo>
                <a:lnTo>
                  <a:pt x="1584" y="1025"/>
                </a:lnTo>
                <a:lnTo>
                  <a:pt x="1610" y="1008"/>
                </a:lnTo>
                <a:lnTo>
                  <a:pt x="1634" y="992"/>
                </a:lnTo>
                <a:lnTo>
                  <a:pt x="1658" y="974"/>
                </a:lnTo>
                <a:lnTo>
                  <a:pt x="1680" y="956"/>
                </a:lnTo>
                <a:lnTo>
                  <a:pt x="1701" y="937"/>
                </a:lnTo>
                <a:lnTo>
                  <a:pt x="1723" y="918"/>
                </a:lnTo>
                <a:lnTo>
                  <a:pt x="1743" y="898"/>
                </a:lnTo>
                <a:lnTo>
                  <a:pt x="1761" y="877"/>
                </a:lnTo>
                <a:lnTo>
                  <a:pt x="1779" y="856"/>
                </a:lnTo>
                <a:lnTo>
                  <a:pt x="1795" y="835"/>
                </a:lnTo>
                <a:lnTo>
                  <a:pt x="1811" y="813"/>
                </a:lnTo>
                <a:lnTo>
                  <a:pt x="1825" y="790"/>
                </a:lnTo>
                <a:lnTo>
                  <a:pt x="1838" y="767"/>
                </a:lnTo>
                <a:lnTo>
                  <a:pt x="1850" y="743"/>
                </a:lnTo>
                <a:lnTo>
                  <a:pt x="1861" y="720"/>
                </a:lnTo>
                <a:lnTo>
                  <a:pt x="1870" y="695"/>
                </a:lnTo>
                <a:lnTo>
                  <a:pt x="1877" y="671"/>
                </a:lnTo>
                <a:lnTo>
                  <a:pt x="1884" y="647"/>
                </a:lnTo>
                <a:lnTo>
                  <a:pt x="1890" y="622"/>
                </a:lnTo>
                <a:lnTo>
                  <a:pt x="1894" y="597"/>
                </a:lnTo>
                <a:lnTo>
                  <a:pt x="1896" y="573"/>
                </a:lnTo>
                <a:lnTo>
                  <a:pt x="1898" y="547"/>
                </a:lnTo>
                <a:lnTo>
                  <a:pt x="1898" y="522"/>
                </a:lnTo>
                <a:lnTo>
                  <a:pt x="1903" y="544"/>
                </a:lnTo>
                <a:lnTo>
                  <a:pt x="1909" y="570"/>
                </a:lnTo>
                <a:lnTo>
                  <a:pt x="1917" y="596"/>
                </a:lnTo>
                <a:lnTo>
                  <a:pt x="1926" y="623"/>
                </a:lnTo>
                <a:lnTo>
                  <a:pt x="1937" y="647"/>
                </a:lnTo>
                <a:lnTo>
                  <a:pt x="1948" y="673"/>
                </a:lnTo>
                <a:lnTo>
                  <a:pt x="1962" y="698"/>
                </a:lnTo>
                <a:lnTo>
                  <a:pt x="1975" y="724"/>
                </a:lnTo>
                <a:lnTo>
                  <a:pt x="1991" y="748"/>
                </a:lnTo>
                <a:lnTo>
                  <a:pt x="2007" y="772"/>
                </a:lnTo>
                <a:lnTo>
                  <a:pt x="2024" y="796"/>
                </a:lnTo>
                <a:lnTo>
                  <a:pt x="2043" y="819"/>
                </a:lnTo>
                <a:lnTo>
                  <a:pt x="2063" y="841"/>
                </a:lnTo>
                <a:lnTo>
                  <a:pt x="2084" y="862"/>
                </a:lnTo>
                <a:lnTo>
                  <a:pt x="2106" y="883"/>
                </a:lnTo>
                <a:lnTo>
                  <a:pt x="2129" y="904"/>
                </a:lnTo>
                <a:lnTo>
                  <a:pt x="2153" y="924"/>
                </a:lnTo>
                <a:lnTo>
                  <a:pt x="2177" y="943"/>
                </a:lnTo>
                <a:lnTo>
                  <a:pt x="2204" y="962"/>
                </a:lnTo>
                <a:lnTo>
                  <a:pt x="2229" y="980"/>
                </a:lnTo>
                <a:lnTo>
                  <a:pt x="2257" y="996"/>
                </a:lnTo>
                <a:lnTo>
                  <a:pt x="2285" y="1012"/>
                </a:lnTo>
                <a:lnTo>
                  <a:pt x="2315" y="1028"/>
                </a:lnTo>
                <a:lnTo>
                  <a:pt x="2344" y="1043"/>
                </a:lnTo>
                <a:lnTo>
                  <a:pt x="2375" y="1056"/>
                </a:lnTo>
                <a:lnTo>
                  <a:pt x="2400" y="1067"/>
                </a:lnTo>
                <a:lnTo>
                  <a:pt x="2430" y="1053"/>
                </a:lnTo>
                <a:lnTo>
                  <a:pt x="2459" y="1037"/>
                </a:lnTo>
                <a:lnTo>
                  <a:pt x="2487" y="1020"/>
                </a:lnTo>
                <a:lnTo>
                  <a:pt x="2515" y="1003"/>
                </a:lnTo>
                <a:lnTo>
                  <a:pt x="2542" y="985"/>
                </a:lnTo>
                <a:lnTo>
                  <a:pt x="2566" y="967"/>
                </a:lnTo>
                <a:lnTo>
                  <a:pt x="2590" y="948"/>
                </a:lnTo>
                <a:lnTo>
                  <a:pt x="2614" y="927"/>
                </a:lnTo>
                <a:lnTo>
                  <a:pt x="2635" y="907"/>
                </a:lnTo>
                <a:lnTo>
                  <a:pt x="2657" y="885"/>
                </a:lnTo>
                <a:lnTo>
                  <a:pt x="2678" y="864"/>
                </a:lnTo>
                <a:lnTo>
                  <a:pt x="2696" y="842"/>
                </a:lnTo>
                <a:lnTo>
                  <a:pt x="2715" y="819"/>
                </a:lnTo>
                <a:lnTo>
                  <a:pt x="2732" y="794"/>
                </a:lnTo>
                <a:lnTo>
                  <a:pt x="2748" y="771"/>
                </a:lnTo>
                <a:lnTo>
                  <a:pt x="2762" y="746"/>
                </a:lnTo>
                <a:lnTo>
                  <a:pt x="2776" y="722"/>
                </a:lnTo>
                <a:lnTo>
                  <a:pt x="2793" y="690"/>
                </a:lnTo>
                <a:lnTo>
                  <a:pt x="2804" y="667"/>
                </a:lnTo>
                <a:lnTo>
                  <a:pt x="2813" y="643"/>
                </a:lnTo>
                <a:lnTo>
                  <a:pt x="2824" y="613"/>
                </a:lnTo>
                <a:lnTo>
                  <a:pt x="2833" y="578"/>
                </a:lnTo>
                <a:lnTo>
                  <a:pt x="2838" y="556"/>
                </a:lnTo>
                <a:lnTo>
                  <a:pt x="2842" y="523"/>
                </a:lnTo>
                <a:lnTo>
                  <a:pt x="2843" y="508"/>
                </a:lnTo>
                <a:lnTo>
                  <a:pt x="2845" y="487"/>
                </a:lnTo>
                <a:lnTo>
                  <a:pt x="2846" y="472"/>
                </a:lnTo>
                <a:lnTo>
                  <a:pt x="2845" y="458"/>
                </a:lnTo>
                <a:lnTo>
                  <a:pt x="2843" y="442"/>
                </a:lnTo>
                <a:lnTo>
                  <a:pt x="2840" y="428"/>
                </a:lnTo>
                <a:lnTo>
                  <a:pt x="2836" y="414"/>
                </a:lnTo>
                <a:lnTo>
                  <a:pt x="2830" y="399"/>
                </a:lnTo>
                <a:lnTo>
                  <a:pt x="2824" y="385"/>
                </a:lnTo>
                <a:lnTo>
                  <a:pt x="2816" y="371"/>
                </a:lnTo>
                <a:lnTo>
                  <a:pt x="2807" y="358"/>
                </a:lnTo>
                <a:lnTo>
                  <a:pt x="2796" y="345"/>
                </a:lnTo>
                <a:lnTo>
                  <a:pt x="2785" y="332"/>
                </a:lnTo>
                <a:lnTo>
                  <a:pt x="2772" y="321"/>
                </a:lnTo>
                <a:lnTo>
                  <a:pt x="2759" y="310"/>
                </a:lnTo>
                <a:lnTo>
                  <a:pt x="2745" y="299"/>
                </a:lnTo>
                <a:lnTo>
                  <a:pt x="2729" y="289"/>
                </a:lnTo>
                <a:lnTo>
                  <a:pt x="2713" y="282"/>
                </a:lnTo>
                <a:lnTo>
                  <a:pt x="2664" y="256"/>
                </a:lnTo>
                <a:lnTo>
                  <a:pt x="2620" y="235"/>
                </a:lnTo>
                <a:lnTo>
                  <a:pt x="2574" y="214"/>
                </a:lnTo>
                <a:lnTo>
                  <a:pt x="2534" y="197"/>
                </a:lnTo>
                <a:lnTo>
                  <a:pt x="2482" y="177"/>
                </a:lnTo>
                <a:lnTo>
                  <a:pt x="2434" y="159"/>
                </a:lnTo>
                <a:lnTo>
                  <a:pt x="2384" y="140"/>
                </a:lnTo>
                <a:lnTo>
                  <a:pt x="2338" y="126"/>
                </a:lnTo>
                <a:lnTo>
                  <a:pt x="2289" y="110"/>
                </a:lnTo>
                <a:lnTo>
                  <a:pt x="2240" y="97"/>
                </a:lnTo>
                <a:lnTo>
                  <a:pt x="2190" y="83"/>
                </a:lnTo>
                <a:lnTo>
                  <a:pt x="2141" y="72"/>
                </a:lnTo>
                <a:lnTo>
                  <a:pt x="2090" y="60"/>
                </a:lnTo>
                <a:lnTo>
                  <a:pt x="2039" y="50"/>
                </a:lnTo>
                <a:lnTo>
                  <a:pt x="1987" y="39"/>
                </a:lnTo>
                <a:lnTo>
                  <a:pt x="1935" y="32"/>
                </a:lnTo>
                <a:lnTo>
                  <a:pt x="1885" y="25"/>
                </a:lnTo>
                <a:lnTo>
                  <a:pt x="1833" y="19"/>
                </a:lnTo>
                <a:lnTo>
                  <a:pt x="1780" y="12"/>
                </a:lnTo>
                <a:lnTo>
                  <a:pt x="1727" y="8"/>
                </a:lnTo>
                <a:lnTo>
                  <a:pt x="1675" y="5"/>
                </a:lnTo>
                <a:lnTo>
                  <a:pt x="1623" y="2"/>
                </a:lnTo>
                <a:lnTo>
                  <a:pt x="1580" y="1"/>
                </a:lnTo>
                <a:lnTo>
                  <a:pt x="1556" y="10"/>
                </a:lnTo>
                <a:lnTo>
                  <a:pt x="1531" y="21"/>
                </a:lnTo>
                <a:lnTo>
                  <a:pt x="1507" y="33"/>
                </a:lnTo>
                <a:lnTo>
                  <a:pt x="1483" y="44"/>
                </a:lnTo>
                <a:lnTo>
                  <a:pt x="1460" y="57"/>
                </a:lnTo>
                <a:lnTo>
                  <a:pt x="1439" y="72"/>
                </a:lnTo>
                <a:lnTo>
                  <a:pt x="1418" y="86"/>
                </a:lnTo>
                <a:lnTo>
                  <a:pt x="1399" y="101"/>
                </a:lnTo>
                <a:lnTo>
                  <a:pt x="1378" y="117"/>
                </a:lnTo>
                <a:lnTo>
                  <a:pt x="1361" y="134"/>
                </a:lnTo>
                <a:lnTo>
                  <a:pt x="1343" y="151"/>
                </a:lnTo>
                <a:lnTo>
                  <a:pt x="1211" y="162"/>
                </a:lnTo>
                <a:lnTo>
                  <a:pt x="1190" y="186"/>
                </a:lnTo>
                <a:lnTo>
                  <a:pt x="1168" y="208"/>
                </a:lnTo>
                <a:lnTo>
                  <a:pt x="1147" y="232"/>
                </a:lnTo>
                <a:lnTo>
                  <a:pt x="1129" y="256"/>
                </a:lnTo>
                <a:lnTo>
                  <a:pt x="1110" y="282"/>
                </a:lnTo>
                <a:lnTo>
                  <a:pt x="1093" y="307"/>
                </a:lnTo>
                <a:lnTo>
                  <a:pt x="1078" y="333"/>
                </a:lnTo>
                <a:lnTo>
                  <a:pt x="1063" y="359"/>
                </a:lnTo>
                <a:lnTo>
                  <a:pt x="1048" y="387"/>
                </a:lnTo>
                <a:lnTo>
                  <a:pt x="1036" y="414"/>
                </a:lnTo>
                <a:lnTo>
                  <a:pt x="1026" y="440"/>
                </a:lnTo>
                <a:lnTo>
                  <a:pt x="1016" y="468"/>
                </a:lnTo>
                <a:lnTo>
                  <a:pt x="1008" y="495"/>
                </a:lnTo>
                <a:lnTo>
                  <a:pt x="1002" y="518"/>
                </a:lnTo>
                <a:lnTo>
                  <a:pt x="1002" y="494"/>
                </a:lnTo>
                <a:lnTo>
                  <a:pt x="1002" y="471"/>
                </a:lnTo>
                <a:lnTo>
                  <a:pt x="998" y="447"/>
                </a:lnTo>
                <a:lnTo>
                  <a:pt x="994" y="425"/>
                </a:lnTo>
                <a:lnTo>
                  <a:pt x="988" y="402"/>
                </a:lnTo>
                <a:lnTo>
                  <a:pt x="982" y="379"/>
                </a:lnTo>
                <a:lnTo>
                  <a:pt x="974" y="356"/>
                </a:lnTo>
                <a:lnTo>
                  <a:pt x="964" y="334"/>
                </a:lnTo>
                <a:lnTo>
                  <a:pt x="954" y="312"/>
                </a:lnTo>
                <a:lnTo>
                  <a:pt x="944" y="290"/>
                </a:lnTo>
                <a:lnTo>
                  <a:pt x="931" y="268"/>
                </a:lnTo>
                <a:lnTo>
                  <a:pt x="916" y="248"/>
                </a:lnTo>
                <a:lnTo>
                  <a:pt x="901" y="227"/>
                </a:lnTo>
                <a:lnTo>
                  <a:pt x="885" y="208"/>
                </a:lnTo>
                <a:lnTo>
                  <a:pt x="868" y="189"/>
                </a:lnTo>
                <a:lnTo>
                  <a:pt x="849" y="170"/>
                </a:lnTo>
                <a:lnTo>
                  <a:pt x="922" y="162"/>
                </a:lnTo>
                <a:lnTo>
                  <a:pt x="900" y="145"/>
                </a:lnTo>
                <a:lnTo>
                  <a:pt x="876" y="129"/>
                </a:lnTo>
                <a:lnTo>
                  <a:pt x="851" y="112"/>
                </a:lnTo>
                <a:lnTo>
                  <a:pt x="827" y="97"/>
                </a:lnTo>
                <a:lnTo>
                  <a:pt x="801" y="82"/>
                </a:lnTo>
                <a:lnTo>
                  <a:pt x="775" y="69"/>
                </a:lnTo>
                <a:lnTo>
                  <a:pt x="747" y="57"/>
                </a:lnTo>
                <a:lnTo>
                  <a:pt x="719" y="44"/>
                </a:lnTo>
                <a:lnTo>
                  <a:pt x="691" y="33"/>
                </a:lnTo>
                <a:lnTo>
                  <a:pt x="663" y="25"/>
                </a:lnTo>
                <a:lnTo>
                  <a:pt x="632" y="14"/>
                </a:lnTo>
                <a:lnTo>
                  <a:pt x="603" y="5"/>
                </a:lnTo>
                <a:lnTo>
                  <a:pt x="571" y="0"/>
                </a:lnTo>
                <a:lnTo>
                  <a:pt x="534" y="1"/>
                </a:lnTo>
                <a:lnTo>
                  <a:pt x="504" y="6"/>
                </a:lnTo>
                <a:lnTo>
                  <a:pt x="476" y="14"/>
                </a:lnTo>
                <a:lnTo>
                  <a:pt x="448" y="21"/>
                </a:lnTo>
                <a:lnTo>
                  <a:pt x="421" y="30"/>
                </a:lnTo>
                <a:lnTo>
                  <a:pt x="394" y="39"/>
                </a:lnTo>
                <a:lnTo>
                  <a:pt x="367" y="49"/>
                </a:lnTo>
                <a:lnTo>
                  <a:pt x="340" y="60"/>
                </a:lnTo>
                <a:lnTo>
                  <a:pt x="315" y="72"/>
                </a:lnTo>
                <a:lnTo>
                  <a:pt x="290" y="84"/>
                </a:lnTo>
                <a:lnTo>
                  <a:pt x="266" y="98"/>
                </a:lnTo>
                <a:lnTo>
                  <a:pt x="243" y="113"/>
                </a:lnTo>
                <a:lnTo>
                  <a:pt x="221" y="129"/>
                </a:lnTo>
                <a:lnTo>
                  <a:pt x="200" y="144"/>
                </a:lnTo>
                <a:lnTo>
                  <a:pt x="179" y="160"/>
                </a:lnTo>
                <a:lnTo>
                  <a:pt x="160" y="178"/>
                </a:lnTo>
                <a:lnTo>
                  <a:pt x="141" y="196"/>
                </a:lnTo>
                <a:lnTo>
                  <a:pt x="124" y="213"/>
                </a:lnTo>
                <a:lnTo>
                  <a:pt x="107" y="232"/>
                </a:lnTo>
                <a:lnTo>
                  <a:pt x="92" y="252"/>
                </a:lnTo>
                <a:lnTo>
                  <a:pt x="78" y="272"/>
                </a:lnTo>
                <a:lnTo>
                  <a:pt x="65" y="292"/>
                </a:lnTo>
                <a:lnTo>
                  <a:pt x="54" y="314"/>
                </a:lnTo>
                <a:lnTo>
                  <a:pt x="42" y="335"/>
                </a:lnTo>
                <a:lnTo>
                  <a:pt x="33" y="357"/>
                </a:lnTo>
                <a:lnTo>
                  <a:pt x="25" y="379"/>
                </a:lnTo>
                <a:lnTo>
                  <a:pt x="19" y="402"/>
                </a:lnTo>
                <a:lnTo>
                  <a:pt x="12" y="424"/>
                </a:lnTo>
                <a:lnTo>
                  <a:pt x="9" y="446"/>
                </a:lnTo>
                <a:lnTo>
                  <a:pt x="5" y="469"/>
                </a:lnTo>
                <a:lnTo>
                  <a:pt x="4" y="492"/>
                </a:lnTo>
                <a:lnTo>
                  <a:pt x="1" y="550"/>
                </a:lnTo>
                <a:lnTo>
                  <a:pt x="0" y="612"/>
                </a:lnTo>
                <a:lnTo>
                  <a:pt x="2" y="643"/>
                </a:lnTo>
                <a:lnTo>
                  <a:pt x="4" y="674"/>
                </a:lnTo>
                <a:lnTo>
                  <a:pt x="9" y="706"/>
                </a:lnTo>
                <a:lnTo>
                  <a:pt x="13" y="737"/>
                </a:lnTo>
                <a:lnTo>
                  <a:pt x="21" y="769"/>
                </a:lnTo>
                <a:lnTo>
                  <a:pt x="29" y="800"/>
                </a:lnTo>
                <a:lnTo>
                  <a:pt x="38" y="831"/>
                </a:lnTo>
                <a:lnTo>
                  <a:pt x="49" y="860"/>
                </a:lnTo>
                <a:lnTo>
                  <a:pt x="60" y="890"/>
                </a:lnTo>
                <a:lnTo>
                  <a:pt x="73" y="920"/>
                </a:lnTo>
                <a:lnTo>
                  <a:pt x="87" y="949"/>
                </a:lnTo>
                <a:lnTo>
                  <a:pt x="103" y="980"/>
                </a:lnTo>
                <a:lnTo>
                  <a:pt x="119" y="1008"/>
                </a:lnTo>
                <a:lnTo>
                  <a:pt x="138" y="1036"/>
                </a:lnTo>
                <a:lnTo>
                  <a:pt x="153" y="1063"/>
                </a:lnTo>
                <a:lnTo>
                  <a:pt x="182" y="1052"/>
                </a:lnTo>
                <a:lnTo>
                  <a:pt x="208" y="1040"/>
                </a:lnTo>
                <a:lnTo>
                  <a:pt x="234" y="1027"/>
                </a:lnTo>
                <a:lnTo>
                  <a:pt x="258" y="1013"/>
                </a:lnTo>
                <a:lnTo>
                  <a:pt x="283" y="999"/>
                </a:lnTo>
                <a:lnTo>
                  <a:pt x="307" y="983"/>
                </a:lnTo>
                <a:lnTo>
                  <a:pt x="331" y="967"/>
                </a:lnTo>
                <a:lnTo>
                  <a:pt x="354" y="949"/>
                </a:lnTo>
                <a:lnTo>
                  <a:pt x="375" y="932"/>
                </a:lnTo>
                <a:lnTo>
                  <a:pt x="396" y="914"/>
                </a:lnTo>
                <a:lnTo>
                  <a:pt x="414" y="896"/>
                </a:lnTo>
                <a:lnTo>
                  <a:pt x="433" y="876"/>
                </a:lnTo>
                <a:lnTo>
                  <a:pt x="450" y="856"/>
                </a:lnTo>
                <a:lnTo>
                  <a:pt x="466" y="837"/>
                </a:lnTo>
                <a:lnTo>
                  <a:pt x="480" y="816"/>
                </a:lnTo>
                <a:lnTo>
                  <a:pt x="493" y="794"/>
                </a:lnTo>
                <a:lnTo>
                  <a:pt x="506" y="772"/>
                </a:lnTo>
                <a:lnTo>
                  <a:pt x="517" y="749"/>
                </a:lnTo>
                <a:lnTo>
                  <a:pt x="528" y="727"/>
                </a:lnTo>
                <a:lnTo>
                  <a:pt x="537" y="703"/>
                </a:lnTo>
                <a:lnTo>
                  <a:pt x="544" y="680"/>
                </a:lnTo>
                <a:lnTo>
                  <a:pt x="551" y="657"/>
                </a:lnTo>
                <a:lnTo>
                  <a:pt x="555" y="634"/>
                </a:lnTo>
                <a:lnTo>
                  <a:pt x="559" y="611"/>
                </a:lnTo>
                <a:lnTo>
                  <a:pt x="563" y="632"/>
                </a:lnTo>
                <a:lnTo>
                  <a:pt x="568" y="656"/>
                </a:lnTo>
                <a:lnTo>
                  <a:pt x="574" y="679"/>
                </a:lnTo>
                <a:lnTo>
                  <a:pt x="582" y="702"/>
                </a:lnTo>
                <a:lnTo>
                  <a:pt x="591" y="726"/>
                </a:lnTo>
                <a:lnTo>
                  <a:pt x="601" y="748"/>
                </a:lnTo>
                <a:lnTo>
                  <a:pt x="612" y="771"/>
                </a:lnTo>
                <a:lnTo>
                  <a:pt x="624" y="793"/>
                </a:lnTo>
                <a:lnTo>
                  <a:pt x="638" y="815"/>
                </a:lnTo>
                <a:lnTo>
                  <a:pt x="654" y="836"/>
                </a:lnTo>
                <a:lnTo>
                  <a:pt x="669" y="856"/>
                </a:lnTo>
                <a:lnTo>
                  <a:pt x="686" y="876"/>
                </a:lnTo>
                <a:lnTo>
                  <a:pt x="705" y="895"/>
                </a:lnTo>
                <a:lnTo>
                  <a:pt x="723" y="913"/>
                </a:lnTo>
                <a:lnTo>
                  <a:pt x="743" y="932"/>
                </a:lnTo>
                <a:lnTo>
                  <a:pt x="765" y="949"/>
                </a:lnTo>
                <a:lnTo>
                  <a:pt x="787" y="967"/>
                </a:lnTo>
                <a:lnTo>
                  <a:pt x="810" y="983"/>
                </a:lnTo>
                <a:lnTo>
                  <a:pt x="835" y="998"/>
                </a:lnTo>
                <a:lnTo>
                  <a:pt x="858" y="1013"/>
                </a:lnTo>
                <a:lnTo>
                  <a:pt x="885" y="1027"/>
                </a:lnTo>
                <a:lnTo>
                  <a:pt x="911" y="1040"/>
                </a:lnTo>
                <a:lnTo>
                  <a:pt x="938" y="1052"/>
                </a:lnTo>
                <a:lnTo>
                  <a:pt x="965" y="1063"/>
                </a:lnTo>
                <a:lnTo>
                  <a:pt x="984" y="1036"/>
                </a:lnTo>
                <a:lnTo>
                  <a:pt x="1002" y="1008"/>
                </a:lnTo>
                <a:lnTo>
                  <a:pt x="1020" y="979"/>
                </a:lnTo>
                <a:lnTo>
                  <a:pt x="1034" y="949"/>
                </a:lnTo>
                <a:lnTo>
                  <a:pt x="1048" y="921"/>
                </a:lnTo>
                <a:lnTo>
                  <a:pt x="1062" y="890"/>
                </a:lnTo>
                <a:lnTo>
                  <a:pt x="1075" y="861"/>
                </a:lnTo>
                <a:lnTo>
                  <a:pt x="1085" y="831"/>
                </a:lnTo>
                <a:lnTo>
                  <a:pt x="1094" y="800"/>
                </a:lnTo>
                <a:lnTo>
                  <a:pt x="1102" y="770"/>
                </a:lnTo>
                <a:lnTo>
                  <a:pt x="1109" y="738"/>
                </a:lnTo>
                <a:lnTo>
                  <a:pt x="1115" y="707"/>
                </a:lnTo>
                <a:lnTo>
                  <a:pt x="1118" y="676"/>
                </a:lnTo>
                <a:lnTo>
                  <a:pt x="1121" y="645"/>
                </a:lnTo>
                <a:lnTo>
                  <a:pt x="1123" y="614"/>
                </a:lnTo>
                <a:lnTo>
                  <a:pt x="1123" y="606"/>
                </a:lnTo>
              </a:path>
            </a:pathLst>
          </a:custGeom>
          <a:solidFill>
            <a:srgbClr val="FFFFFF"/>
          </a:solidFill>
          <a:ln w="12700" cap="rnd" cmpd="sng">
            <a:solidFill>
              <a:srgbClr val="618FFD"/>
            </a:solidFill>
            <a:prstDash val="solid"/>
            <a:round/>
          </a:ln>
          <a:effectLst/>
        </p:spPr>
        <p:txBody>
          <a:bodyPr/>
          <a:lstStyle/>
          <a:p>
            <a:endParaRPr lang="en-US"/>
          </a:p>
        </p:txBody>
      </p:sp>
      <p:cxnSp>
        <p:nvCxnSpPr>
          <p:cNvPr id="14341" name="Straight Connector 14340"/>
          <p:cNvCxnSpPr/>
          <p:nvPr/>
        </p:nvCxnSpPr>
        <p:spPr>
          <a:xfrm>
            <a:off x="1724025" y="4302125"/>
            <a:ext cx="1588" cy="912813"/>
          </a:xfrm>
          <a:prstGeom prst="line">
            <a:avLst/>
          </a:prstGeom>
          <a:noFill/>
          <a:ln w="12700">
            <a:solidFill>
              <a:srgbClr val="618FFD"/>
            </a:solidFill>
            <a:miter lim="800000"/>
          </a:ln>
          <a:effectLst/>
        </p:spPr>
      </p:cxnSp>
      <p:sp>
        <p:nvSpPr>
          <p:cNvPr id="14342" name="Freeform 14341"/>
          <p:cNvSpPr/>
          <p:nvPr/>
        </p:nvSpPr>
        <p:spPr>
          <a:xfrm>
            <a:off x="1030288" y="4303713"/>
            <a:ext cx="560387" cy="1628775"/>
          </a:xfrm>
          <a:custGeom>
            <a:avLst/>
            <a:gdLst/>
            <a:ahLst/>
            <a:cxnLst/>
            <a:rect l="0" t="0" r="0" b="0"/>
            <a:pathLst>
              <a:path w="353" h="1026">
                <a:moveTo>
                  <a:pt x="32" y="1025"/>
                </a:moveTo>
                <a:lnTo>
                  <a:pt x="28" y="991"/>
                </a:lnTo>
                <a:lnTo>
                  <a:pt x="20" y="948"/>
                </a:lnTo>
                <a:lnTo>
                  <a:pt x="14" y="902"/>
                </a:lnTo>
                <a:lnTo>
                  <a:pt x="10" y="857"/>
                </a:lnTo>
                <a:lnTo>
                  <a:pt x="6" y="813"/>
                </a:lnTo>
                <a:lnTo>
                  <a:pt x="3" y="768"/>
                </a:lnTo>
                <a:lnTo>
                  <a:pt x="2" y="724"/>
                </a:lnTo>
                <a:lnTo>
                  <a:pt x="1" y="678"/>
                </a:lnTo>
                <a:lnTo>
                  <a:pt x="0" y="632"/>
                </a:lnTo>
                <a:lnTo>
                  <a:pt x="0" y="543"/>
                </a:lnTo>
                <a:lnTo>
                  <a:pt x="1" y="483"/>
                </a:lnTo>
                <a:lnTo>
                  <a:pt x="1" y="466"/>
                </a:lnTo>
                <a:lnTo>
                  <a:pt x="3" y="430"/>
                </a:lnTo>
                <a:lnTo>
                  <a:pt x="5" y="413"/>
                </a:lnTo>
                <a:lnTo>
                  <a:pt x="9" y="397"/>
                </a:lnTo>
                <a:lnTo>
                  <a:pt x="12" y="380"/>
                </a:lnTo>
                <a:lnTo>
                  <a:pt x="17" y="363"/>
                </a:lnTo>
                <a:lnTo>
                  <a:pt x="21" y="346"/>
                </a:lnTo>
                <a:lnTo>
                  <a:pt x="26" y="329"/>
                </a:lnTo>
                <a:lnTo>
                  <a:pt x="33" y="312"/>
                </a:lnTo>
                <a:lnTo>
                  <a:pt x="40" y="296"/>
                </a:lnTo>
                <a:lnTo>
                  <a:pt x="49" y="279"/>
                </a:lnTo>
                <a:lnTo>
                  <a:pt x="56" y="264"/>
                </a:lnTo>
                <a:lnTo>
                  <a:pt x="66" y="247"/>
                </a:lnTo>
                <a:lnTo>
                  <a:pt x="75" y="231"/>
                </a:lnTo>
                <a:lnTo>
                  <a:pt x="85" y="216"/>
                </a:lnTo>
                <a:lnTo>
                  <a:pt x="95" y="201"/>
                </a:lnTo>
                <a:lnTo>
                  <a:pt x="107" y="186"/>
                </a:lnTo>
                <a:lnTo>
                  <a:pt x="118" y="173"/>
                </a:lnTo>
                <a:lnTo>
                  <a:pt x="131" y="159"/>
                </a:lnTo>
                <a:lnTo>
                  <a:pt x="144" y="144"/>
                </a:lnTo>
                <a:lnTo>
                  <a:pt x="158" y="131"/>
                </a:lnTo>
                <a:lnTo>
                  <a:pt x="172" y="117"/>
                </a:lnTo>
                <a:lnTo>
                  <a:pt x="187" y="103"/>
                </a:lnTo>
                <a:lnTo>
                  <a:pt x="202" y="92"/>
                </a:lnTo>
                <a:lnTo>
                  <a:pt x="217" y="78"/>
                </a:lnTo>
                <a:lnTo>
                  <a:pt x="236" y="66"/>
                </a:lnTo>
                <a:lnTo>
                  <a:pt x="252" y="55"/>
                </a:lnTo>
                <a:lnTo>
                  <a:pt x="269" y="45"/>
                </a:lnTo>
                <a:lnTo>
                  <a:pt x="287" y="35"/>
                </a:lnTo>
                <a:lnTo>
                  <a:pt x="305" y="24"/>
                </a:lnTo>
                <a:lnTo>
                  <a:pt x="324" y="13"/>
                </a:lnTo>
                <a:lnTo>
                  <a:pt x="344" y="4"/>
                </a:lnTo>
                <a:lnTo>
                  <a:pt x="352"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3" name="Freeform 14342"/>
          <p:cNvSpPr/>
          <p:nvPr/>
        </p:nvSpPr>
        <p:spPr>
          <a:xfrm>
            <a:off x="1082675" y="4303713"/>
            <a:ext cx="561975" cy="1628775"/>
          </a:xfrm>
          <a:custGeom>
            <a:avLst/>
            <a:gdLst/>
            <a:ahLst/>
            <a:cxnLst/>
            <a:rect l="0" t="0" r="0" b="0"/>
            <a:pathLst>
              <a:path w="354" h="1026">
                <a:moveTo>
                  <a:pt x="0" y="1025"/>
                </a:moveTo>
                <a:lnTo>
                  <a:pt x="12" y="999"/>
                </a:lnTo>
                <a:lnTo>
                  <a:pt x="23" y="977"/>
                </a:lnTo>
                <a:lnTo>
                  <a:pt x="33" y="955"/>
                </a:lnTo>
                <a:lnTo>
                  <a:pt x="43" y="933"/>
                </a:lnTo>
                <a:lnTo>
                  <a:pt x="53" y="909"/>
                </a:lnTo>
                <a:lnTo>
                  <a:pt x="62" y="887"/>
                </a:lnTo>
                <a:lnTo>
                  <a:pt x="72" y="863"/>
                </a:lnTo>
                <a:lnTo>
                  <a:pt x="80" y="839"/>
                </a:lnTo>
                <a:lnTo>
                  <a:pt x="87" y="818"/>
                </a:lnTo>
                <a:lnTo>
                  <a:pt x="94" y="794"/>
                </a:lnTo>
                <a:lnTo>
                  <a:pt x="99" y="770"/>
                </a:lnTo>
                <a:lnTo>
                  <a:pt x="104" y="747"/>
                </a:lnTo>
                <a:lnTo>
                  <a:pt x="110" y="722"/>
                </a:lnTo>
                <a:lnTo>
                  <a:pt x="113" y="698"/>
                </a:lnTo>
                <a:lnTo>
                  <a:pt x="117" y="674"/>
                </a:lnTo>
                <a:lnTo>
                  <a:pt x="120" y="649"/>
                </a:lnTo>
                <a:lnTo>
                  <a:pt x="122" y="626"/>
                </a:lnTo>
                <a:lnTo>
                  <a:pt x="123" y="602"/>
                </a:lnTo>
                <a:lnTo>
                  <a:pt x="124" y="578"/>
                </a:lnTo>
                <a:lnTo>
                  <a:pt x="124" y="553"/>
                </a:lnTo>
                <a:lnTo>
                  <a:pt x="122" y="530"/>
                </a:lnTo>
                <a:lnTo>
                  <a:pt x="119" y="472"/>
                </a:lnTo>
                <a:lnTo>
                  <a:pt x="117" y="455"/>
                </a:lnTo>
                <a:lnTo>
                  <a:pt x="115" y="436"/>
                </a:lnTo>
                <a:lnTo>
                  <a:pt x="115" y="420"/>
                </a:lnTo>
                <a:lnTo>
                  <a:pt x="115" y="402"/>
                </a:lnTo>
                <a:lnTo>
                  <a:pt x="117" y="385"/>
                </a:lnTo>
                <a:lnTo>
                  <a:pt x="119" y="368"/>
                </a:lnTo>
                <a:lnTo>
                  <a:pt x="122" y="350"/>
                </a:lnTo>
                <a:lnTo>
                  <a:pt x="125" y="333"/>
                </a:lnTo>
                <a:lnTo>
                  <a:pt x="128" y="315"/>
                </a:lnTo>
                <a:lnTo>
                  <a:pt x="133" y="298"/>
                </a:lnTo>
                <a:lnTo>
                  <a:pt x="138" y="280"/>
                </a:lnTo>
                <a:lnTo>
                  <a:pt x="144" y="264"/>
                </a:lnTo>
                <a:lnTo>
                  <a:pt x="151" y="247"/>
                </a:lnTo>
                <a:lnTo>
                  <a:pt x="158" y="230"/>
                </a:lnTo>
                <a:lnTo>
                  <a:pt x="165" y="214"/>
                </a:lnTo>
                <a:lnTo>
                  <a:pt x="174" y="197"/>
                </a:lnTo>
                <a:lnTo>
                  <a:pt x="183" y="180"/>
                </a:lnTo>
                <a:lnTo>
                  <a:pt x="194" y="166"/>
                </a:lnTo>
                <a:lnTo>
                  <a:pt x="204" y="151"/>
                </a:lnTo>
                <a:lnTo>
                  <a:pt x="215" y="135"/>
                </a:lnTo>
                <a:lnTo>
                  <a:pt x="227" y="119"/>
                </a:lnTo>
                <a:lnTo>
                  <a:pt x="238" y="106"/>
                </a:lnTo>
                <a:lnTo>
                  <a:pt x="251" y="90"/>
                </a:lnTo>
                <a:lnTo>
                  <a:pt x="266" y="76"/>
                </a:lnTo>
                <a:lnTo>
                  <a:pt x="279" y="62"/>
                </a:lnTo>
                <a:lnTo>
                  <a:pt x="294" y="49"/>
                </a:lnTo>
                <a:lnTo>
                  <a:pt x="307" y="36"/>
                </a:lnTo>
                <a:lnTo>
                  <a:pt x="323" y="23"/>
                </a:lnTo>
                <a:lnTo>
                  <a:pt x="339" y="11"/>
                </a:lnTo>
                <a:lnTo>
                  <a:pt x="353"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4" name="Freeform 14343"/>
          <p:cNvSpPr/>
          <p:nvPr/>
        </p:nvSpPr>
        <p:spPr>
          <a:xfrm>
            <a:off x="1082675" y="4303713"/>
            <a:ext cx="609600" cy="1628775"/>
          </a:xfrm>
          <a:custGeom>
            <a:avLst/>
            <a:gdLst/>
            <a:ahLst/>
            <a:cxnLst/>
            <a:rect l="0" t="0" r="0" b="0"/>
            <a:pathLst>
              <a:path w="384" h="1026">
                <a:moveTo>
                  <a:pt x="0" y="1025"/>
                </a:moveTo>
                <a:lnTo>
                  <a:pt x="21" y="1010"/>
                </a:lnTo>
                <a:lnTo>
                  <a:pt x="37" y="996"/>
                </a:lnTo>
                <a:lnTo>
                  <a:pt x="52" y="982"/>
                </a:lnTo>
                <a:lnTo>
                  <a:pt x="67" y="969"/>
                </a:lnTo>
                <a:lnTo>
                  <a:pt x="82" y="955"/>
                </a:lnTo>
                <a:lnTo>
                  <a:pt x="97" y="941"/>
                </a:lnTo>
                <a:lnTo>
                  <a:pt x="111" y="926"/>
                </a:lnTo>
                <a:lnTo>
                  <a:pt x="124" y="911"/>
                </a:lnTo>
                <a:lnTo>
                  <a:pt x="138" y="896"/>
                </a:lnTo>
                <a:lnTo>
                  <a:pt x="150" y="881"/>
                </a:lnTo>
                <a:lnTo>
                  <a:pt x="161" y="865"/>
                </a:lnTo>
                <a:lnTo>
                  <a:pt x="173" y="849"/>
                </a:lnTo>
                <a:lnTo>
                  <a:pt x="183" y="832"/>
                </a:lnTo>
                <a:lnTo>
                  <a:pt x="195" y="816"/>
                </a:lnTo>
                <a:lnTo>
                  <a:pt x="205" y="800"/>
                </a:lnTo>
                <a:lnTo>
                  <a:pt x="214" y="784"/>
                </a:lnTo>
                <a:lnTo>
                  <a:pt x="223" y="765"/>
                </a:lnTo>
                <a:lnTo>
                  <a:pt x="231" y="748"/>
                </a:lnTo>
                <a:lnTo>
                  <a:pt x="238" y="730"/>
                </a:lnTo>
                <a:lnTo>
                  <a:pt x="245" y="712"/>
                </a:lnTo>
                <a:lnTo>
                  <a:pt x="251" y="694"/>
                </a:lnTo>
                <a:lnTo>
                  <a:pt x="256" y="676"/>
                </a:lnTo>
                <a:lnTo>
                  <a:pt x="260" y="657"/>
                </a:lnTo>
                <a:lnTo>
                  <a:pt x="264" y="639"/>
                </a:lnTo>
                <a:lnTo>
                  <a:pt x="268" y="621"/>
                </a:lnTo>
                <a:lnTo>
                  <a:pt x="270" y="604"/>
                </a:lnTo>
                <a:lnTo>
                  <a:pt x="272" y="585"/>
                </a:lnTo>
                <a:lnTo>
                  <a:pt x="273" y="567"/>
                </a:lnTo>
                <a:lnTo>
                  <a:pt x="273" y="547"/>
                </a:lnTo>
                <a:lnTo>
                  <a:pt x="273" y="530"/>
                </a:lnTo>
                <a:lnTo>
                  <a:pt x="272" y="512"/>
                </a:lnTo>
                <a:lnTo>
                  <a:pt x="271" y="497"/>
                </a:lnTo>
                <a:lnTo>
                  <a:pt x="269" y="479"/>
                </a:lnTo>
                <a:lnTo>
                  <a:pt x="266" y="458"/>
                </a:lnTo>
                <a:lnTo>
                  <a:pt x="264" y="436"/>
                </a:lnTo>
                <a:lnTo>
                  <a:pt x="262" y="393"/>
                </a:lnTo>
                <a:lnTo>
                  <a:pt x="263" y="352"/>
                </a:lnTo>
                <a:lnTo>
                  <a:pt x="265" y="330"/>
                </a:lnTo>
                <a:lnTo>
                  <a:pt x="267" y="308"/>
                </a:lnTo>
                <a:lnTo>
                  <a:pt x="270" y="287"/>
                </a:lnTo>
                <a:lnTo>
                  <a:pt x="274" y="266"/>
                </a:lnTo>
                <a:lnTo>
                  <a:pt x="278" y="245"/>
                </a:lnTo>
                <a:lnTo>
                  <a:pt x="283" y="223"/>
                </a:lnTo>
                <a:lnTo>
                  <a:pt x="289" y="202"/>
                </a:lnTo>
                <a:lnTo>
                  <a:pt x="296" y="182"/>
                </a:lnTo>
                <a:lnTo>
                  <a:pt x="303" y="162"/>
                </a:lnTo>
                <a:lnTo>
                  <a:pt x="311" y="141"/>
                </a:lnTo>
                <a:lnTo>
                  <a:pt x="318" y="120"/>
                </a:lnTo>
                <a:lnTo>
                  <a:pt x="327" y="101"/>
                </a:lnTo>
                <a:lnTo>
                  <a:pt x="336" y="80"/>
                </a:lnTo>
                <a:lnTo>
                  <a:pt x="347" y="60"/>
                </a:lnTo>
                <a:lnTo>
                  <a:pt x="358" y="41"/>
                </a:lnTo>
                <a:lnTo>
                  <a:pt x="369" y="21"/>
                </a:lnTo>
                <a:lnTo>
                  <a:pt x="383"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5" name="Freeform 14344"/>
          <p:cNvSpPr/>
          <p:nvPr/>
        </p:nvSpPr>
        <p:spPr>
          <a:xfrm>
            <a:off x="1770063" y="4303713"/>
            <a:ext cx="600075" cy="1628775"/>
          </a:xfrm>
          <a:custGeom>
            <a:avLst/>
            <a:gdLst/>
            <a:ahLst/>
            <a:cxnLst/>
            <a:rect l="0" t="0" r="0" b="0"/>
            <a:pathLst>
              <a:path w="378" h="1026">
                <a:moveTo>
                  <a:pt x="377" y="1025"/>
                </a:moveTo>
                <a:lnTo>
                  <a:pt x="356" y="1006"/>
                </a:lnTo>
                <a:lnTo>
                  <a:pt x="330" y="982"/>
                </a:lnTo>
                <a:lnTo>
                  <a:pt x="307" y="960"/>
                </a:lnTo>
                <a:lnTo>
                  <a:pt x="285" y="937"/>
                </a:lnTo>
                <a:lnTo>
                  <a:pt x="264" y="912"/>
                </a:lnTo>
                <a:lnTo>
                  <a:pt x="245" y="889"/>
                </a:lnTo>
                <a:lnTo>
                  <a:pt x="227" y="863"/>
                </a:lnTo>
                <a:lnTo>
                  <a:pt x="209" y="836"/>
                </a:lnTo>
                <a:lnTo>
                  <a:pt x="194" y="811"/>
                </a:lnTo>
                <a:lnTo>
                  <a:pt x="180" y="784"/>
                </a:lnTo>
                <a:lnTo>
                  <a:pt x="168" y="757"/>
                </a:lnTo>
                <a:lnTo>
                  <a:pt x="155" y="728"/>
                </a:lnTo>
                <a:lnTo>
                  <a:pt x="147" y="700"/>
                </a:lnTo>
                <a:lnTo>
                  <a:pt x="138" y="671"/>
                </a:lnTo>
                <a:lnTo>
                  <a:pt x="129" y="642"/>
                </a:lnTo>
                <a:lnTo>
                  <a:pt x="124" y="614"/>
                </a:lnTo>
                <a:lnTo>
                  <a:pt x="119" y="586"/>
                </a:lnTo>
                <a:lnTo>
                  <a:pt x="115" y="556"/>
                </a:lnTo>
                <a:lnTo>
                  <a:pt x="115" y="514"/>
                </a:lnTo>
                <a:lnTo>
                  <a:pt x="119" y="466"/>
                </a:lnTo>
                <a:lnTo>
                  <a:pt x="121" y="434"/>
                </a:lnTo>
                <a:lnTo>
                  <a:pt x="123" y="403"/>
                </a:lnTo>
                <a:lnTo>
                  <a:pt x="122" y="373"/>
                </a:lnTo>
                <a:lnTo>
                  <a:pt x="121" y="341"/>
                </a:lnTo>
                <a:lnTo>
                  <a:pt x="118" y="310"/>
                </a:lnTo>
                <a:lnTo>
                  <a:pt x="113" y="279"/>
                </a:lnTo>
                <a:lnTo>
                  <a:pt x="107" y="249"/>
                </a:lnTo>
                <a:lnTo>
                  <a:pt x="99" y="218"/>
                </a:lnTo>
                <a:lnTo>
                  <a:pt x="90" y="187"/>
                </a:lnTo>
                <a:lnTo>
                  <a:pt x="81" y="158"/>
                </a:lnTo>
                <a:lnTo>
                  <a:pt x="69" y="127"/>
                </a:lnTo>
                <a:lnTo>
                  <a:pt x="56" y="98"/>
                </a:lnTo>
                <a:lnTo>
                  <a:pt x="41" y="69"/>
                </a:lnTo>
                <a:lnTo>
                  <a:pt x="25" y="41"/>
                </a:lnTo>
                <a:lnTo>
                  <a:pt x="8" y="13"/>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6" name="Freeform 14345"/>
          <p:cNvSpPr/>
          <p:nvPr/>
        </p:nvSpPr>
        <p:spPr>
          <a:xfrm>
            <a:off x="1817688" y="4303713"/>
            <a:ext cx="554037" cy="1628775"/>
          </a:xfrm>
          <a:custGeom>
            <a:avLst/>
            <a:gdLst/>
            <a:ahLst/>
            <a:cxnLst/>
            <a:rect l="0" t="0" r="0" b="0"/>
            <a:pathLst>
              <a:path w="349" h="1026">
                <a:moveTo>
                  <a:pt x="348" y="1025"/>
                </a:moveTo>
                <a:lnTo>
                  <a:pt x="342" y="1010"/>
                </a:lnTo>
                <a:lnTo>
                  <a:pt x="328" y="975"/>
                </a:lnTo>
                <a:lnTo>
                  <a:pt x="315" y="943"/>
                </a:lnTo>
                <a:lnTo>
                  <a:pt x="302" y="905"/>
                </a:lnTo>
                <a:lnTo>
                  <a:pt x="288" y="869"/>
                </a:lnTo>
                <a:lnTo>
                  <a:pt x="277" y="832"/>
                </a:lnTo>
                <a:lnTo>
                  <a:pt x="266" y="796"/>
                </a:lnTo>
                <a:lnTo>
                  <a:pt x="255" y="759"/>
                </a:lnTo>
                <a:lnTo>
                  <a:pt x="249" y="722"/>
                </a:lnTo>
                <a:lnTo>
                  <a:pt x="241" y="686"/>
                </a:lnTo>
                <a:lnTo>
                  <a:pt x="236" y="647"/>
                </a:lnTo>
                <a:lnTo>
                  <a:pt x="232" y="610"/>
                </a:lnTo>
                <a:lnTo>
                  <a:pt x="231" y="497"/>
                </a:lnTo>
                <a:lnTo>
                  <a:pt x="236" y="445"/>
                </a:lnTo>
                <a:lnTo>
                  <a:pt x="237" y="421"/>
                </a:lnTo>
                <a:lnTo>
                  <a:pt x="236" y="395"/>
                </a:lnTo>
                <a:lnTo>
                  <a:pt x="234" y="370"/>
                </a:lnTo>
                <a:lnTo>
                  <a:pt x="231" y="345"/>
                </a:lnTo>
                <a:lnTo>
                  <a:pt x="226" y="319"/>
                </a:lnTo>
                <a:lnTo>
                  <a:pt x="220" y="293"/>
                </a:lnTo>
                <a:lnTo>
                  <a:pt x="212" y="268"/>
                </a:lnTo>
                <a:lnTo>
                  <a:pt x="201" y="245"/>
                </a:lnTo>
                <a:lnTo>
                  <a:pt x="190" y="219"/>
                </a:lnTo>
                <a:lnTo>
                  <a:pt x="178" y="197"/>
                </a:lnTo>
                <a:lnTo>
                  <a:pt x="165" y="173"/>
                </a:lnTo>
                <a:lnTo>
                  <a:pt x="150" y="151"/>
                </a:lnTo>
                <a:lnTo>
                  <a:pt x="134" y="128"/>
                </a:lnTo>
                <a:lnTo>
                  <a:pt x="117" y="107"/>
                </a:lnTo>
                <a:lnTo>
                  <a:pt x="97" y="86"/>
                </a:lnTo>
                <a:lnTo>
                  <a:pt x="78" y="66"/>
                </a:lnTo>
                <a:lnTo>
                  <a:pt x="57" y="45"/>
                </a:lnTo>
                <a:lnTo>
                  <a:pt x="34" y="27"/>
                </a:lnTo>
                <a:lnTo>
                  <a:pt x="11" y="8"/>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7" name="Freeform 14346"/>
          <p:cNvSpPr/>
          <p:nvPr/>
        </p:nvSpPr>
        <p:spPr>
          <a:xfrm>
            <a:off x="2370138" y="5062538"/>
            <a:ext cx="60325" cy="869950"/>
          </a:xfrm>
          <a:custGeom>
            <a:avLst/>
            <a:gdLst/>
            <a:ahLst/>
            <a:cxnLst/>
            <a:rect l="0" t="0" r="0" b="0"/>
            <a:pathLst>
              <a:path w="38" h="548">
                <a:moveTo>
                  <a:pt x="0" y="547"/>
                </a:moveTo>
                <a:lnTo>
                  <a:pt x="3" y="509"/>
                </a:lnTo>
                <a:lnTo>
                  <a:pt x="8" y="473"/>
                </a:lnTo>
                <a:lnTo>
                  <a:pt x="12" y="434"/>
                </a:lnTo>
                <a:lnTo>
                  <a:pt x="17" y="398"/>
                </a:lnTo>
                <a:lnTo>
                  <a:pt x="20" y="361"/>
                </a:lnTo>
                <a:lnTo>
                  <a:pt x="24" y="325"/>
                </a:lnTo>
                <a:lnTo>
                  <a:pt x="28" y="288"/>
                </a:lnTo>
                <a:lnTo>
                  <a:pt x="30" y="252"/>
                </a:lnTo>
                <a:lnTo>
                  <a:pt x="33" y="215"/>
                </a:lnTo>
                <a:lnTo>
                  <a:pt x="35" y="177"/>
                </a:lnTo>
                <a:lnTo>
                  <a:pt x="37" y="140"/>
                </a:lnTo>
                <a:lnTo>
                  <a:pt x="37" y="104"/>
                </a:lnTo>
                <a:lnTo>
                  <a:pt x="37" y="67"/>
                </a:lnTo>
                <a:lnTo>
                  <a:pt x="37" y="30"/>
                </a:lnTo>
                <a:lnTo>
                  <a:pt x="37"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8" name="Freeform 14347"/>
          <p:cNvSpPr/>
          <p:nvPr/>
        </p:nvSpPr>
        <p:spPr>
          <a:xfrm>
            <a:off x="2808288" y="4305300"/>
            <a:ext cx="473075" cy="1631950"/>
          </a:xfrm>
          <a:custGeom>
            <a:avLst/>
            <a:gdLst/>
            <a:ahLst/>
            <a:cxnLst/>
            <a:rect l="0" t="0" r="0" b="0"/>
            <a:pathLst>
              <a:path w="298" h="1028">
                <a:moveTo>
                  <a:pt x="297" y="0"/>
                </a:moveTo>
                <a:lnTo>
                  <a:pt x="279" y="12"/>
                </a:lnTo>
                <a:lnTo>
                  <a:pt x="261" y="26"/>
                </a:lnTo>
                <a:lnTo>
                  <a:pt x="243" y="41"/>
                </a:lnTo>
                <a:lnTo>
                  <a:pt x="225" y="56"/>
                </a:lnTo>
                <a:lnTo>
                  <a:pt x="209" y="72"/>
                </a:lnTo>
                <a:lnTo>
                  <a:pt x="193" y="87"/>
                </a:lnTo>
                <a:lnTo>
                  <a:pt x="179" y="102"/>
                </a:lnTo>
                <a:lnTo>
                  <a:pt x="164" y="119"/>
                </a:lnTo>
                <a:lnTo>
                  <a:pt x="149" y="136"/>
                </a:lnTo>
                <a:lnTo>
                  <a:pt x="135" y="153"/>
                </a:lnTo>
                <a:lnTo>
                  <a:pt x="122" y="170"/>
                </a:lnTo>
                <a:lnTo>
                  <a:pt x="110" y="186"/>
                </a:lnTo>
                <a:lnTo>
                  <a:pt x="98" y="205"/>
                </a:lnTo>
                <a:lnTo>
                  <a:pt x="88" y="222"/>
                </a:lnTo>
                <a:lnTo>
                  <a:pt x="76" y="241"/>
                </a:lnTo>
                <a:lnTo>
                  <a:pt x="66" y="259"/>
                </a:lnTo>
                <a:lnTo>
                  <a:pt x="57" y="277"/>
                </a:lnTo>
                <a:lnTo>
                  <a:pt x="49" y="297"/>
                </a:lnTo>
                <a:lnTo>
                  <a:pt x="41" y="315"/>
                </a:lnTo>
                <a:lnTo>
                  <a:pt x="33" y="335"/>
                </a:lnTo>
                <a:lnTo>
                  <a:pt x="27" y="355"/>
                </a:lnTo>
                <a:lnTo>
                  <a:pt x="21" y="374"/>
                </a:lnTo>
                <a:lnTo>
                  <a:pt x="16" y="392"/>
                </a:lnTo>
                <a:lnTo>
                  <a:pt x="12" y="412"/>
                </a:lnTo>
                <a:lnTo>
                  <a:pt x="8" y="431"/>
                </a:lnTo>
                <a:lnTo>
                  <a:pt x="6" y="451"/>
                </a:lnTo>
                <a:lnTo>
                  <a:pt x="2" y="470"/>
                </a:lnTo>
                <a:lnTo>
                  <a:pt x="2" y="490"/>
                </a:lnTo>
                <a:lnTo>
                  <a:pt x="0" y="511"/>
                </a:lnTo>
                <a:lnTo>
                  <a:pt x="0" y="531"/>
                </a:lnTo>
                <a:lnTo>
                  <a:pt x="1" y="550"/>
                </a:lnTo>
                <a:lnTo>
                  <a:pt x="2" y="570"/>
                </a:lnTo>
                <a:lnTo>
                  <a:pt x="4" y="590"/>
                </a:lnTo>
                <a:lnTo>
                  <a:pt x="6" y="609"/>
                </a:lnTo>
                <a:lnTo>
                  <a:pt x="10" y="629"/>
                </a:lnTo>
                <a:lnTo>
                  <a:pt x="14" y="648"/>
                </a:lnTo>
                <a:lnTo>
                  <a:pt x="19" y="668"/>
                </a:lnTo>
                <a:lnTo>
                  <a:pt x="24" y="688"/>
                </a:lnTo>
                <a:lnTo>
                  <a:pt x="30" y="707"/>
                </a:lnTo>
                <a:lnTo>
                  <a:pt x="37" y="727"/>
                </a:lnTo>
                <a:lnTo>
                  <a:pt x="44" y="746"/>
                </a:lnTo>
                <a:lnTo>
                  <a:pt x="53" y="764"/>
                </a:lnTo>
                <a:lnTo>
                  <a:pt x="62" y="783"/>
                </a:lnTo>
                <a:lnTo>
                  <a:pt x="72" y="801"/>
                </a:lnTo>
                <a:lnTo>
                  <a:pt x="82" y="820"/>
                </a:lnTo>
                <a:lnTo>
                  <a:pt x="93" y="837"/>
                </a:lnTo>
                <a:lnTo>
                  <a:pt x="104" y="855"/>
                </a:lnTo>
                <a:lnTo>
                  <a:pt x="117" y="872"/>
                </a:lnTo>
                <a:lnTo>
                  <a:pt x="129" y="890"/>
                </a:lnTo>
                <a:lnTo>
                  <a:pt x="142" y="907"/>
                </a:lnTo>
                <a:lnTo>
                  <a:pt x="156" y="924"/>
                </a:lnTo>
                <a:lnTo>
                  <a:pt x="171" y="941"/>
                </a:lnTo>
                <a:lnTo>
                  <a:pt x="185" y="957"/>
                </a:lnTo>
                <a:lnTo>
                  <a:pt x="201" y="972"/>
                </a:lnTo>
                <a:lnTo>
                  <a:pt x="217" y="988"/>
                </a:lnTo>
                <a:lnTo>
                  <a:pt x="235" y="1003"/>
                </a:lnTo>
                <a:lnTo>
                  <a:pt x="252" y="1018"/>
                </a:lnTo>
                <a:lnTo>
                  <a:pt x="264" y="1027"/>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49" name="Freeform 14348"/>
          <p:cNvSpPr/>
          <p:nvPr/>
        </p:nvSpPr>
        <p:spPr>
          <a:xfrm>
            <a:off x="3081338" y="4305300"/>
            <a:ext cx="242887" cy="1631950"/>
          </a:xfrm>
          <a:custGeom>
            <a:avLst/>
            <a:gdLst/>
            <a:ahLst/>
            <a:cxnLst/>
            <a:rect l="0" t="0" r="0" b="0"/>
            <a:pathLst>
              <a:path w="153" h="1028">
                <a:moveTo>
                  <a:pt x="152" y="0"/>
                </a:moveTo>
                <a:lnTo>
                  <a:pt x="139" y="24"/>
                </a:lnTo>
                <a:lnTo>
                  <a:pt x="125" y="51"/>
                </a:lnTo>
                <a:lnTo>
                  <a:pt x="112" y="78"/>
                </a:lnTo>
                <a:lnTo>
                  <a:pt x="100" y="106"/>
                </a:lnTo>
                <a:lnTo>
                  <a:pt x="89" y="132"/>
                </a:lnTo>
                <a:lnTo>
                  <a:pt x="78" y="160"/>
                </a:lnTo>
                <a:lnTo>
                  <a:pt x="68" y="186"/>
                </a:lnTo>
                <a:lnTo>
                  <a:pt x="59" y="214"/>
                </a:lnTo>
                <a:lnTo>
                  <a:pt x="50" y="241"/>
                </a:lnTo>
                <a:lnTo>
                  <a:pt x="41" y="270"/>
                </a:lnTo>
                <a:lnTo>
                  <a:pt x="34" y="298"/>
                </a:lnTo>
                <a:lnTo>
                  <a:pt x="28" y="327"/>
                </a:lnTo>
                <a:lnTo>
                  <a:pt x="22" y="355"/>
                </a:lnTo>
                <a:lnTo>
                  <a:pt x="16" y="384"/>
                </a:lnTo>
                <a:lnTo>
                  <a:pt x="13" y="411"/>
                </a:lnTo>
                <a:lnTo>
                  <a:pt x="9" y="439"/>
                </a:lnTo>
                <a:lnTo>
                  <a:pt x="7" y="468"/>
                </a:lnTo>
                <a:lnTo>
                  <a:pt x="5" y="496"/>
                </a:lnTo>
                <a:lnTo>
                  <a:pt x="3" y="525"/>
                </a:lnTo>
                <a:lnTo>
                  <a:pt x="2" y="552"/>
                </a:lnTo>
                <a:lnTo>
                  <a:pt x="0" y="581"/>
                </a:lnTo>
                <a:lnTo>
                  <a:pt x="2" y="609"/>
                </a:lnTo>
                <a:lnTo>
                  <a:pt x="3" y="638"/>
                </a:lnTo>
                <a:lnTo>
                  <a:pt x="5" y="667"/>
                </a:lnTo>
                <a:lnTo>
                  <a:pt x="8" y="696"/>
                </a:lnTo>
                <a:lnTo>
                  <a:pt x="11" y="725"/>
                </a:lnTo>
                <a:lnTo>
                  <a:pt x="14" y="752"/>
                </a:lnTo>
                <a:lnTo>
                  <a:pt x="19" y="781"/>
                </a:lnTo>
                <a:lnTo>
                  <a:pt x="24" y="809"/>
                </a:lnTo>
                <a:lnTo>
                  <a:pt x="31" y="837"/>
                </a:lnTo>
                <a:lnTo>
                  <a:pt x="37" y="864"/>
                </a:lnTo>
                <a:lnTo>
                  <a:pt x="44" y="892"/>
                </a:lnTo>
                <a:lnTo>
                  <a:pt x="53" y="920"/>
                </a:lnTo>
                <a:lnTo>
                  <a:pt x="62" y="948"/>
                </a:lnTo>
                <a:lnTo>
                  <a:pt x="72" y="976"/>
                </a:lnTo>
                <a:lnTo>
                  <a:pt x="83" y="1004"/>
                </a:lnTo>
                <a:lnTo>
                  <a:pt x="92" y="1027"/>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0" name="Freeform 14349"/>
          <p:cNvSpPr/>
          <p:nvPr/>
        </p:nvSpPr>
        <p:spPr>
          <a:xfrm>
            <a:off x="3227388" y="4305300"/>
            <a:ext cx="174625" cy="1627188"/>
          </a:xfrm>
          <a:custGeom>
            <a:avLst/>
            <a:gdLst/>
            <a:ahLst/>
            <a:cxnLst/>
            <a:rect l="0" t="0" r="0" b="0"/>
            <a:pathLst>
              <a:path w="110" h="1025">
                <a:moveTo>
                  <a:pt x="0" y="1024"/>
                </a:moveTo>
                <a:lnTo>
                  <a:pt x="12" y="985"/>
                </a:lnTo>
                <a:lnTo>
                  <a:pt x="23" y="946"/>
                </a:lnTo>
                <a:lnTo>
                  <a:pt x="34" y="907"/>
                </a:lnTo>
                <a:lnTo>
                  <a:pt x="44" y="868"/>
                </a:lnTo>
                <a:lnTo>
                  <a:pt x="53" y="828"/>
                </a:lnTo>
                <a:lnTo>
                  <a:pt x="62" y="789"/>
                </a:lnTo>
                <a:lnTo>
                  <a:pt x="68" y="751"/>
                </a:lnTo>
                <a:lnTo>
                  <a:pt x="76" y="710"/>
                </a:lnTo>
                <a:lnTo>
                  <a:pt x="83" y="670"/>
                </a:lnTo>
                <a:lnTo>
                  <a:pt x="89" y="630"/>
                </a:lnTo>
                <a:lnTo>
                  <a:pt x="94" y="592"/>
                </a:lnTo>
                <a:lnTo>
                  <a:pt x="98" y="552"/>
                </a:lnTo>
                <a:lnTo>
                  <a:pt x="101" y="513"/>
                </a:lnTo>
                <a:lnTo>
                  <a:pt x="104" y="472"/>
                </a:lnTo>
                <a:lnTo>
                  <a:pt x="106" y="432"/>
                </a:lnTo>
                <a:lnTo>
                  <a:pt x="108" y="392"/>
                </a:lnTo>
                <a:lnTo>
                  <a:pt x="109" y="353"/>
                </a:lnTo>
                <a:lnTo>
                  <a:pt x="109" y="313"/>
                </a:lnTo>
                <a:lnTo>
                  <a:pt x="108" y="272"/>
                </a:lnTo>
                <a:lnTo>
                  <a:pt x="107" y="232"/>
                </a:lnTo>
                <a:lnTo>
                  <a:pt x="104" y="193"/>
                </a:lnTo>
                <a:lnTo>
                  <a:pt x="101" y="153"/>
                </a:lnTo>
                <a:lnTo>
                  <a:pt x="98" y="113"/>
                </a:lnTo>
                <a:lnTo>
                  <a:pt x="94" y="73"/>
                </a:lnTo>
                <a:lnTo>
                  <a:pt x="89" y="34"/>
                </a:lnTo>
                <a:lnTo>
                  <a:pt x="84"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1" name="Freeform 14350"/>
          <p:cNvSpPr/>
          <p:nvPr/>
        </p:nvSpPr>
        <p:spPr>
          <a:xfrm>
            <a:off x="3227388" y="4305300"/>
            <a:ext cx="428625" cy="1627188"/>
          </a:xfrm>
          <a:custGeom>
            <a:avLst/>
            <a:gdLst/>
            <a:ahLst/>
            <a:cxnLst/>
            <a:rect l="0" t="0" r="0" b="0"/>
            <a:pathLst>
              <a:path w="270" h="1025">
                <a:moveTo>
                  <a:pt x="0" y="1024"/>
                </a:moveTo>
                <a:lnTo>
                  <a:pt x="17" y="1007"/>
                </a:lnTo>
                <a:lnTo>
                  <a:pt x="36" y="990"/>
                </a:lnTo>
                <a:lnTo>
                  <a:pt x="53" y="971"/>
                </a:lnTo>
                <a:lnTo>
                  <a:pt x="68" y="953"/>
                </a:lnTo>
                <a:lnTo>
                  <a:pt x="85" y="935"/>
                </a:lnTo>
                <a:lnTo>
                  <a:pt x="100" y="916"/>
                </a:lnTo>
                <a:lnTo>
                  <a:pt x="115" y="896"/>
                </a:lnTo>
                <a:lnTo>
                  <a:pt x="129" y="877"/>
                </a:lnTo>
                <a:lnTo>
                  <a:pt x="142" y="858"/>
                </a:lnTo>
                <a:lnTo>
                  <a:pt x="155" y="838"/>
                </a:lnTo>
                <a:lnTo>
                  <a:pt x="166" y="818"/>
                </a:lnTo>
                <a:lnTo>
                  <a:pt x="178" y="799"/>
                </a:lnTo>
                <a:lnTo>
                  <a:pt x="188" y="778"/>
                </a:lnTo>
                <a:lnTo>
                  <a:pt x="198" y="758"/>
                </a:lnTo>
                <a:lnTo>
                  <a:pt x="209" y="737"/>
                </a:lnTo>
                <a:lnTo>
                  <a:pt x="218" y="715"/>
                </a:lnTo>
                <a:lnTo>
                  <a:pt x="225" y="694"/>
                </a:lnTo>
                <a:lnTo>
                  <a:pt x="233" y="673"/>
                </a:lnTo>
                <a:lnTo>
                  <a:pt x="238" y="651"/>
                </a:lnTo>
                <a:lnTo>
                  <a:pt x="245" y="630"/>
                </a:lnTo>
                <a:lnTo>
                  <a:pt x="250" y="608"/>
                </a:lnTo>
                <a:lnTo>
                  <a:pt x="255" y="586"/>
                </a:lnTo>
                <a:lnTo>
                  <a:pt x="259" y="565"/>
                </a:lnTo>
                <a:lnTo>
                  <a:pt x="262" y="542"/>
                </a:lnTo>
                <a:lnTo>
                  <a:pt x="265" y="521"/>
                </a:lnTo>
                <a:lnTo>
                  <a:pt x="267" y="498"/>
                </a:lnTo>
                <a:lnTo>
                  <a:pt x="268" y="476"/>
                </a:lnTo>
                <a:lnTo>
                  <a:pt x="269" y="455"/>
                </a:lnTo>
                <a:lnTo>
                  <a:pt x="269" y="432"/>
                </a:lnTo>
                <a:lnTo>
                  <a:pt x="267" y="410"/>
                </a:lnTo>
                <a:lnTo>
                  <a:pt x="265" y="388"/>
                </a:lnTo>
                <a:lnTo>
                  <a:pt x="263" y="367"/>
                </a:lnTo>
                <a:lnTo>
                  <a:pt x="259" y="345"/>
                </a:lnTo>
                <a:lnTo>
                  <a:pt x="256" y="323"/>
                </a:lnTo>
                <a:lnTo>
                  <a:pt x="251" y="301"/>
                </a:lnTo>
                <a:lnTo>
                  <a:pt x="246" y="278"/>
                </a:lnTo>
                <a:lnTo>
                  <a:pt x="240" y="256"/>
                </a:lnTo>
                <a:lnTo>
                  <a:pt x="233" y="235"/>
                </a:lnTo>
                <a:lnTo>
                  <a:pt x="227" y="214"/>
                </a:lnTo>
                <a:lnTo>
                  <a:pt x="218" y="194"/>
                </a:lnTo>
                <a:lnTo>
                  <a:pt x="210" y="172"/>
                </a:lnTo>
                <a:lnTo>
                  <a:pt x="199" y="153"/>
                </a:lnTo>
                <a:lnTo>
                  <a:pt x="190" y="131"/>
                </a:lnTo>
                <a:lnTo>
                  <a:pt x="179" y="111"/>
                </a:lnTo>
                <a:lnTo>
                  <a:pt x="168" y="91"/>
                </a:lnTo>
                <a:lnTo>
                  <a:pt x="157" y="70"/>
                </a:lnTo>
                <a:lnTo>
                  <a:pt x="145" y="50"/>
                </a:lnTo>
                <a:lnTo>
                  <a:pt x="131" y="31"/>
                </a:lnTo>
                <a:lnTo>
                  <a:pt x="117" y="12"/>
                </a:lnTo>
                <a:lnTo>
                  <a:pt x="108"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2" name="Freeform 14351"/>
          <p:cNvSpPr/>
          <p:nvPr/>
        </p:nvSpPr>
        <p:spPr>
          <a:xfrm>
            <a:off x="3443288" y="4305300"/>
            <a:ext cx="414337" cy="769938"/>
          </a:xfrm>
          <a:custGeom>
            <a:avLst/>
            <a:gdLst/>
            <a:ahLst/>
            <a:cxnLst/>
            <a:rect l="0" t="0" r="0" b="0"/>
            <a:pathLst>
              <a:path w="261" h="485">
                <a:moveTo>
                  <a:pt x="258" y="484"/>
                </a:moveTo>
                <a:lnTo>
                  <a:pt x="258" y="462"/>
                </a:lnTo>
                <a:lnTo>
                  <a:pt x="260" y="444"/>
                </a:lnTo>
                <a:lnTo>
                  <a:pt x="258" y="426"/>
                </a:lnTo>
                <a:lnTo>
                  <a:pt x="258" y="407"/>
                </a:lnTo>
                <a:lnTo>
                  <a:pt x="257" y="390"/>
                </a:lnTo>
                <a:lnTo>
                  <a:pt x="257" y="373"/>
                </a:lnTo>
                <a:lnTo>
                  <a:pt x="255" y="355"/>
                </a:lnTo>
                <a:lnTo>
                  <a:pt x="252" y="337"/>
                </a:lnTo>
                <a:lnTo>
                  <a:pt x="247" y="320"/>
                </a:lnTo>
                <a:lnTo>
                  <a:pt x="241" y="302"/>
                </a:lnTo>
                <a:lnTo>
                  <a:pt x="235" y="284"/>
                </a:lnTo>
                <a:lnTo>
                  <a:pt x="229" y="266"/>
                </a:lnTo>
                <a:lnTo>
                  <a:pt x="221" y="250"/>
                </a:lnTo>
                <a:lnTo>
                  <a:pt x="213" y="233"/>
                </a:lnTo>
                <a:lnTo>
                  <a:pt x="204" y="216"/>
                </a:lnTo>
                <a:lnTo>
                  <a:pt x="195" y="199"/>
                </a:lnTo>
                <a:lnTo>
                  <a:pt x="185" y="183"/>
                </a:lnTo>
                <a:lnTo>
                  <a:pt x="174" y="168"/>
                </a:lnTo>
                <a:lnTo>
                  <a:pt x="162" y="153"/>
                </a:lnTo>
                <a:lnTo>
                  <a:pt x="151" y="137"/>
                </a:lnTo>
                <a:lnTo>
                  <a:pt x="138" y="121"/>
                </a:lnTo>
                <a:lnTo>
                  <a:pt x="124" y="107"/>
                </a:lnTo>
                <a:lnTo>
                  <a:pt x="111" y="92"/>
                </a:lnTo>
                <a:lnTo>
                  <a:pt x="97" y="77"/>
                </a:lnTo>
                <a:lnTo>
                  <a:pt x="82" y="63"/>
                </a:lnTo>
                <a:lnTo>
                  <a:pt x="65" y="50"/>
                </a:lnTo>
                <a:lnTo>
                  <a:pt x="50" y="38"/>
                </a:lnTo>
                <a:lnTo>
                  <a:pt x="33" y="24"/>
                </a:lnTo>
                <a:lnTo>
                  <a:pt x="18" y="12"/>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3" name="Freeform 14352"/>
          <p:cNvSpPr/>
          <p:nvPr/>
        </p:nvSpPr>
        <p:spPr>
          <a:xfrm>
            <a:off x="2622550" y="4502150"/>
            <a:ext cx="334963" cy="703263"/>
          </a:xfrm>
          <a:custGeom>
            <a:avLst/>
            <a:gdLst/>
            <a:ahLst/>
            <a:cxnLst/>
            <a:rect l="0" t="0" r="0" b="0"/>
            <a:pathLst>
              <a:path w="211" h="443">
                <a:moveTo>
                  <a:pt x="210" y="0"/>
                </a:moveTo>
                <a:lnTo>
                  <a:pt x="194" y="15"/>
                </a:lnTo>
                <a:lnTo>
                  <a:pt x="179" y="31"/>
                </a:lnTo>
                <a:lnTo>
                  <a:pt x="165" y="46"/>
                </a:lnTo>
                <a:lnTo>
                  <a:pt x="150" y="62"/>
                </a:lnTo>
                <a:lnTo>
                  <a:pt x="137" y="78"/>
                </a:lnTo>
                <a:lnTo>
                  <a:pt x="123" y="96"/>
                </a:lnTo>
                <a:lnTo>
                  <a:pt x="111" y="112"/>
                </a:lnTo>
                <a:lnTo>
                  <a:pt x="99" y="130"/>
                </a:lnTo>
                <a:lnTo>
                  <a:pt x="87" y="148"/>
                </a:lnTo>
                <a:lnTo>
                  <a:pt x="76" y="165"/>
                </a:lnTo>
                <a:lnTo>
                  <a:pt x="66" y="184"/>
                </a:lnTo>
                <a:lnTo>
                  <a:pt x="58" y="203"/>
                </a:lnTo>
                <a:lnTo>
                  <a:pt x="49" y="221"/>
                </a:lnTo>
                <a:lnTo>
                  <a:pt x="42" y="240"/>
                </a:lnTo>
                <a:lnTo>
                  <a:pt x="34" y="259"/>
                </a:lnTo>
                <a:lnTo>
                  <a:pt x="28" y="277"/>
                </a:lnTo>
                <a:lnTo>
                  <a:pt x="22" y="296"/>
                </a:lnTo>
                <a:lnTo>
                  <a:pt x="17" y="315"/>
                </a:lnTo>
                <a:lnTo>
                  <a:pt x="12" y="335"/>
                </a:lnTo>
                <a:lnTo>
                  <a:pt x="9" y="354"/>
                </a:lnTo>
                <a:lnTo>
                  <a:pt x="6" y="373"/>
                </a:lnTo>
                <a:lnTo>
                  <a:pt x="3" y="393"/>
                </a:lnTo>
                <a:lnTo>
                  <a:pt x="0" y="412"/>
                </a:lnTo>
                <a:lnTo>
                  <a:pt x="0" y="432"/>
                </a:lnTo>
                <a:lnTo>
                  <a:pt x="0" y="442"/>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4" name="Freeform 14353"/>
          <p:cNvSpPr/>
          <p:nvPr/>
        </p:nvSpPr>
        <p:spPr>
          <a:xfrm>
            <a:off x="3521075" y="4305300"/>
            <a:ext cx="1128713" cy="1631950"/>
          </a:xfrm>
          <a:custGeom>
            <a:avLst/>
            <a:gdLst/>
            <a:ahLst/>
            <a:cxnLst/>
            <a:rect l="0" t="0" r="0" b="0"/>
            <a:pathLst>
              <a:path w="711" h="1028">
                <a:moveTo>
                  <a:pt x="710" y="1027"/>
                </a:moveTo>
                <a:lnTo>
                  <a:pt x="705" y="1024"/>
                </a:lnTo>
                <a:lnTo>
                  <a:pt x="688" y="1009"/>
                </a:lnTo>
                <a:lnTo>
                  <a:pt x="668" y="994"/>
                </a:lnTo>
                <a:lnTo>
                  <a:pt x="649" y="977"/>
                </a:lnTo>
                <a:lnTo>
                  <a:pt x="631" y="961"/>
                </a:lnTo>
                <a:lnTo>
                  <a:pt x="614" y="946"/>
                </a:lnTo>
                <a:lnTo>
                  <a:pt x="597" y="929"/>
                </a:lnTo>
                <a:lnTo>
                  <a:pt x="580" y="911"/>
                </a:lnTo>
                <a:lnTo>
                  <a:pt x="565" y="894"/>
                </a:lnTo>
                <a:lnTo>
                  <a:pt x="550" y="876"/>
                </a:lnTo>
                <a:lnTo>
                  <a:pt x="535" y="858"/>
                </a:lnTo>
                <a:lnTo>
                  <a:pt x="521" y="841"/>
                </a:lnTo>
                <a:lnTo>
                  <a:pt x="507" y="823"/>
                </a:lnTo>
                <a:lnTo>
                  <a:pt x="496" y="804"/>
                </a:lnTo>
                <a:lnTo>
                  <a:pt x="482" y="785"/>
                </a:lnTo>
                <a:lnTo>
                  <a:pt x="471" y="766"/>
                </a:lnTo>
                <a:lnTo>
                  <a:pt x="460" y="746"/>
                </a:lnTo>
                <a:lnTo>
                  <a:pt x="451" y="727"/>
                </a:lnTo>
                <a:lnTo>
                  <a:pt x="441" y="707"/>
                </a:lnTo>
                <a:lnTo>
                  <a:pt x="432" y="687"/>
                </a:lnTo>
                <a:lnTo>
                  <a:pt x="424" y="667"/>
                </a:lnTo>
                <a:lnTo>
                  <a:pt x="416" y="646"/>
                </a:lnTo>
                <a:lnTo>
                  <a:pt x="410" y="626"/>
                </a:lnTo>
                <a:lnTo>
                  <a:pt x="404" y="605"/>
                </a:lnTo>
                <a:lnTo>
                  <a:pt x="399" y="585"/>
                </a:lnTo>
                <a:lnTo>
                  <a:pt x="394" y="564"/>
                </a:lnTo>
                <a:lnTo>
                  <a:pt x="390" y="544"/>
                </a:lnTo>
                <a:lnTo>
                  <a:pt x="387" y="522"/>
                </a:lnTo>
                <a:lnTo>
                  <a:pt x="384" y="501"/>
                </a:lnTo>
                <a:lnTo>
                  <a:pt x="383" y="479"/>
                </a:lnTo>
                <a:lnTo>
                  <a:pt x="381" y="462"/>
                </a:lnTo>
                <a:lnTo>
                  <a:pt x="378" y="444"/>
                </a:lnTo>
                <a:lnTo>
                  <a:pt x="376" y="426"/>
                </a:lnTo>
                <a:lnTo>
                  <a:pt x="372" y="409"/>
                </a:lnTo>
                <a:lnTo>
                  <a:pt x="367" y="391"/>
                </a:lnTo>
                <a:lnTo>
                  <a:pt x="362" y="374"/>
                </a:lnTo>
                <a:lnTo>
                  <a:pt x="356" y="358"/>
                </a:lnTo>
                <a:lnTo>
                  <a:pt x="350" y="339"/>
                </a:lnTo>
                <a:lnTo>
                  <a:pt x="343" y="322"/>
                </a:lnTo>
                <a:lnTo>
                  <a:pt x="335" y="306"/>
                </a:lnTo>
                <a:lnTo>
                  <a:pt x="327" y="288"/>
                </a:lnTo>
                <a:lnTo>
                  <a:pt x="318" y="272"/>
                </a:lnTo>
                <a:lnTo>
                  <a:pt x="307" y="255"/>
                </a:lnTo>
                <a:lnTo>
                  <a:pt x="298" y="239"/>
                </a:lnTo>
                <a:lnTo>
                  <a:pt x="287" y="223"/>
                </a:lnTo>
                <a:lnTo>
                  <a:pt x="275" y="208"/>
                </a:lnTo>
                <a:lnTo>
                  <a:pt x="263" y="193"/>
                </a:lnTo>
                <a:lnTo>
                  <a:pt x="250" y="177"/>
                </a:lnTo>
                <a:lnTo>
                  <a:pt x="236" y="163"/>
                </a:lnTo>
                <a:lnTo>
                  <a:pt x="222" y="149"/>
                </a:lnTo>
                <a:lnTo>
                  <a:pt x="208" y="135"/>
                </a:lnTo>
                <a:lnTo>
                  <a:pt x="193" y="121"/>
                </a:lnTo>
                <a:lnTo>
                  <a:pt x="177" y="108"/>
                </a:lnTo>
                <a:lnTo>
                  <a:pt x="161" y="95"/>
                </a:lnTo>
                <a:lnTo>
                  <a:pt x="145" y="83"/>
                </a:lnTo>
                <a:lnTo>
                  <a:pt x="127" y="70"/>
                </a:lnTo>
                <a:lnTo>
                  <a:pt x="109" y="59"/>
                </a:lnTo>
                <a:lnTo>
                  <a:pt x="90" y="46"/>
                </a:lnTo>
                <a:lnTo>
                  <a:pt x="73" y="35"/>
                </a:lnTo>
                <a:lnTo>
                  <a:pt x="53" y="25"/>
                </a:lnTo>
                <a:lnTo>
                  <a:pt x="34" y="15"/>
                </a:lnTo>
                <a:lnTo>
                  <a:pt x="14" y="5"/>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5" name="Freeform 14354"/>
          <p:cNvSpPr/>
          <p:nvPr/>
        </p:nvSpPr>
        <p:spPr>
          <a:xfrm>
            <a:off x="3597275" y="4303713"/>
            <a:ext cx="1052513" cy="1628775"/>
          </a:xfrm>
          <a:custGeom>
            <a:avLst/>
            <a:gdLst/>
            <a:ahLst/>
            <a:cxnLst/>
            <a:rect l="0" t="0" r="0" b="0"/>
            <a:pathLst>
              <a:path w="663" h="1026">
                <a:moveTo>
                  <a:pt x="662" y="1025"/>
                </a:moveTo>
                <a:lnTo>
                  <a:pt x="650" y="1003"/>
                </a:lnTo>
                <a:lnTo>
                  <a:pt x="637" y="977"/>
                </a:lnTo>
                <a:lnTo>
                  <a:pt x="625" y="953"/>
                </a:lnTo>
                <a:lnTo>
                  <a:pt x="612" y="928"/>
                </a:lnTo>
                <a:lnTo>
                  <a:pt x="600" y="902"/>
                </a:lnTo>
                <a:lnTo>
                  <a:pt x="589" y="876"/>
                </a:lnTo>
                <a:lnTo>
                  <a:pt x="580" y="851"/>
                </a:lnTo>
                <a:lnTo>
                  <a:pt x="569" y="825"/>
                </a:lnTo>
                <a:lnTo>
                  <a:pt x="560" y="800"/>
                </a:lnTo>
                <a:lnTo>
                  <a:pt x="552" y="774"/>
                </a:lnTo>
                <a:lnTo>
                  <a:pt x="545" y="747"/>
                </a:lnTo>
                <a:lnTo>
                  <a:pt x="538" y="722"/>
                </a:lnTo>
                <a:lnTo>
                  <a:pt x="532" y="695"/>
                </a:lnTo>
                <a:lnTo>
                  <a:pt x="527" y="668"/>
                </a:lnTo>
                <a:lnTo>
                  <a:pt x="522" y="641"/>
                </a:lnTo>
                <a:lnTo>
                  <a:pt x="518" y="614"/>
                </a:lnTo>
                <a:lnTo>
                  <a:pt x="515" y="588"/>
                </a:lnTo>
                <a:lnTo>
                  <a:pt x="513" y="562"/>
                </a:lnTo>
                <a:lnTo>
                  <a:pt x="510" y="534"/>
                </a:lnTo>
                <a:lnTo>
                  <a:pt x="509" y="508"/>
                </a:lnTo>
                <a:lnTo>
                  <a:pt x="509" y="480"/>
                </a:lnTo>
                <a:lnTo>
                  <a:pt x="501" y="445"/>
                </a:lnTo>
                <a:lnTo>
                  <a:pt x="496" y="427"/>
                </a:lnTo>
                <a:lnTo>
                  <a:pt x="490" y="410"/>
                </a:lnTo>
                <a:lnTo>
                  <a:pt x="485" y="393"/>
                </a:lnTo>
                <a:lnTo>
                  <a:pt x="478" y="377"/>
                </a:lnTo>
                <a:lnTo>
                  <a:pt x="470" y="359"/>
                </a:lnTo>
                <a:lnTo>
                  <a:pt x="462" y="343"/>
                </a:lnTo>
                <a:lnTo>
                  <a:pt x="453" y="326"/>
                </a:lnTo>
                <a:lnTo>
                  <a:pt x="443" y="309"/>
                </a:lnTo>
                <a:lnTo>
                  <a:pt x="433" y="293"/>
                </a:lnTo>
                <a:lnTo>
                  <a:pt x="422" y="277"/>
                </a:lnTo>
                <a:lnTo>
                  <a:pt x="411" y="261"/>
                </a:lnTo>
                <a:lnTo>
                  <a:pt x="399" y="246"/>
                </a:lnTo>
                <a:lnTo>
                  <a:pt x="386" y="230"/>
                </a:lnTo>
                <a:lnTo>
                  <a:pt x="373" y="215"/>
                </a:lnTo>
                <a:lnTo>
                  <a:pt x="359" y="201"/>
                </a:lnTo>
                <a:lnTo>
                  <a:pt x="344" y="187"/>
                </a:lnTo>
                <a:lnTo>
                  <a:pt x="330" y="173"/>
                </a:lnTo>
                <a:lnTo>
                  <a:pt x="311" y="156"/>
                </a:lnTo>
                <a:lnTo>
                  <a:pt x="292" y="142"/>
                </a:lnTo>
                <a:lnTo>
                  <a:pt x="276" y="128"/>
                </a:lnTo>
                <a:lnTo>
                  <a:pt x="265" y="122"/>
                </a:lnTo>
                <a:lnTo>
                  <a:pt x="246" y="110"/>
                </a:lnTo>
                <a:lnTo>
                  <a:pt x="229" y="99"/>
                </a:lnTo>
                <a:lnTo>
                  <a:pt x="215" y="90"/>
                </a:lnTo>
                <a:lnTo>
                  <a:pt x="191" y="77"/>
                </a:lnTo>
                <a:lnTo>
                  <a:pt x="172" y="66"/>
                </a:lnTo>
                <a:lnTo>
                  <a:pt x="154" y="56"/>
                </a:lnTo>
                <a:lnTo>
                  <a:pt x="125" y="44"/>
                </a:lnTo>
                <a:lnTo>
                  <a:pt x="106" y="35"/>
                </a:lnTo>
                <a:lnTo>
                  <a:pt x="92" y="30"/>
                </a:lnTo>
                <a:lnTo>
                  <a:pt x="70" y="22"/>
                </a:lnTo>
                <a:lnTo>
                  <a:pt x="49" y="14"/>
                </a:lnTo>
                <a:lnTo>
                  <a:pt x="26" y="7"/>
                </a:lnTo>
                <a:lnTo>
                  <a:pt x="5" y="2"/>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6" name="Freeform 14355"/>
          <p:cNvSpPr/>
          <p:nvPr/>
        </p:nvSpPr>
        <p:spPr>
          <a:xfrm>
            <a:off x="3711575" y="4303713"/>
            <a:ext cx="987425" cy="1628775"/>
          </a:xfrm>
          <a:custGeom>
            <a:avLst/>
            <a:gdLst/>
            <a:ahLst/>
            <a:cxnLst/>
            <a:rect l="0" t="0" r="0" b="0"/>
            <a:pathLst>
              <a:path w="622" h="1026">
                <a:moveTo>
                  <a:pt x="591" y="1025"/>
                </a:moveTo>
                <a:lnTo>
                  <a:pt x="598" y="996"/>
                </a:lnTo>
                <a:lnTo>
                  <a:pt x="603" y="966"/>
                </a:lnTo>
                <a:lnTo>
                  <a:pt x="608" y="937"/>
                </a:lnTo>
                <a:lnTo>
                  <a:pt x="612" y="908"/>
                </a:lnTo>
                <a:lnTo>
                  <a:pt x="616" y="877"/>
                </a:lnTo>
                <a:lnTo>
                  <a:pt x="618" y="848"/>
                </a:lnTo>
                <a:lnTo>
                  <a:pt x="620" y="819"/>
                </a:lnTo>
                <a:lnTo>
                  <a:pt x="621" y="790"/>
                </a:lnTo>
                <a:lnTo>
                  <a:pt x="621" y="760"/>
                </a:lnTo>
                <a:lnTo>
                  <a:pt x="621" y="730"/>
                </a:lnTo>
                <a:lnTo>
                  <a:pt x="620" y="701"/>
                </a:lnTo>
                <a:lnTo>
                  <a:pt x="619" y="670"/>
                </a:lnTo>
                <a:lnTo>
                  <a:pt x="616" y="641"/>
                </a:lnTo>
                <a:lnTo>
                  <a:pt x="613" y="611"/>
                </a:lnTo>
                <a:lnTo>
                  <a:pt x="609" y="582"/>
                </a:lnTo>
                <a:lnTo>
                  <a:pt x="604" y="553"/>
                </a:lnTo>
                <a:lnTo>
                  <a:pt x="599" y="523"/>
                </a:lnTo>
                <a:lnTo>
                  <a:pt x="594" y="494"/>
                </a:lnTo>
                <a:lnTo>
                  <a:pt x="588" y="465"/>
                </a:lnTo>
                <a:lnTo>
                  <a:pt x="580" y="435"/>
                </a:lnTo>
                <a:lnTo>
                  <a:pt x="572" y="407"/>
                </a:lnTo>
                <a:lnTo>
                  <a:pt x="564" y="388"/>
                </a:lnTo>
                <a:lnTo>
                  <a:pt x="557" y="371"/>
                </a:lnTo>
                <a:lnTo>
                  <a:pt x="544" y="348"/>
                </a:lnTo>
                <a:lnTo>
                  <a:pt x="531" y="328"/>
                </a:lnTo>
                <a:lnTo>
                  <a:pt x="514" y="304"/>
                </a:lnTo>
                <a:lnTo>
                  <a:pt x="505" y="290"/>
                </a:lnTo>
                <a:lnTo>
                  <a:pt x="488" y="273"/>
                </a:lnTo>
                <a:lnTo>
                  <a:pt x="474" y="257"/>
                </a:lnTo>
                <a:lnTo>
                  <a:pt x="460" y="245"/>
                </a:lnTo>
                <a:lnTo>
                  <a:pt x="450" y="236"/>
                </a:lnTo>
                <a:lnTo>
                  <a:pt x="422" y="213"/>
                </a:lnTo>
                <a:lnTo>
                  <a:pt x="401" y="195"/>
                </a:lnTo>
                <a:lnTo>
                  <a:pt x="391" y="189"/>
                </a:lnTo>
                <a:lnTo>
                  <a:pt x="373" y="175"/>
                </a:lnTo>
                <a:lnTo>
                  <a:pt x="355" y="164"/>
                </a:lnTo>
                <a:lnTo>
                  <a:pt x="337" y="151"/>
                </a:lnTo>
                <a:lnTo>
                  <a:pt x="318" y="138"/>
                </a:lnTo>
                <a:lnTo>
                  <a:pt x="297" y="125"/>
                </a:lnTo>
                <a:lnTo>
                  <a:pt x="277" y="113"/>
                </a:lnTo>
                <a:lnTo>
                  <a:pt x="256" y="101"/>
                </a:lnTo>
                <a:lnTo>
                  <a:pt x="234" y="90"/>
                </a:lnTo>
                <a:lnTo>
                  <a:pt x="212" y="78"/>
                </a:lnTo>
                <a:lnTo>
                  <a:pt x="190" y="68"/>
                </a:lnTo>
                <a:lnTo>
                  <a:pt x="167" y="59"/>
                </a:lnTo>
                <a:lnTo>
                  <a:pt x="145" y="49"/>
                </a:lnTo>
                <a:lnTo>
                  <a:pt x="121" y="41"/>
                </a:lnTo>
                <a:lnTo>
                  <a:pt x="98" y="31"/>
                </a:lnTo>
                <a:lnTo>
                  <a:pt x="75" y="23"/>
                </a:lnTo>
                <a:lnTo>
                  <a:pt x="51" y="16"/>
                </a:lnTo>
                <a:lnTo>
                  <a:pt x="26" y="8"/>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7" name="Freeform 14356"/>
          <p:cNvSpPr/>
          <p:nvPr/>
        </p:nvSpPr>
        <p:spPr>
          <a:xfrm>
            <a:off x="3783013" y="4303713"/>
            <a:ext cx="1120775" cy="1633537"/>
          </a:xfrm>
          <a:custGeom>
            <a:avLst/>
            <a:gdLst/>
            <a:ahLst/>
            <a:cxnLst/>
            <a:rect l="0" t="0" r="0" b="0"/>
            <a:pathLst>
              <a:path w="706" h="1029">
                <a:moveTo>
                  <a:pt x="546" y="1028"/>
                </a:moveTo>
                <a:lnTo>
                  <a:pt x="559" y="1012"/>
                </a:lnTo>
                <a:lnTo>
                  <a:pt x="574" y="994"/>
                </a:lnTo>
                <a:lnTo>
                  <a:pt x="587" y="977"/>
                </a:lnTo>
                <a:lnTo>
                  <a:pt x="599" y="959"/>
                </a:lnTo>
                <a:lnTo>
                  <a:pt x="610" y="940"/>
                </a:lnTo>
                <a:lnTo>
                  <a:pt x="622" y="921"/>
                </a:lnTo>
                <a:lnTo>
                  <a:pt x="632" y="904"/>
                </a:lnTo>
                <a:lnTo>
                  <a:pt x="642" y="884"/>
                </a:lnTo>
                <a:lnTo>
                  <a:pt x="651" y="865"/>
                </a:lnTo>
                <a:lnTo>
                  <a:pt x="659" y="846"/>
                </a:lnTo>
                <a:lnTo>
                  <a:pt x="666" y="829"/>
                </a:lnTo>
                <a:lnTo>
                  <a:pt x="674" y="809"/>
                </a:lnTo>
                <a:lnTo>
                  <a:pt x="680" y="789"/>
                </a:lnTo>
                <a:lnTo>
                  <a:pt x="687" y="768"/>
                </a:lnTo>
                <a:lnTo>
                  <a:pt x="691" y="749"/>
                </a:lnTo>
                <a:lnTo>
                  <a:pt x="694" y="729"/>
                </a:lnTo>
                <a:lnTo>
                  <a:pt x="699" y="709"/>
                </a:lnTo>
                <a:lnTo>
                  <a:pt x="702" y="689"/>
                </a:lnTo>
                <a:lnTo>
                  <a:pt x="703" y="668"/>
                </a:lnTo>
                <a:lnTo>
                  <a:pt x="705" y="648"/>
                </a:lnTo>
                <a:lnTo>
                  <a:pt x="705" y="627"/>
                </a:lnTo>
                <a:lnTo>
                  <a:pt x="705" y="608"/>
                </a:lnTo>
                <a:lnTo>
                  <a:pt x="704" y="588"/>
                </a:lnTo>
                <a:lnTo>
                  <a:pt x="702" y="568"/>
                </a:lnTo>
                <a:lnTo>
                  <a:pt x="700" y="547"/>
                </a:lnTo>
                <a:lnTo>
                  <a:pt x="697" y="528"/>
                </a:lnTo>
                <a:lnTo>
                  <a:pt x="694" y="508"/>
                </a:lnTo>
                <a:lnTo>
                  <a:pt x="691" y="487"/>
                </a:lnTo>
                <a:lnTo>
                  <a:pt x="685" y="469"/>
                </a:lnTo>
                <a:lnTo>
                  <a:pt x="679" y="447"/>
                </a:lnTo>
                <a:lnTo>
                  <a:pt x="672" y="427"/>
                </a:lnTo>
                <a:lnTo>
                  <a:pt x="665" y="409"/>
                </a:lnTo>
                <a:lnTo>
                  <a:pt x="658" y="389"/>
                </a:lnTo>
                <a:lnTo>
                  <a:pt x="648" y="371"/>
                </a:lnTo>
                <a:lnTo>
                  <a:pt x="640" y="352"/>
                </a:lnTo>
                <a:lnTo>
                  <a:pt x="625" y="329"/>
                </a:lnTo>
                <a:lnTo>
                  <a:pt x="615" y="312"/>
                </a:lnTo>
                <a:lnTo>
                  <a:pt x="600" y="292"/>
                </a:lnTo>
                <a:lnTo>
                  <a:pt x="586" y="277"/>
                </a:lnTo>
                <a:lnTo>
                  <a:pt x="567" y="259"/>
                </a:lnTo>
                <a:lnTo>
                  <a:pt x="545" y="242"/>
                </a:lnTo>
                <a:lnTo>
                  <a:pt x="525" y="227"/>
                </a:lnTo>
                <a:lnTo>
                  <a:pt x="504" y="212"/>
                </a:lnTo>
                <a:lnTo>
                  <a:pt x="480" y="197"/>
                </a:lnTo>
                <a:lnTo>
                  <a:pt x="460" y="182"/>
                </a:lnTo>
                <a:lnTo>
                  <a:pt x="435" y="169"/>
                </a:lnTo>
                <a:lnTo>
                  <a:pt x="412" y="155"/>
                </a:lnTo>
                <a:lnTo>
                  <a:pt x="388" y="142"/>
                </a:lnTo>
                <a:lnTo>
                  <a:pt x="357" y="125"/>
                </a:lnTo>
                <a:lnTo>
                  <a:pt x="338" y="115"/>
                </a:lnTo>
                <a:lnTo>
                  <a:pt x="314" y="103"/>
                </a:lnTo>
                <a:lnTo>
                  <a:pt x="289" y="94"/>
                </a:lnTo>
                <a:lnTo>
                  <a:pt x="263" y="83"/>
                </a:lnTo>
                <a:lnTo>
                  <a:pt x="238" y="73"/>
                </a:lnTo>
                <a:lnTo>
                  <a:pt x="212" y="62"/>
                </a:lnTo>
                <a:lnTo>
                  <a:pt x="184" y="52"/>
                </a:lnTo>
                <a:lnTo>
                  <a:pt x="157" y="44"/>
                </a:lnTo>
                <a:lnTo>
                  <a:pt x="129" y="36"/>
                </a:lnTo>
                <a:lnTo>
                  <a:pt x="103" y="27"/>
                </a:lnTo>
                <a:lnTo>
                  <a:pt x="74" y="20"/>
                </a:lnTo>
                <a:lnTo>
                  <a:pt x="48" y="13"/>
                </a:lnTo>
                <a:lnTo>
                  <a:pt x="17" y="4"/>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sp>
        <p:nvSpPr>
          <p:cNvPr id="14358" name="Freeform 14357"/>
          <p:cNvSpPr/>
          <p:nvPr/>
        </p:nvSpPr>
        <p:spPr>
          <a:xfrm>
            <a:off x="3870325" y="4303713"/>
            <a:ext cx="1228725" cy="1635125"/>
          </a:xfrm>
          <a:custGeom>
            <a:avLst/>
            <a:gdLst/>
            <a:ahLst/>
            <a:cxnLst/>
            <a:rect l="0" t="0" r="0" b="0"/>
            <a:pathLst>
              <a:path w="774" h="1030">
                <a:moveTo>
                  <a:pt x="491" y="1029"/>
                </a:moveTo>
                <a:lnTo>
                  <a:pt x="513" y="1013"/>
                </a:lnTo>
                <a:lnTo>
                  <a:pt x="528" y="999"/>
                </a:lnTo>
                <a:lnTo>
                  <a:pt x="544" y="985"/>
                </a:lnTo>
                <a:lnTo>
                  <a:pt x="560" y="971"/>
                </a:lnTo>
                <a:lnTo>
                  <a:pt x="577" y="956"/>
                </a:lnTo>
                <a:lnTo>
                  <a:pt x="592" y="942"/>
                </a:lnTo>
                <a:lnTo>
                  <a:pt x="607" y="925"/>
                </a:lnTo>
                <a:lnTo>
                  <a:pt x="621" y="911"/>
                </a:lnTo>
                <a:lnTo>
                  <a:pt x="636" y="895"/>
                </a:lnTo>
                <a:lnTo>
                  <a:pt x="649" y="878"/>
                </a:lnTo>
                <a:lnTo>
                  <a:pt x="661" y="862"/>
                </a:lnTo>
                <a:lnTo>
                  <a:pt x="673" y="845"/>
                </a:lnTo>
                <a:lnTo>
                  <a:pt x="685" y="829"/>
                </a:lnTo>
                <a:lnTo>
                  <a:pt x="695" y="811"/>
                </a:lnTo>
                <a:lnTo>
                  <a:pt x="706" y="795"/>
                </a:lnTo>
                <a:lnTo>
                  <a:pt x="715" y="777"/>
                </a:lnTo>
                <a:lnTo>
                  <a:pt x="722" y="759"/>
                </a:lnTo>
                <a:lnTo>
                  <a:pt x="731" y="741"/>
                </a:lnTo>
                <a:lnTo>
                  <a:pt x="738" y="723"/>
                </a:lnTo>
                <a:lnTo>
                  <a:pt x="745" y="705"/>
                </a:lnTo>
                <a:lnTo>
                  <a:pt x="750" y="686"/>
                </a:lnTo>
                <a:lnTo>
                  <a:pt x="756" y="668"/>
                </a:lnTo>
                <a:lnTo>
                  <a:pt x="761" y="648"/>
                </a:lnTo>
                <a:lnTo>
                  <a:pt x="764" y="629"/>
                </a:lnTo>
                <a:lnTo>
                  <a:pt x="767" y="610"/>
                </a:lnTo>
                <a:lnTo>
                  <a:pt x="769" y="592"/>
                </a:lnTo>
                <a:lnTo>
                  <a:pt x="771" y="574"/>
                </a:lnTo>
                <a:lnTo>
                  <a:pt x="773" y="553"/>
                </a:lnTo>
                <a:lnTo>
                  <a:pt x="773" y="536"/>
                </a:lnTo>
                <a:lnTo>
                  <a:pt x="773" y="516"/>
                </a:lnTo>
                <a:lnTo>
                  <a:pt x="771" y="497"/>
                </a:lnTo>
                <a:lnTo>
                  <a:pt x="769" y="478"/>
                </a:lnTo>
                <a:lnTo>
                  <a:pt x="767" y="460"/>
                </a:lnTo>
                <a:lnTo>
                  <a:pt x="764" y="440"/>
                </a:lnTo>
                <a:lnTo>
                  <a:pt x="761" y="422"/>
                </a:lnTo>
                <a:lnTo>
                  <a:pt x="756" y="403"/>
                </a:lnTo>
                <a:lnTo>
                  <a:pt x="750" y="385"/>
                </a:lnTo>
                <a:lnTo>
                  <a:pt x="743" y="367"/>
                </a:lnTo>
                <a:lnTo>
                  <a:pt x="722" y="335"/>
                </a:lnTo>
                <a:lnTo>
                  <a:pt x="707" y="316"/>
                </a:lnTo>
                <a:lnTo>
                  <a:pt x="692" y="298"/>
                </a:lnTo>
                <a:lnTo>
                  <a:pt x="672" y="279"/>
                </a:lnTo>
                <a:lnTo>
                  <a:pt x="652" y="262"/>
                </a:lnTo>
                <a:lnTo>
                  <a:pt x="632" y="245"/>
                </a:lnTo>
                <a:lnTo>
                  <a:pt x="611" y="231"/>
                </a:lnTo>
                <a:lnTo>
                  <a:pt x="592" y="218"/>
                </a:lnTo>
                <a:lnTo>
                  <a:pt x="575" y="208"/>
                </a:lnTo>
                <a:lnTo>
                  <a:pt x="554" y="194"/>
                </a:lnTo>
                <a:lnTo>
                  <a:pt x="532" y="180"/>
                </a:lnTo>
                <a:lnTo>
                  <a:pt x="512" y="168"/>
                </a:lnTo>
                <a:lnTo>
                  <a:pt x="488" y="155"/>
                </a:lnTo>
                <a:lnTo>
                  <a:pt x="468" y="142"/>
                </a:lnTo>
                <a:lnTo>
                  <a:pt x="443" y="130"/>
                </a:lnTo>
                <a:lnTo>
                  <a:pt x="419" y="120"/>
                </a:lnTo>
                <a:lnTo>
                  <a:pt x="386" y="107"/>
                </a:lnTo>
                <a:lnTo>
                  <a:pt x="360" y="97"/>
                </a:lnTo>
                <a:lnTo>
                  <a:pt x="329" y="87"/>
                </a:lnTo>
                <a:lnTo>
                  <a:pt x="302" y="78"/>
                </a:lnTo>
                <a:lnTo>
                  <a:pt x="275" y="68"/>
                </a:lnTo>
                <a:lnTo>
                  <a:pt x="246" y="60"/>
                </a:lnTo>
                <a:lnTo>
                  <a:pt x="224" y="53"/>
                </a:lnTo>
                <a:lnTo>
                  <a:pt x="195" y="44"/>
                </a:lnTo>
                <a:lnTo>
                  <a:pt x="174" y="39"/>
                </a:lnTo>
                <a:lnTo>
                  <a:pt x="148" y="31"/>
                </a:lnTo>
                <a:lnTo>
                  <a:pt x="118" y="25"/>
                </a:lnTo>
                <a:lnTo>
                  <a:pt x="72" y="14"/>
                </a:lnTo>
                <a:lnTo>
                  <a:pt x="50" y="11"/>
                </a:lnTo>
                <a:lnTo>
                  <a:pt x="0" y="0"/>
                </a:lnTo>
              </a:path>
            </a:pathLst>
          </a:custGeom>
          <a:noFill/>
          <a:ln w="12700" cap="rnd" cmpd="sng">
            <a:solidFill>
              <a:srgbClr val="618FFD"/>
            </a:solidFill>
            <a:prstDash val="solid"/>
            <a:round/>
            <a:headEnd type="none" w="sm" len="sm"/>
            <a:tailEnd type="none" w="sm" len="sm"/>
          </a:ln>
          <a:effectLst/>
        </p:spPr>
        <p:txBody>
          <a:bodyPr/>
          <a:lstStyle/>
          <a:p>
            <a:endParaRPr lang="en-US"/>
          </a:p>
        </p:txBody>
      </p:sp>
      <p:cxnSp>
        <p:nvCxnSpPr>
          <p:cNvPr id="14359" name="Straight Connector 14358"/>
          <p:cNvCxnSpPr/>
          <p:nvPr/>
        </p:nvCxnSpPr>
        <p:spPr>
          <a:xfrm>
            <a:off x="1484313" y="4302125"/>
            <a:ext cx="458787" cy="0"/>
          </a:xfrm>
          <a:prstGeom prst="line">
            <a:avLst/>
          </a:prstGeom>
          <a:noFill/>
          <a:ln w="12700">
            <a:solidFill>
              <a:srgbClr val="618FFD"/>
            </a:solidFill>
            <a:miter lim="800000"/>
          </a:ln>
          <a:effectLst/>
        </p:spPr>
      </p:cxnSp>
      <p:cxnSp>
        <p:nvCxnSpPr>
          <p:cNvPr id="14360" name="Straight Connector 14359"/>
          <p:cNvCxnSpPr/>
          <p:nvPr/>
        </p:nvCxnSpPr>
        <p:spPr>
          <a:xfrm>
            <a:off x="3216275" y="4303713"/>
            <a:ext cx="731838" cy="0"/>
          </a:xfrm>
          <a:prstGeom prst="line">
            <a:avLst/>
          </a:prstGeom>
          <a:noFill/>
          <a:ln w="12700">
            <a:solidFill>
              <a:srgbClr val="618FFD"/>
            </a:solidFill>
            <a:miter lim="800000"/>
          </a:ln>
          <a:effectLst/>
        </p:spPr>
      </p:cxnSp>
      <p:cxnSp>
        <p:nvCxnSpPr>
          <p:cNvPr id="14361" name="Straight Connector 14360"/>
          <p:cNvCxnSpPr/>
          <p:nvPr/>
        </p:nvCxnSpPr>
        <p:spPr>
          <a:xfrm>
            <a:off x="1122363" y="4502150"/>
            <a:ext cx="1049337" cy="0"/>
          </a:xfrm>
          <a:prstGeom prst="line">
            <a:avLst/>
          </a:prstGeom>
          <a:noFill/>
          <a:ln w="12700">
            <a:solidFill>
              <a:srgbClr val="618FFD"/>
            </a:solidFill>
            <a:miter lim="800000"/>
          </a:ln>
          <a:effectLst/>
        </p:spPr>
      </p:cxnSp>
      <p:cxnSp>
        <p:nvCxnSpPr>
          <p:cNvPr id="14362" name="Straight Connector 14361"/>
          <p:cNvCxnSpPr/>
          <p:nvPr/>
        </p:nvCxnSpPr>
        <p:spPr>
          <a:xfrm>
            <a:off x="2760663" y="4502150"/>
            <a:ext cx="1952625" cy="0"/>
          </a:xfrm>
          <a:prstGeom prst="line">
            <a:avLst/>
          </a:prstGeom>
          <a:noFill/>
          <a:ln w="12700">
            <a:solidFill>
              <a:srgbClr val="618FFD"/>
            </a:solidFill>
            <a:miter lim="800000"/>
          </a:ln>
          <a:effectLst/>
        </p:spPr>
      </p:cxnSp>
      <p:cxnSp>
        <p:nvCxnSpPr>
          <p:cNvPr id="14363" name="Straight Connector 14362"/>
          <p:cNvCxnSpPr/>
          <p:nvPr/>
        </p:nvCxnSpPr>
        <p:spPr>
          <a:xfrm>
            <a:off x="965200" y="4678363"/>
            <a:ext cx="1352550" cy="0"/>
          </a:xfrm>
          <a:prstGeom prst="line">
            <a:avLst/>
          </a:prstGeom>
          <a:noFill/>
          <a:ln w="12700">
            <a:solidFill>
              <a:srgbClr val="618FFD"/>
            </a:solidFill>
            <a:miter lim="800000"/>
          </a:ln>
          <a:effectLst/>
        </p:spPr>
      </p:cxnSp>
      <p:cxnSp>
        <p:nvCxnSpPr>
          <p:cNvPr id="14364" name="Straight Connector 14363"/>
          <p:cNvCxnSpPr/>
          <p:nvPr/>
        </p:nvCxnSpPr>
        <p:spPr>
          <a:xfrm flipV="1">
            <a:off x="2613025" y="4676775"/>
            <a:ext cx="2498725" cy="1588"/>
          </a:xfrm>
          <a:prstGeom prst="line">
            <a:avLst/>
          </a:prstGeom>
          <a:noFill/>
          <a:ln w="12700">
            <a:solidFill>
              <a:srgbClr val="618FFD"/>
            </a:solidFill>
            <a:miter lim="800000"/>
          </a:ln>
          <a:effectLst/>
        </p:spPr>
      </p:cxnSp>
      <p:cxnSp>
        <p:nvCxnSpPr>
          <p:cNvPr id="14365" name="Straight Connector 14364"/>
          <p:cNvCxnSpPr/>
          <p:nvPr/>
        </p:nvCxnSpPr>
        <p:spPr>
          <a:xfrm>
            <a:off x="874713" y="4856163"/>
            <a:ext cx="1524000" cy="0"/>
          </a:xfrm>
          <a:prstGeom prst="line">
            <a:avLst/>
          </a:prstGeom>
          <a:noFill/>
          <a:ln w="12700">
            <a:solidFill>
              <a:srgbClr val="618FFD"/>
            </a:solidFill>
            <a:miter lim="800000"/>
          </a:ln>
          <a:effectLst/>
        </p:spPr>
      </p:cxnSp>
      <p:cxnSp>
        <p:nvCxnSpPr>
          <p:cNvPr id="14366" name="Straight Connector 14365"/>
          <p:cNvCxnSpPr/>
          <p:nvPr/>
        </p:nvCxnSpPr>
        <p:spPr>
          <a:xfrm flipV="1">
            <a:off x="2509838" y="4854575"/>
            <a:ext cx="2809875" cy="1588"/>
          </a:xfrm>
          <a:prstGeom prst="line">
            <a:avLst/>
          </a:prstGeom>
          <a:noFill/>
          <a:ln w="12700">
            <a:solidFill>
              <a:srgbClr val="618FFD"/>
            </a:solidFill>
            <a:miter lim="800000"/>
          </a:ln>
          <a:effectLst/>
        </p:spPr>
      </p:cxnSp>
      <p:cxnSp>
        <p:nvCxnSpPr>
          <p:cNvPr id="14367" name="Straight Connector 14366"/>
          <p:cNvCxnSpPr/>
          <p:nvPr/>
        </p:nvCxnSpPr>
        <p:spPr>
          <a:xfrm>
            <a:off x="844550" y="5065713"/>
            <a:ext cx="4502150" cy="0"/>
          </a:xfrm>
          <a:prstGeom prst="line">
            <a:avLst/>
          </a:prstGeom>
          <a:noFill/>
          <a:ln w="12700">
            <a:solidFill>
              <a:srgbClr val="618FFD"/>
            </a:solidFill>
            <a:miter lim="800000"/>
          </a:ln>
          <a:effectLst/>
        </p:spPr>
      </p:cxnSp>
      <p:cxnSp>
        <p:nvCxnSpPr>
          <p:cNvPr id="14368" name="Straight Connector 14367"/>
          <p:cNvCxnSpPr/>
          <p:nvPr/>
        </p:nvCxnSpPr>
        <p:spPr>
          <a:xfrm>
            <a:off x="849313" y="5265738"/>
            <a:ext cx="866775" cy="0"/>
          </a:xfrm>
          <a:prstGeom prst="line">
            <a:avLst/>
          </a:prstGeom>
          <a:noFill/>
          <a:ln w="12700">
            <a:solidFill>
              <a:srgbClr val="618FFD"/>
            </a:solidFill>
            <a:miter lim="800000"/>
          </a:ln>
          <a:effectLst/>
        </p:spPr>
      </p:cxnSp>
      <p:cxnSp>
        <p:nvCxnSpPr>
          <p:cNvPr id="14369" name="Straight Connector 14368"/>
          <p:cNvCxnSpPr/>
          <p:nvPr/>
        </p:nvCxnSpPr>
        <p:spPr>
          <a:xfrm>
            <a:off x="1738313" y="5265738"/>
            <a:ext cx="876300" cy="0"/>
          </a:xfrm>
          <a:prstGeom prst="line">
            <a:avLst/>
          </a:prstGeom>
          <a:noFill/>
          <a:ln w="12700">
            <a:solidFill>
              <a:srgbClr val="618FFD"/>
            </a:solidFill>
            <a:miter lim="800000"/>
          </a:ln>
          <a:effectLst/>
        </p:spPr>
      </p:cxnSp>
      <p:cxnSp>
        <p:nvCxnSpPr>
          <p:cNvPr id="14370" name="Straight Connector 14369"/>
          <p:cNvCxnSpPr/>
          <p:nvPr/>
        </p:nvCxnSpPr>
        <p:spPr>
          <a:xfrm>
            <a:off x="2627313" y="5265738"/>
            <a:ext cx="1190625" cy="0"/>
          </a:xfrm>
          <a:prstGeom prst="line">
            <a:avLst/>
          </a:prstGeom>
          <a:noFill/>
          <a:ln w="12700">
            <a:solidFill>
              <a:srgbClr val="618FFD"/>
            </a:solidFill>
            <a:miter lim="800000"/>
          </a:ln>
          <a:effectLst/>
        </p:spPr>
      </p:cxnSp>
      <p:cxnSp>
        <p:nvCxnSpPr>
          <p:cNvPr id="14371" name="Straight Connector 14370"/>
          <p:cNvCxnSpPr/>
          <p:nvPr/>
        </p:nvCxnSpPr>
        <p:spPr>
          <a:xfrm>
            <a:off x="3913188" y="5265738"/>
            <a:ext cx="1384300" cy="0"/>
          </a:xfrm>
          <a:prstGeom prst="line">
            <a:avLst/>
          </a:prstGeom>
          <a:noFill/>
          <a:ln w="12700">
            <a:solidFill>
              <a:srgbClr val="618FFD"/>
            </a:solidFill>
            <a:miter lim="800000"/>
          </a:ln>
          <a:effectLst/>
        </p:spPr>
      </p:cxnSp>
      <p:cxnSp>
        <p:nvCxnSpPr>
          <p:cNvPr id="14372" name="Straight Connector 14371"/>
          <p:cNvCxnSpPr/>
          <p:nvPr/>
        </p:nvCxnSpPr>
        <p:spPr>
          <a:xfrm>
            <a:off x="876300" y="5480050"/>
            <a:ext cx="755650" cy="0"/>
          </a:xfrm>
          <a:prstGeom prst="line">
            <a:avLst/>
          </a:prstGeom>
          <a:noFill/>
          <a:ln w="12700">
            <a:solidFill>
              <a:srgbClr val="618FFD"/>
            </a:solidFill>
            <a:miter lim="800000"/>
          </a:ln>
          <a:effectLst/>
        </p:spPr>
      </p:cxnSp>
      <p:cxnSp>
        <p:nvCxnSpPr>
          <p:cNvPr id="14373" name="Straight Connector 14372"/>
          <p:cNvCxnSpPr/>
          <p:nvPr/>
        </p:nvCxnSpPr>
        <p:spPr>
          <a:xfrm>
            <a:off x="1819275" y="5480050"/>
            <a:ext cx="763588" cy="0"/>
          </a:xfrm>
          <a:prstGeom prst="line">
            <a:avLst/>
          </a:prstGeom>
          <a:noFill/>
          <a:ln w="12700">
            <a:solidFill>
              <a:srgbClr val="618FFD"/>
            </a:solidFill>
            <a:miter lim="800000"/>
          </a:ln>
          <a:effectLst/>
        </p:spPr>
      </p:cxnSp>
      <p:cxnSp>
        <p:nvCxnSpPr>
          <p:cNvPr id="14374" name="Straight Connector 14373"/>
          <p:cNvCxnSpPr/>
          <p:nvPr/>
        </p:nvCxnSpPr>
        <p:spPr>
          <a:xfrm>
            <a:off x="2700338" y="5480050"/>
            <a:ext cx="1042987" cy="0"/>
          </a:xfrm>
          <a:prstGeom prst="line">
            <a:avLst/>
          </a:prstGeom>
          <a:noFill/>
          <a:ln w="12700">
            <a:solidFill>
              <a:srgbClr val="618FFD"/>
            </a:solidFill>
            <a:miter lim="800000"/>
          </a:ln>
          <a:effectLst/>
        </p:spPr>
      </p:cxnSp>
      <p:cxnSp>
        <p:nvCxnSpPr>
          <p:cNvPr id="14375" name="Straight Connector 14374"/>
          <p:cNvCxnSpPr/>
          <p:nvPr/>
        </p:nvCxnSpPr>
        <p:spPr>
          <a:xfrm>
            <a:off x="4035425" y="5480050"/>
            <a:ext cx="1150938" cy="0"/>
          </a:xfrm>
          <a:prstGeom prst="line">
            <a:avLst/>
          </a:prstGeom>
          <a:noFill/>
          <a:ln w="12700">
            <a:solidFill>
              <a:srgbClr val="618FFD"/>
            </a:solidFill>
            <a:miter lim="800000"/>
          </a:ln>
          <a:effectLst/>
        </p:spPr>
      </p:cxnSp>
      <p:cxnSp>
        <p:nvCxnSpPr>
          <p:cNvPr id="14376" name="Straight Connector 14375"/>
          <p:cNvCxnSpPr/>
          <p:nvPr/>
        </p:nvCxnSpPr>
        <p:spPr>
          <a:xfrm>
            <a:off x="939800" y="5665788"/>
            <a:ext cx="554038" cy="1587"/>
          </a:xfrm>
          <a:prstGeom prst="line">
            <a:avLst/>
          </a:prstGeom>
          <a:noFill/>
          <a:ln w="12700">
            <a:solidFill>
              <a:srgbClr val="618FFD"/>
            </a:solidFill>
            <a:miter lim="800000"/>
          </a:ln>
          <a:effectLst/>
        </p:spPr>
      </p:cxnSp>
      <p:cxnSp>
        <p:nvCxnSpPr>
          <p:cNvPr id="14377" name="Straight Connector 14376"/>
          <p:cNvCxnSpPr/>
          <p:nvPr/>
        </p:nvCxnSpPr>
        <p:spPr>
          <a:xfrm>
            <a:off x="1955800" y="5664200"/>
            <a:ext cx="566738" cy="0"/>
          </a:xfrm>
          <a:prstGeom prst="line">
            <a:avLst/>
          </a:prstGeom>
          <a:noFill/>
          <a:ln w="12700">
            <a:solidFill>
              <a:srgbClr val="618FFD"/>
            </a:solidFill>
            <a:miter lim="800000"/>
          </a:ln>
          <a:effectLst/>
        </p:spPr>
      </p:cxnSp>
      <p:cxnSp>
        <p:nvCxnSpPr>
          <p:cNvPr id="14378" name="Straight Connector 14377"/>
          <p:cNvCxnSpPr/>
          <p:nvPr/>
        </p:nvCxnSpPr>
        <p:spPr>
          <a:xfrm flipV="1">
            <a:off x="2824163" y="5664200"/>
            <a:ext cx="781050" cy="1588"/>
          </a:xfrm>
          <a:prstGeom prst="line">
            <a:avLst/>
          </a:prstGeom>
          <a:noFill/>
          <a:ln w="12700">
            <a:solidFill>
              <a:srgbClr val="618FFD"/>
            </a:solidFill>
            <a:miter lim="800000"/>
          </a:ln>
          <a:effectLst/>
        </p:spPr>
      </p:cxnSp>
      <p:cxnSp>
        <p:nvCxnSpPr>
          <p:cNvPr id="14379" name="Straight Connector 14378"/>
          <p:cNvCxnSpPr/>
          <p:nvPr/>
        </p:nvCxnSpPr>
        <p:spPr>
          <a:xfrm>
            <a:off x="4202113" y="5664200"/>
            <a:ext cx="836612" cy="0"/>
          </a:xfrm>
          <a:prstGeom prst="line">
            <a:avLst/>
          </a:prstGeom>
          <a:noFill/>
          <a:ln w="12700">
            <a:solidFill>
              <a:srgbClr val="618FFD"/>
            </a:solidFill>
            <a:miter lim="800000"/>
          </a:ln>
          <a:effectLst/>
        </p:spPr>
      </p:cxnSp>
      <p:sp>
        <p:nvSpPr>
          <p:cNvPr id="14380" name="Freeform 14379"/>
          <p:cNvSpPr/>
          <p:nvPr/>
        </p:nvSpPr>
        <p:spPr>
          <a:xfrm>
            <a:off x="1033463" y="5746750"/>
            <a:ext cx="314325" cy="187325"/>
          </a:xfrm>
          <a:custGeom>
            <a:avLst/>
            <a:gdLst/>
            <a:ahLst/>
            <a:cxnLst/>
            <a:rect l="0" t="0" r="0" b="0"/>
            <a:pathLst>
              <a:path w="198" h="118">
                <a:moveTo>
                  <a:pt x="169" y="0"/>
                </a:moveTo>
                <a:lnTo>
                  <a:pt x="116" y="23"/>
                </a:lnTo>
                <a:lnTo>
                  <a:pt x="110" y="7"/>
                </a:lnTo>
                <a:lnTo>
                  <a:pt x="65" y="37"/>
                </a:lnTo>
                <a:lnTo>
                  <a:pt x="27" y="44"/>
                </a:lnTo>
                <a:lnTo>
                  <a:pt x="35" y="59"/>
                </a:lnTo>
                <a:lnTo>
                  <a:pt x="19" y="66"/>
                </a:lnTo>
                <a:lnTo>
                  <a:pt x="0" y="66"/>
                </a:lnTo>
                <a:lnTo>
                  <a:pt x="31" y="117"/>
                </a:lnTo>
                <a:lnTo>
                  <a:pt x="125" y="74"/>
                </a:lnTo>
                <a:lnTo>
                  <a:pt x="197" y="29"/>
                </a:lnTo>
                <a:lnTo>
                  <a:pt x="169" y="0"/>
                </a:lnTo>
              </a:path>
            </a:pathLst>
          </a:custGeom>
          <a:solidFill>
            <a:srgbClr val="000000"/>
          </a:solidFill>
          <a:ln w="12700" cap="rnd" cmpd="sng">
            <a:solidFill>
              <a:srgbClr val="618FFD"/>
            </a:solidFill>
            <a:prstDash val="solid"/>
            <a:round/>
          </a:ln>
          <a:effectLst/>
        </p:spPr>
        <p:txBody>
          <a:bodyPr/>
          <a:lstStyle/>
          <a:p>
            <a:endParaRPr lang="en-US"/>
          </a:p>
        </p:txBody>
      </p:sp>
      <p:sp>
        <p:nvSpPr>
          <p:cNvPr id="14381" name="Freeform 14380"/>
          <p:cNvSpPr/>
          <p:nvPr/>
        </p:nvSpPr>
        <p:spPr>
          <a:xfrm>
            <a:off x="2119313" y="5700713"/>
            <a:ext cx="323850" cy="231775"/>
          </a:xfrm>
          <a:custGeom>
            <a:avLst/>
            <a:gdLst/>
            <a:ahLst/>
            <a:cxnLst/>
            <a:rect l="0" t="0" r="0" b="0"/>
            <a:pathLst>
              <a:path w="204" h="146">
                <a:moveTo>
                  <a:pt x="0" y="63"/>
                </a:moveTo>
                <a:lnTo>
                  <a:pt x="16" y="41"/>
                </a:lnTo>
                <a:lnTo>
                  <a:pt x="46" y="57"/>
                </a:lnTo>
                <a:lnTo>
                  <a:pt x="95" y="0"/>
                </a:lnTo>
                <a:lnTo>
                  <a:pt x="125" y="71"/>
                </a:lnTo>
                <a:lnTo>
                  <a:pt x="203" y="77"/>
                </a:lnTo>
                <a:lnTo>
                  <a:pt x="157" y="145"/>
                </a:lnTo>
                <a:lnTo>
                  <a:pt x="61" y="100"/>
                </a:lnTo>
                <a:lnTo>
                  <a:pt x="0" y="63"/>
                </a:lnTo>
              </a:path>
            </a:pathLst>
          </a:custGeom>
          <a:solidFill>
            <a:srgbClr val="000000"/>
          </a:solidFill>
          <a:ln w="12700" cap="rnd" cmpd="sng">
            <a:solidFill>
              <a:srgbClr val="618FFD"/>
            </a:solidFill>
            <a:prstDash val="solid"/>
            <a:round/>
          </a:ln>
          <a:effectLst/>
        </p:spPr>
        <p:txBody>
          <a:bodyPr/>
          <a:lstStyle/>
          <a:p>
            <a:endParaRPr lang="en-US"/>
          </a:p>
        </p:txBody>
      </p:sp>
      <p:sp>
        <p:nvSpPr>
          <p:cNvPr id="14382" name="Freeform 14381"/>
          <p:cNvSpPr/>
          <p:nvPr/>
        </p:nvSpPr>
        <p:spPr>
          <a:xfrm>
            <a:off x="2963863" y="5738813"/>
            <a:ext cx="557212" cy="201612"/>
          </a:xfrm>
          <a:custGeom>
            <a:avLst/>
            <a:gdLst/>
            <a:ahLst/>
            <a:cxnLst/>
            <a:rect l="0" t="0" r="0" b="0"/>
            <a:pathLst>
              <a:path w="351" h="127">
                <a:moveTo>
                  <a:pt x="0" y="36"/>
                </a:moveTo>
                <a:lnTo>
                  <a:pt x="82" y="87"/>
                </a:lnTo>
                <a:lnTo>
                  <a:pt x="162" y="126"/>
                </a:lnTo>
                <a:lnTo>
                  <a:pt x="272" y="65"/>
                </a:lnTo>
                <a:lnTo>
                  <a:pt x="350" y="5"/>
                </a:lnTo>
                <a:lnTo>
                  <a:pt x="254" y="0"/>
                </a:lnTo>
                <a:lnTo>
                  <a:pt x="269" y="15"/>
                </a:lnTo>
                <a:lnTo>
                  <a:pt x="157" y="36"/>
                </a:lnTo>
                <a:lnTo>
                  <a:pt x="0" y="36"/>
                </a:lnTo>
              </a:path>
            </a:pathLst>
          </a:custGeom>
          <a:solidFill>
            <a:srgbClr val="000000"/>
          </a:solidFill>
          <a:ln w="12700" cap="rnd" cmpd="sng">
            <a:solidFill>
              <a:srgbClr val="618FFD"/>
            </a:solidFill>
            <a:prstDash val="solid"/>
            <a:round/>
          </a:ln>
          <a:effectLst/>
        </p:spPr>
        <p:txBody>
          <a:bodyPr/>
          <a:lstStyle/>
          <a:p>
            <a:endParaRPr lang="en-US"/>
          </a:p>
        </p:txBody>
      </p:sp>
      <p:sp>
        <p:nvSpPr>
          <p:cNvPr id="14383" name="Freeform 14382"/>
          <p:cNvSpPr/>
          <p:nvPr/>
        </p:nvSpPr>
        <p:spPr>
          <a:xfrm>
            <a:off x="4319588" y="5727700"/>
            <a:ext cx="538162" cy="212725"/>
          </a:xfrm>
          <a:custGeom>
            <a:avLst/>
            <a:gdLst/>
            <a:ahLst/>
            <a:cxnLst/>
            <a:rect l="0" t="0" r="0" b="0"/>
            <a:pathLst>
              <a:path w="339" h="134">
                <a:moveTo>
                  <a:pt x="0" y="22"/>
                </a:moveTo>
                <a:lnTo>
                  <a:pt x="74" y="69"/>
                </a:lnTo>
                <a:lnTo>
                  <a:pt x="145" y="105"/>
                </a:lnTo>
                <a:lnTo>
                  <a:pt x="208" y="133"/>
                </a:lnTo>
                <a:lnTo>
                  <a:pt x="261" y="105"/>
                </a:lnTo>
                <a:lnTo>
                  <a:pt x="338" y="58"/>
                </a:lnTo>
                <a:lnTo>
                  <a:pt x="268" y="65"/>
                </a:lnTo>
                <a:lnTo>
                  <a:pt x="238" y="43"/>
                </a:lnTo>
                <a:lnTo>
                  <a:pt x="297" y="22"/>
                </a:lnTo>
                <a:lnTo>
                  <a:pt x="254" y="7"/>
                </a:lnTo>
                <a:lnTo>
                  <a:pt x="36" y="0"/>
                </a:lnTo>
                <a:lnTo>
                  <a:pt x="0" y="22"/>
                </a:lnTo>
              </a:path>
            </a:pathLst>
          </a:custGeom>
          <a:solidFill>
            <a:srgbClr val="000000"/>
          </a:solidFill>
          <a:ln w="12700" cap="rnd" cmpd="sng">
            <a:solidFill>
              <a:srgbClr val="618FFD"/>
            </a:solidFill>
            <a:prstDash val="solid"/>
            <a:round/>
          </a:ln>
          <a:effectLst/>
        </p:spPr>
        <p:txBody>
          <a:bodyPr/>
          <a:lstStyle/>
          <a:p>
            <a:endParaRPr lang="en-US"/>
          </a:p>
        </p:txBody>
      </p:sp>
      <p:sp>
        <p:nvSpPr>
          <p:cNvPr id="14384" name="Freeform 14383"/>
          <p:cNvSpPr/>
          <p:nvPr/>
        </p:nvSpPr>
        <p:spPr>
          <a:xfrm>
            <a:off x="1247775" y="4402138"/>
            <a:ext cx="1301750" cy="1235075"/>
          </a:xfrm>
          <a:custGeom>
            <a:avLst/>
            <a:gdLst/>
            <a:ahLst/>
            <a:cxnLst/>
            <a:rect l="0" t="0" r="0" b="0"/>
            <a:pathLst>
              <a:path w="820" h="778">
                <a:moveTo>
                  <a:pt x="156" y="0"/>
                </a:moveTo>
                <a:lnTo>
                  <a:pt x="119" y="8"/>
                </a:lnTo>
                <a:lnTo>
                  <a:pt x="65" y="45"/>
                </a:lnTo>
                <a:lnTo>
                  <a:pt x="42" y="60"/>
                </a:lnTo>
                <a:lnTo>
                  <a:pt x="0" y="99"/>
                </a:lnTo>
                <a:lnTo>
                  <a:pt x="57" y="89"/>
                </a:lnTo>
                <a:lnTo>
                  <a:pt x="96" y="68"/>
                </a:lnTo>
                <a:lnTo>
                  <a:pt x="132" y="68"/>
                </a:lnTo>
                <a:lnTo>
                  <a:pt x="156" y="82"/>
                </a:lnTo>
                <a:lnTo>
                  <a:pt x="186" y="133"/>
                </a:lnTo>
                <a:lnTo>
                  <a:pt x="171" y="141"/>
                </a:lnTo>
                <a:lnTo>
                  <a:pt x="171" y="185"/>
                </a:lnTo>
                <a:lnTo>
                  <a:pt x="192" y="215"/>
                </a:lnTo>
                <a:lnTo>
                  <a:pt x="186" y="238"/>
                </a:lnTo>
                <a:lnTo>
                  <a:pt x="208" y="230"/>
                </a:lnTo>
                <a:lnTo>
                  <a:pt x="229" y="290"/>
                </a:lnTo>
                <a:lnTo>
                  <a:pt x="259" y="306"/>
                </a:lnTo>
                <a:lnTo>
                  <a:pt x="243" y="281"/>
                </a:lnTo>
                <a:lnTo>
                  <a:pt x="229" y="267"/>
                </a:lnTo>
                <a:lnTo>
                  <a:pt x="237" y="245"/>
                </a:lnTo>
                <a:lnTo>
                  <a:pt x="274" y="290"/>
                </a:lnTo>
                <a:lnTo>
                  <a:pt x="274" y="312"/>
                </a:lnTo>
                <a:lnTo>
                  <a:pt x="327" y="335"/>
                </a:lnTo>
                <a:lnTo>
                  <a:pt x="349" y="348"/>
                </a:lnTo>
                <a:lnTo>
                  <a:pt x="372" y="348"/>
                </a:lnTo>
                <a:lnTo>
                  <a:pt x="393" y="342"/>
                </a:lnTo>
                <a:lnTo>
                  <a:pt x="410" y="355"/>
                </a:lnTo>
                <a:lnTo>
                  <a:pt x="431" y="378"/>
                </a:lnTo>
                <a:lnTo>
                  <a:pt x="461" y="429"/>
                </a:lnTo>
                <a:lnTo>
                  <a:pt x="461" y="467"/>
                </a:lnTo>
                <a:lnTo>
                  <a:pt x="483" y="482"/>
                </a:lnTo>
                <a:lnTo>
                  <a:pt x="484" y="519"/>
                </a:lnTo>
                <a:lnTo>
                  <a:pt x="542" y="555"/>
                </a:lnTo>
                <a:lnTo>
                  <a:pt x="543" y="591"/>
                </a:lnTo>
                <a:lnTo>
                  <a:pt x="535" y="607"/>
                </a:lnTo>
                <a:lnTo>
                  <a:pt x="537" y="683"/>
                </a:lnTo>
                <a:lnTo>
                  <a:pt x="535" y="734"/>
                </a:lnTo>
                <a:lnTo>
                  <a:pt x="551" y="770"/>
                </a:lnTo>
                <a:lnTo>
                  <a:pt x="587" y="777"/>
                </a:lnTo>
                <a:lnTo>
                  <a:pt x="595" y="763"/>
                </a:lnTo>
                <a:lnTo>
                  <a:pt x="573" y="763"/>
                </a:lnTo>
                <a:lnTo>
                  <a:pt x="587" y="734"/>
                </a:lnTo>
                <a:lnTo>
                  <a:pt x="595" y="704"/>
                </a:lnTo>
                <a:lnTo>
                  <a:pt x="618" y="690"/>
                </a:lnTo>
                <a:lnTo>
                  <a:pt x="642" y="667"/>
                </a:lnTo>
                <a:lnTo>
                  <a:pt x="699" y="615"/>
                </a:lnTo>
                <a:lnTo>
                  <a:pt x="707" y="600"/>
                </a:lnTo>
                <a:lnTo>
                  <a:pt x="699" y="585"/>
                </a:lnTo>
                <a:lnTo>
                  <a:pt x="761" y="548"/>
                </a:lnTo>
                <a:lnTo>
                  <a:pt x="819" y="474"/>
                </a:lnTo>
                <a:lnTo>
                  <a:pt x="773" y="437"/>
                </a:lnTo>
                <a:lnTo>
                  <a:pt x="737" y="429"/>
                </a:lnTo>
                <a:lnTo>
                  <a:pt x="686" y="429"/>
                </a:lnTo>
                <a:lnTo>
                  <a:pt x="693" y="408"/>
                </a:lnTo>
                <a:lnTo>
                  <a:pt x="671" y="408"/>
                </a:lnTo>
                <a:lnTo>
                  <a:pt x="664" y="393"/>
                </a:lnTo>
                <a:lnTo>
                  <a:pt x="642" y="393"/>
                </a:lnTo>
                <a:lnTo>
                  <a:pt x="603" y="363"/>
                </a:lnTo>
                <a:lnTo>
                  <a:pt x="581" y="363"/>
                </a:lnTo>
                <a:lnTo>
                  <a:pt x="558" y="348"/>
                </a:lnTo>
                <a:lnTo>
                  <a:pt x="513" y="348"/>
                </a:lnTo>
                <a:lnTo>
                  <a:pt x="499" y="355"/>
                </a:lnTo>
                <a:lnTo>
                  <a:pt x="475" y="363"/>
                </a:lnTo>
                <a:lnTo>
                  <a:pt x="461" y="371"/>
                </a:lnTo>
                <a:lnTo>
                  <a:pt x="446" y="363"/>
                </a:lnTo>
                <a:lnTo>
                  <a:pt x="424" y="342"/>
                </a:lnTo>
                <a:lnTo>
                  <a:pt x="410" y="327"/>
                </a:lnTo>
                <a:lnTo>
                  <a:pt x="424" y="306"/>
                </a:lnTo>
                <a:lnTo>
                  <a:pt x="393" y="306"/>
                </a:lnTo>
                <a:lnTo>
                  <a:pt x="378" y="312"/>
                </a:lnTo>
                <a:lnTo>
                  <a:pt x="364" y="298"/>
                </a:lnTo>
                <a:lnTo>
                  <a:pt x="341" y="290"/>
                </a:lnTo>
                <a:lnTo>
                  <a:pt x="335" y="275"/>
                </a:lnTo>
                <a:lnTo>
                  <a:pt x="357" y="238"/>
                </a:lnTo>
                <a:lnTo>
                  <a:pt x="372" y="252"/>
                </a:lnTo>
                <a:lnTo>
                  <a:pt x="410" y="230"/>
                </a:lnTo>
                <a:lnTo>
                  <a:pt x="424" y="245"/>
                </a:lnTo>
                <a:lnTo>
                  <a:pt x="439" y="245"/>
                </a:lnTo>
                <a:lnTo>
                  <a:pt x="446" y="275"/>
                </a:lnTo>
                <a:lnTo>
                  <a:pt x="461" y="252"/>
                </a:lnTo>
                <a:lnTo>
                  <a:pt x="439" y="222"/>
                </a:lnTo>
                <a:lnTo>
                  <a:pt x="468" y="193"/>
                </a:lnTo>
                <a:lnTo>
                  <a:pt x="491" y="185"/>
                </a:lnTo>
                <a:lnTo>
                  <a:pt x="499" y="164"/>
                </a:lnTo>
                <a:lnTo>
                  <a:pt x="513" y="155"/>
                </a:lnTo>
                <a:lnTo>
                  <a:pt x="506" y="141"/>
                </a:lnTo>
                <a:lnTo>
                  <a:pt x="528" y="141"/>
                </a:lnTo>
                <a:lnTo>
                  <a:pt x="519" y="125"/>
                </a:lnTo>
                <a:lnTo>
                  <a:pt x="506" y="112"/>
                </a:lnTo>
                <a:lnTo>
                  <a:pt x="543" y="112"/>
                </a:lnTo>
                <a:lnTo>
                  <a:pt x="535" y="89"/>
                </a:lnTo>
                <a:lnTo>
                  <a:pt x="506" y="75"/>
                </a:lnTo>
                <a:lnTo>
                  <a:pt x="475" y="60"/>
                </a:lnTo>
                <a:lnTo>
                  <a:pt x="453" y="60"/>
                </a:lnTo>
                <a:lnTo>
                  <a:pt x="424" y="45"/>
                </a:lnTo>
                <a:lnTo>
                  <a:pt x="410" y="60"/>
                </a:lnTo>
                <a:lnTo>
                  <a:pt x="424" y="75"/>
                </a:lnTo>
                <a:lnTo>
                  <a:pt x="424" y="104"/>
                </a:lnTo>
                <a:lnTo>
                  <a:pt x="386" y="82"/>
                </a:lnTo>
                <a:lnTo>
                  <a:pt x="357" y="68"/>
                </a:lnTo>
                <a:lnTo>
                  <a:pt x="341" y="68"/>
                </a:lnTo>
                <a:lnTo>
                  <a:pt x="341" y="52"/>
                </a:lnTo>
                <a:lnTo>
                  <a:pt x="349" y="38"/>
                </a:lnTo>
                <a:lnTo>
                  <a:pt x="378" y="24"/>
                </a:lnTo>
                <a:lnTo>
                  <a:pt x="364" y="16"/>
                </a:lnTo>
                <a:lnTo>
                  <a:pt x="335" y="0"/>
                </a:lnTo>
                <a:lnTo>
                  <a:pt x="311" y="16"/>
                </a:lnTo>
                <a:lnTo>
                  <a:pt x="282" y="24"/>
                </a:lnTo>
                <a:lnTo>
                  <a:pt x="259" y="24"/>
                </a:lnTo>
                <a:lnTo>
                  <a:pt x="229" y="0"/>
                </a:lnTo>
                <a:lnTo>
                  <a:pt x="208" y="16"/>
                </a:lnTo>
                <a:lnTo>
                  <a:pt x="164" y="0"/>
                </a:lnTo>
                <a:lnTo>
                  <a:pt x="156" y="0"/>
                </a:lnTo>
              </a:path>
            </a:pathLst>
          </a:custGeom>
          <a:solidFill>
            <a:srgbClr val="000000"/>
          </a:solidFill>
          <a:ln w="12700" cap="rnd" cmpd="sng">
            <a:solidFill>
              <a:srgbClr val="618FFD"/>
            </a:solidFill>
            <a:prstDash val="solid"/>
            <a:round/>
          </a:ln>
          <a:effectLst/>
        </p:spPr>
        <p:txBody>
          <a:bodyPr/>
          <a:lstStyle/>
          <a:p>
            <a:endParaRPr lang="en-US"/>
          </a:p>
        </p:txBody>
      </p:sp>
      <p:sp>
        <p:nvSpPr>
          <p:cNvPr id="14385" name="Freeform 14384"/>
          <p:cNvSpPr/>
          <p:nvPr/>
        </p:nvSpPr>
        <p:spPr>
          <a:xfrm>
            <a:off x="2163763" y="4440238"/>
            <a:ext cx="82550" cy="44450"/>
          </a:xfrm>
          <a:custGeom>
            <a:avLst/>
            <a:gdLst/>
            <a:ahLst/>
            <a:cxnLst/>
            <a:rect l="0" t="0" r="0" b="0"/>
            <a:pathLst>
              <a:path w="52" h="28">
                <a:moveTo>
                  <a:pt x="0" y="0"/>
                </a:moveTo>
                <a:lnTo>
                  <a:pt x="16" y="27"/>
                </a:lnTo>
                <a:lnTo>
                  <a:pt x="51" y="27"/>
                </a:lnTo>
                <a:lnTo>
                  <a:pt x="36" y="12"/>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386" name="Freeform 14385"/>
          <p:cNvSpPr/>
          <p:nvPr/>
        </p:nvSpPr>
        <p:spPr>
          <a:xfrm>
            <a:off x="1838325" y="4306888"/>
            <a:ext cx="296863" cy="192087"/>
          </a:xfrm>
          <a:custGeom>
            <a:avLst/>
            <a:gdLst/>
            <a:ahLst/>
            <a:cxnLst/>
            <a:rect l="0" t="0" r="0" b="0"/>
            <a:pathLst>
              <a:path w="187" h="121">
                <a:moveTo>
                  <a:pt x="52" y="0"/>
                </a:moveTo>
                <a:lnTo>
                  <a:pt x="21" y="1"/>
                </a:lnTo>
                <a:lnTo>
                  <a:pt x="0" y="23"/>
                </a:lnTo>
                <a:lnTo>
                  <a:pt x="44" y="39"/>
                </a:lnTo>
                <a:lnTo>
                  <a:pt x="67" y="39"/>
                </a:lnTo>
                <a:lnTo>
                  <a:pt x="67" y="47"/>
                </a:lnTo>
                <a:lnTo>
                  <a:pt x="127" y="76"/>
                </a:lnTo>
                <a:lnTo>
                  <a:pt x="127" y="91"/>
                </a:lnTo>
                <a:lnTo>
                  <a:pt x="163" y="112"/>
                </a:lnTo>
                <a:lnTo>
                  <a:pt x="186" y="120"/>
                </a:lnTo>
                <a:lnTo>
                  <a:pt x="186" y="112"/>
                </a:lnTo>
                <a:lnTo>
                  <a:pt x="171" y="76"/>
                </a:lnTo>
                <a:lnTo>
                  <a:pt x="186" y="68"/>
                </a:lnTo>
                <a:lnTo>
                  <a:pt x="163" y="53"/>
                </a:lnTo>
                <a:lnTo>
                  <a:pt x="159" y="45"/>
                </a:lnTo>
                <a:lnTo>
                  <a:pt x="112" y="23"/>
                </a:lnTo>
                <a:lnTo>
                  <a:pt x="52" y="0"/>
                </a:lnTo>
              </a:path>
            </a:pathLst>
          </a:custGeom>
          <a:solidFill>
            <a:srgbClr val="000000"/>
          </a:solidFill>
          <a:ln w="12700" cap="rnd" cmpd="sng">
            <a:solidFill>
              <a:srgbClr val="618FFD"/>
            </a:solidFill>
            <a:prstDash val="solid"/>
            <a:round/>
          </a:ln>
          <a:effectLst/>
        </p:spPr>
        <p:txBody>
          <a:bodyPr/>
          <a:lstStyle/>
          <a:p>
            <a:endParaRPr lang="en-US"/>
          </a:p>
        </p:txBody>
      </p:sp>
      <p:sp>
        <p:nvSpPr>
          <p:cNvPr id="14387" name="Freeform 14386"/>
          <p:cNvSpPr/>
          <p:nvPr/>
        </p:nvSpPr>
        <p:spPr>
          <a:xfrm>
            <a:off x="1939925" y="4852988"/>
            <a:ext cx="96838" cy="26987"/>
          </a:xfrm>
          <a:custGeom>
            <a:avLst/>
            <a:gdLst/>
            <a:ahLst/>
            <a:cxnLst/>
            <a:rect l="0" t="0" r="0" b="0"/>
            <a:pathLst>
              <a:path w="61" h="17">
                <a:moveTo>
                  <a:pt x="0" y="3"/>
                </a:moveTo>
                <a:lnTo>
                  <a:pt x="21" y="6"/>
                </a:lnTo>
                <a:lnTo>
                  <a:pt x="31" y="0"/>
                </a:lnTo>
                <a:lnTo>
                  <a:pt x="60" y="10"/>
                </a:lnTo>
                <a:lnTo>
                  <a:pt x="55" y="16"/>
                </a:lnTo>
                <a:lnTo>
                  <a:pt x="26" y="11"/>
                </a:lnTo>
                <a:lnTo>
                  <a:pt x="0" y="11"/>
                </a:lnTo>
                <a:lnTo>
                  <a:pt x="0" y="3"/>
                </a:lnTo>
              </a:path>
            </a:pathLst>
          </a:custGeom>
          <a:solidFill>
            <a:srgbClr val="000000"/>
          </a:solidFill>
          <a:ln w="12700" cap="rnd" cmpd="sng">
            <a:solidFill>
              <a:srgbClr val="618FFD"/>
            </a:solidFill>
            <a:prstDash val="solid"/>
            <a:round/>
          </a:ln>
          <a:effectLst/>
        </p:spPr>
        <p:txBody>
          <a:bodyPr/>
          <a:lstStyle/>
          <a:p>
            <a:endParaRPr lang="en-US"/>
          </a:p>
        </p:txBody>
      </p:sp>
      <p:sp>
        <p:nvSpPr>
          <p:cNvPr id="14388" name="Freeform 14387"/>
          <p:cNvSpPr/>
          <p:nvPr/>
        </p:nvSpPr>
        <p:spPr>
          <a:xfrm>
            <a:off x="1949450" y="4875213"/>
            <a:ext cx="26988" cy="26987"/>
          </a:xfrm>
          <a:custGeom>
            <a:avLst/>
            <a:gdLst/>
            <a:ahLst/>
            <a:cxnLst/>
            <a:rect l="0" t="0" r="0" b="0"/>
            <a:pathLst>
              <a:path w="17" h="17">
                <a:moveTo>
                  <a:pt x="0" y="0"/>
                </a:moveTo>
                <a:lnTo>
                  <a:pt x="0" y="16"/>
                </a:lnTo>
                <a:lnTo>
                  <a:pt x="16" y="16"/>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389" name="Freeform 14388"/>
          <p:cNvSpPr/>
          <p:nvPr/>
        </p:nvSpPr>
        <p:spPr>
          <a:xfrm>
            <a:off x="2052638" y="4873625"/>
            <a:ext cx="38100" cy="26988"/>
          </a:xfrm>
          <a:custGeom>
            <a:avLst/>
            <a:gdLst/>
            <a:ahLst/>
            <a:cxnLst/>
            <a:rect l="0" t="0" r="0" b="0"/>
            <a:pathLst>
              <a:path w="24" h="17">
                <a:moveTo>
                  <a:pt x="0" y="0"/>
                </a:moveTo>
                <a:lnTo>
                  <a:pt x="0" y="7"/>
                </a:lnTo>
                <a:lnTo>
                  <a:pt x="23" y="16"/>
                </a:lnTo>
                <a:lnTo>
                  <a:pt x="23" y="0"/>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0" name="Freeform 14389"/>
          <p:cNvSpPr/>
          <p:nvPr/>
        </p:nvSpPr>
        <p:spPr>
          <a:xfrm>
            <a:off x="2786063" y="4343400"/>
            <a:ext cx="1625600" cy="1108075"/>
          </a:xfrm>
          <a:custGeom>
            <a:avLst/>
            <a:gdLst/>
            <a:ahLst/>
            <a:cxnLst/>
            <a:rect l="0" t="0" r="0" b="0"/>
            <a:pathLst>
              <a:path w="1024" h="698">
                <a:moveTo>
                  <a:pt x="135" y="252"/>
                </a:moveTo>
                <a:lnTo>
                  <a:pt x="104" y="252"/>
                </a:lnTo>
                <a:lnTo>
                  <a:pt x="104" y="267"/>
                </a:lnTo>
                <a:lnTo>
                  <a:pt x="29" y="293"/>
                </a:lnTo>
                <a:lnTo>
                  <a:pt x="0" y="349"/>
                </a:lnTo>
                <a:lnTo>
                  <a:pt x="0" y="385"/>
                </a:lnTo>
                <a:lnTo>
                  <a:pt x="16" y="392"/>
                </a:lnTo>
                <a:lnTo>
                  <a:pt x="8" y="415"/>
                </a:lnTo>
                <a:lnTo>
                  <a:pt x="60" y="437"/>
                </a:lnTo>
                <a:lnTo>
                  <a:pt x="179" y="437"/>
                </a:lnTo>
                <a:lnTo>
                  <a:pt x="217" y="519"/>
                </a:lnTo>
                <a:lnTo>
                  <a:pt x="217" y="585"/>
                </a:lnTo>
                <a:lnTo>
                  <a:pt x="254" y="637"/>
                </a:lnTo>
                <a:lnTo>
                  <a:pt x="247" y="659"/>
                </a:lnTo>
                <a:lnTo>
                  <a:pt x="270" y="697"/>
                </a:lnTo>
                <a:lnTo>
                  <a:pt x="352" y="659"/>
                </a:lnTo>
                <a:lnTo>
                  <a:pt x="397" y="614"/>
                </a:lnTo>
                <a:lnTo>
                  <a:pt x="382" y="585"/>
                </a:lnTo>
                <a:lnTo>
                  <a:pt x="447" y="556"/>
                </a:lnTo>
                <a:lnTo>
                  <a:pt x="418" y="527"/>
                </a:lnTo>
                <a:lnTo>
                  <a:pt x="418" y="489"/>
                </a:lnTo>
                <a:lnTo>
                  <a:pt x="486" y="401"/>
                </a:lnTo>
                <a:lnTo>
                  <a:pt x="441" y="400"/>
                </a:lnTo>
                <a:lnTo>
                  <a:pt x="418" y="364"/>
                </a:lnTo>
                <a:lnTo>
                  <a:pt x="400" y="364"/>
                </a:lnTo>
                <a:lnTo>
                  <a:pt x="382" y="282"/>
                </a:lnTo>
                <a:lnTo>
                  <a:pt x="463" y="385"/>
                </a:lnTo>
                <a:lnTo>
                  <a:pt x="569" y="327"/>
                </a:lnTo>
                <a:lnTo>
                  <a:pt x="544" y="304"/>
                </a:lnTo>
                <a:lnTo>
                  <a:pt x="636" y="305"/>
                </a:lnTo>
                <a:lnTo>
                  <a:pt x="626" y="320"/>
                </a:lnTo>
                <a:lnTo>
                  <a:pt x="702" y="400"/>
                </a:lnTo>
                <a:lnTo>
                  <a:pt x="739" y="372"/>
                </a:lnTo>
                <a:lnTo>
                  <a:pt x="733" y="356"/>
                </a:lnTo>
                <a:lnTo>
                  <a:pt x="793" y="327"/>
                </a:lnTo>
                <a:lnTo>
                  <a:pt x="836" y="349"/>
                </a:lnTo>
                <a:lnTo>
                  <a:pt x="836" y="372"/>
                </a:lnTo>
                <a:lnTo>
                  <a:pt x="853" y="356"/>
                </a:lnTo>
                <a:lnTo>
                  <a:pt x="868" y="385"/>
                </a:lnTo>
                <a:lnTo>
                  <a:pt x="868" y="415"/>
                </a:lnTo>
                <a:lnTo>
                  <a:pt x="912" y="452"/>
                </a:lnTo>
                <a:lnTo>
                  <a:pt x="881" y="392"/>
                </a:lnTo>
                <a:lnTo>
                  <a:pt x="904" y="400"/>
                </a:lnTo>
                <a:lnTo>
                  <a:pt x="949" y="364"/>
                </a:lnTo>
                <a:lnTo>
                  <a:pt x="912" y="343"/>
                </a:lnTo>
                <a:lnTo>
                  <a:pt x="912" y="320"/>
                </a:lnTo>
                <a:lnTo>
                  <a:pt x="927" y="327"/>
                </a:lnTo>
                <a:lnTo>
                  <a:pt x="972" y="304"/>
                </a:lnTo>
                <a:lnTo>
                  <a:pt x="1001" y="297"/>
                </a:lnTo>
                <a:lnTo>
                  <a:pt x="1001" y="267"/>
                </a:lnTo>
                <a:lnTo>
                  <a:pt x="987" y="267"/>
                </a:lnTo>
                <a:lnTo>
                  <a:pt x="964" y="245"/>
                </a:lnTo>
                <a:lnTo>
                  <a:pt x="972" y="230"/>
                </a:lnTo>
                <a:lnTo>
                  <a:pt x="990" y="238"/>
                </a:lnTo>
                <a:lnTo>
                  <a:pt x="990" y="252"/>
                </a:lnTo>
                <a:lnTo>
                  <a:pt x="1001" y="237"/>
                </a:lnTo>
                <a:lnTo>
                  <a:pt x="994" y="216"/>
                </a:lnTo>
                <a:lnTo>
                  <a:pt x="979" y="192"/>
                </a:lnTo>
                <a:lnTo>
                  <a:pt x="987" y="170"/>
                </a:lnTo>
                <a:lnTo>
                  <a:pt x="972" y="155"/>
                </a:lnTo>
                <a:lnTo>
                  <a:pt x="958" y="141"/>
                </a:lnTo>
                <a:lnTo>
                  <a:pt x="904" y="126"/>
                </a:lnTo>
                <a:lnTo>
                  <a:pt x="898" y="112"/>
                </a:lnTo>
                <a:lnTo>
                  <a:pt x="898" y="97"/>
                </a:lnTo>
                <a:lnTo>
                  <a:pt x="927" y="89"/>
                </a:lnTo>
                <a:lnTo>
                  <a:pt x="941" y="89"/>
                </a:lnTo>
                <a:lnTo>
                  <a:pt x="958" y="97"/>
                </a:lnTo>
                <a:lnTo>
                  <a:pt x="994" y="112"/>
                </a:lnTo>
                <a:lnTo>
                  <a:pt x="1023" y="141"/>
                </a:lnTo>
                <a:lnTo>
                  <a:pt x="1023" y="126"/>
                </a:lnTo>
                <a:lnTo>
                  <a:pt x="979" y="89"/>
                </a:lnTo>
                <a:lnTo>
                  <a:pt x="1008" y="89"/>
                </a:lnTo>
                <a:lnTo>
                  <a:pt x="958" y="61"/>
                </a:lnTo>
                <a:lnTo>
                  <a:pt x="904" y="37"/>
                </a:lnTo>
                <a:lnTo>
                  <a:pt x="829" y="37"/>
                </a:lnTo>
                <a:lnTo>
                  <a:pt x="733" y="30"/>
                </a:lnTo>
                <a:lnTo>
                  <a:pt x="590" y="16"/>
                </a:lnTo>
                <a:lnTo>
                  <a:pt x="569" y="0"/>
                </a:lnTo>
                <a:lnTo>
                  <a:pt x="523" y="0"/>
                </a:lnTo>
                <a:lnTo>
                  <a:pt x="507" y="16"/>
                </a:lnTo>
                <a:lnTo>
                  <a:pt x="544" y="30"/>
                </a:lnTo>
                <a:lnTo>
                  <a:pt x="500" y="30"/>
                </a:lnTo>
                <a:lnTo>
                  <a:pt x="463" y="45"/>
                </a:lnTo>
                <a:lnTo>
                  <a:pt x="447" y="45"/>
                </a:lnTo>
                <a:lnTo>
                  <a:pt x="427" y="45"/>
                </a:lnTo>
                <a:lnTo>
                  <a:pt x="418" y="61"/>
                </a:lnTo>
                <a:lnTo>
                  <a:pt x="397" y="68"/>
                </a:lnTo>
                <a:lnTo>
                  <a:pt x="397" y="37"/>
                </a:lnTo>
                <a:lnTo>
                  <a:pt x="352" y="37"/>
                </a:lnTo>
                <a:lnTo>
                  <a:pt x="329" y="53"/>
                </a:lnTo>
                <a:lnTo>
                  <a:pt x="307" y="61"/>
                </a:lnTo>
                <a:lnTo>
                  <a:pt x="270" y="82"/>
                </a:lnTo>
                <a:lnTo>
                  <a:pt x="261" y="97"/>
                </a:lnTo>
                <a:lnTo>
                  <a:pt x="292" y="89"/>
                </a:lnTo>
                <a:lnTo>
                  <a:pt x="298" y="105"/>
                </a:lnTo>
                <a:lnTo>
                  <a:pt x="329" y="75"/>
                </a:lnTo>
                <a:lnTo>
                  <a:pt x="352" y="68"/>
                </a:lnTo>
                <a:lnTo>
                  <a:pt x="367" y="97"/>
                </a:lnTo>
                <a:lnTo>
                  <a:pt x="322" y="112"/>
                </a:lnTo>
                <a:lnTo>
                  <a:pt x="284" y="126"/>
                </a:lnTo>
                <a:lnTo>
                  <a:pt x="261" y="119"/>
                </a:lnTo>
                <a:lnTo>
                  <a:pt x="261" y="134"/>
                </a:lnTo>
                <a:lnTo>
                  <a:pt x="188" y="155"/>
                </a:lnTo>
                <a:lnTo>
                  <a:pt x="188" y="184"/>
                </a:lnTo>
                <a:lnTo>
                  <a:pt x="150" y="178"/>
                </a:lnTo>
                <a:lnTo>
                  <a:pt x="128" y="201"/>
                </a:lnTo>
                <a:lnTo>
                  <a:pt x="158" y="230"/>
                </a:lnTo>
                <a:lnTo>
                  <a:pt x="188" y="216"/>
                </a:lnTo>
                <a:lnTo>
                  <a:pt x="195" y="192"/>
                </a:lnTo>
                <a:lnTo>
                  <a:pt x="254" y="178"/>
                </a:lnTo>
                <a:lnTo>
                  <a:pt x="280" y="207"/>
                </a:lnTo>
                <a:lnTo>
                  <a:pt x="275" y="222"/>
                </a:lnTo>
                <a:lnTo>
                  <a:pt x="292" y="216"/>
                </a:lnTo>
                <a:lnTo>
                  <a:pt x="284" y="178"/>
                </a:lnTo>
                <a:lnTo>
                  <a:pt x="315" y="207"/>
                </a:lnTo>
                <a:lnTo>
                  <a:pt x="307" y="222"/>
                </a:lnTo>
                <a:lnTo>
                  <a:pt x="336" y="216"/>
                </a:lnTo>
                <a:lnTo>
                  <a:pt x="329" y="201"/>
                </a:lnTo>
                <a:lnTo>
                  <a:pt x="352" y="201"/>
                </a:lnTo>
                <a:lnTo>
                  <a:pt x="352" y="222"/>
                </a:lnTo>
                <a:lnTo>
                  <a:pt x="397" y="237"/>
                </a:lnTo>
                <a:lnTo>
                  <a:pt x="367" y="259"/>
                </a:lnTo>
                <a:lnTo>
                  <a:pt x="298" y="252"/>
                </a:lnTo>
                <a:lnTo>
                  <a:pt x="284" y="259"/>
                </a:lnTo>
                <a:lnTo>
                  <a:pt x="231" y="245"/>
                </a:lnTo>
                <a:lnTo>
                  <a:pt x="247" y="230"/>
                </a:lnTo>
                <a:lnTo>
                  <a:pt x="179" y="245"/>
                </a:lnTo>
                <a:lnTo>
                  <a:pt x="135" y="252"/>
                </a:lnTo>
              </a:path>
            </a:pathLst>
          </a:custGeom>
          <a:solidFill>
            <a:srgbClr val="000000"/>
          </a:solidFill>
          <a:ln w="12700" cap="rnd" cmpd="sng">
            <a:solidFill>
              <a:srgbClr val="618FFD"/>
            </a:solidFill>
            <a:prstDash val="solid"/>
            <a:round/>
          </a:ln>
          <a:effectLst/>
        </p:spPr>
        <p:txBody>
          <a:bodyPr/>
          <a:lstStyle/>
          <a:p>
            <a:endParaRPr lang="en-US"/>
          </a:p>
        </p:txBody>
      </p:sp>
      <p:sp>
        <p:nvSpPr>
          <p:cNvPr id="14391" name="Freeform 14390"/>
          <p:cNvSpPr/>
          <p:nvPr/>
        </p:nvSpPr>
        <p:spPr>
          <a:xfrm>
            <a:off x="3917950" y="4972050"/>
            <a:ext cx="41275" cy="61913"/>
          </a:xfrm>
          <a:custGeom>
            <a:avLst/>
            <a:gdLst/>
            <a:ahLst/>
            <a:cxnLst/>
            <a:rect l="0" t="0" r="0" b="0"/>
            <a:pathLst>
              <a:path w="26" h="39">
                <a:moveTo>
                  <a:pt x="25" y="0"/>
                </a:moveTo>
                <a:lnTo>
                  <a:pt x="0" y="13"/>
                </a:lnTo>
                <a:lnTo>
                  <a:pt x="0" y="38"/>
                </a:lnTo>
                <a:lnTo>
                  <a:pt x="25" y="31"/>
                </a:lnTo>
                <a:lnTo>
                  <a:pt x="25"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2" name="Freeform 14391"/>
          <p:cNvSpPr/>
          <p:nvPr/>
        </p:nvSpPr>
        <p:spPr>
          <a:xfrm>
            <a:off x="4352925" y="5180013"/>
            <a:ext cx="476250" cy="295275"/>
          </a:xfrm>
          <a:custGeom>
            <a:avLst/>
            <a:gdLst/>
            <a:ahLst/>
            <a:cxnLst/>
            <a:rect l="0" t="0" r="0" b="0"/>
            <a:pathLst>
              <a:path w="300" h="186">
                <a:moveTo>
                  <a:pt x="149" y="0"/>
                </a:moveTo>
                <a:lnTo>
                  <a:pt x="105" y="29"/>
                </a:lnTo>
                <a:lnTo>
                  <a:pt x="90" y="22"/>
                </a:lnTo>
                <a:lnTo>
                  <a:pt x="43" y="43"/>
                </a:lnTo>
                <a:lnTo>
                  <a:pt x="36" y="65"/>
                </a:lnTo>
                <a:lnTo>
                  <a:pt x="0" y="72"/>
                </a:lnTo>
                <a:lnTo>
                  <a:pt x="37" y="132"/>
                </a:lnTo>
                <a:lnTo>
                  <a:pt x="36" y="155"/>
                </a:lnTo>
                <a:lnTo>
                  <a:pt x="105" y="140"/>
                </a:lnTo>
                <a:lnTo>
                  <a:pt x="105" y="125"/>
                </a:lnTo>
                <a:lnTo>
                  <a:pt x="171" y="148"/>
                </a:lnTo>
                <a:lnTo>
                  <a:pt x="186" y="148"/>
                </a:lnTo>
                <a:lnTo>
                  <a:pt x="215" y="185"/>
                </a:lnTo>
                <a:lnTo>
                  <a:pt x="259" y="170"/>
                </a:lnTo>
                <a:lnTo>
                  <a:pt x="299" y="101"/>
                </a:lnTo>
                <a:lnTo>
                  <a:pt x="291" y="80"/>
                </a:lnTo>
                <a:lnTo>
                  <a:pt x="268" y="80"/>
                </a:lnTo>
                <a:lnTo>
                  <a:pt x="268" y="43"/>
                </a:lnTo>
                <a:lnTo>
                  <a:pt x="246" y="43"/>
                </a:lnTo>
                <a:lnTo>
                  <a:pt x="215" y="0"/>
                </a:lnTo>
                <a:lnTo>
                  <a:pt x="215" y="36"/>
                </a:lnTo>
                <a:lnTo>
                  <a:pt x="179" y="29"/>
                </a:lnTo>
                <a:lnTo>
                  <a:pt x="171" y="14"/>
                </a:lnTo>
                <a:lnTo>
                  <a:pt x="149"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3" name="Freeform 14392"/>
          <p:cNvSpPr/>
          <p:nvPr/>
        </p:nvSpPr>
        <p:spPr>
          <a:xfrm>
            <a:off x="3503613" y="5214938"/>
            <a:ext cx="77787" cy="117475"/>
          </a:xfrm>
          <a:custGeom>
            <a:avLst/>
            <a:gdLst/>
            <a:ahLst/>
            <a:cxnLst/>
            <a:rect l="0" t="0" r="0" b="0"/>
            <a:pathLst>
              <a:path w="49" h="74">
                <a:moveTo>
                  <a:pt x="41" y="0"/>
                </a:moveTo>
                <a:lnTo>
                  <a:pt x="25" y="14"/>
                </a:lnTo>
                <a:lnTo>
                  <a:pt x="0" y="14"/>
                </a:lnTo>
                <a:lnTo>
                  <a:pt x="0" y="73"/>
                </a:lnTo>
                <a:lnTo>
                  <a:pt x="18" y="73"/>
                </a:lnTo>
                <a:lnTo>
                  <a:pt x="25" y="50"/>
                </a:lnTo>
                <a:lnTo>
                  <a:pt x="48" y="21"/>
                </a:lnTo>
                <a:lnTo>
                  <a:pt x="48" y="7"/>
                </a:lnTo>
                <a:lnTo>
                  <a:pt x="41"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4" name="Freeform 14393"/>
          <p:cNvSpPr/>
          <p:nvPr/>
        </p:nvSpPr>
        <p:spPr>
          <a:xfrm>
            <a:off x="4279900" y="5002213"/>
            <a:ext cx="131763" cy="119062"/>
          </a:xfrm>
          <a:custGeom>
            <a:avLst/>
            <a:gdLst/>
            <a:ahLst/>
            <a:cxnLst/>
            <a:rect l="0" t="0" r="0" b="0"/>
            <a:pathLst>
              <a:path w="83" h="75">
                <a:moveTo>
                  <a:pt x="75" y="7"/>
                </a:moveTo>
                <a:lnTo>
                  <a:pt x="67" y="30"/>
                </a:lnTo>
                <a:lnTo>
                  <a:pt x="82" y="37"/>
                </a:lnTo>
                <a:lnTo>
                  <a:pt x="60" y="51"/>
                </a:lnTo>
                <a:lnTo>
                  <a:pt x="46" y="74"/>
                </a:lnTo>
                <a:lnTo>
                  <a:pt x="38" y="68"/>
                </a:lnTo>
                <a:lnTo>
                  <a:pt x="0" y="59"/>
                </a:lnTo>
                <a:lnTo>
                  <a:pt x="8" y="22"/>
                </a:lnTo>
                <a:lnTo>
                  <a:pt x="38" y="22"/>
                </a:lnTo>
                <a:lnTo>
                  <a:pt x="60" y="0"/>
                </a:lnTo>
                <a:lnTo>
                  <a:pt x="75" y="7"/>
                </a:lnTo>
              </a:path>
            </a:pathLst>
          </a:custGeom>
          <a:solidFill>
            <a:srgbClr val="000000"/>
          </a:solidFill>
          <a:ln w="12700" cap="rnd" cmpd="sng">
            <a:solidFill>
              <a:srgbClr val="618FFD"/>
            </a:solidFill>
            <a:prstDash val="solid"/>
            <a:round/>
          </a:ln>
          <a:effectLst/>
        </p:spPr>
        <p:txBody>
          <a:bodyPr/>
          <a:lstStyle/>
          <a:p>
            <a:endParaRPr lang="en-US"/>
          </a:p>
        </p:txBody>
      </p:sp>
      <p:sp>
        <p:nvSpPr>
          <p:cNvPr id="14395" name="Freeform 14394"/>
          <p:cNvSpPr/>
          <p:nvPr/>
        </p:nvSpPr>
        <p:spPr>
          <a:xfrm>
            <a:off x="4554538" y="5072063"/>
            <a:ext cx="249237" cy="119062"/>
          </a:xfrm>
          <a:custGeom>
            <a:avLst/>
            <a:gdLst/>
            <a:ahLst/>
            <a:cxnLst/>
            <a:rect l="0" t="0" r="0" b="0"/>
            <a:pathLst>
              <a:path w="157" h="75">
                <a:moveTo>
                  <a:pt x="0" y="7"/>
                </a:moveTo>
                <a:lnTo>
                  <a:pt x="0" y="24"/>
                </a:lnTo>
                <a:lnTo>
                  <a:pt x="29" y="24"/>
                </a:lnTo>
                <a:lnTo>
                  <a:pt x="65" y="37"/>
                </a:lnTo>
                <a:lnTo>
                  <a:pt x="71" y="50"/>
                </a:lnTo>
                <a:lnTo>
                  <a:pt x="88" y="50"/>
                </a:lnTo>
                <a:lnTo>
                  <a:pt x="112" y="45"/>
                </a:lnTo>
                <a:lnTo>
                  <a:pt x="148" y="74"/>
                </a:lnTo>
                <a:lnTo>
                  <a:pt x="156" y="60"/>
                </a:lnTo>
                <a:lnTo>
                  <a:pt x="119" y="30"/>
                </a:lnTo>
                <a:lnTo>
                  <a:pt x="59" y="0"/>
                </a:lnTo>
                <a:lnTo>
                  <a:pt x="44" y="7"/>
                </a:lnTo>
                <a:lnTo>
                  <a:pt x="29" y="7"/>
                </a:lnTo>
                <a:lnTo>
                  <a:pt x="0" y="7"/>
                </a:lnTo>
              </a:path>
            </a:pathLst>
          </a:custGeom>
          <a:solidFill>
            <a:srgbClr val="000000"/>
          </a:solidFill>
          <a:ln w="12700" cap="rnd" cmpd="sng">
            <a:solidFill>
              <a:srgbClr val="618FFD"/>
            </a:solidFill>
            <a:prstDash val="solid"/>
            <a:round/>
          </a:ln>
          <a:effectLst/>
        </p:spPr>
        <p:txBody>
          <a:bodyPr/>
          <a:lstStyle/>
          <a:p>
            <a:endParaRPr lang="en-US"/>
          </a:p>
        </p:txBody>
      </p:sp>
      <p:sp>
        <p:nvSpPr>
          <p:cNvPr id="14396" name="Freeform 14395"/>
          <p:cNvSpPr/>
          <p:nvPr/>
        </p:nvSpPr>
        <p:spPr>
          <a:xfrm>
            <a:off x="4873625" y="5402263"/>
            <a:ext cx="155575" cy="130175"/>
          </a:xfrm>
          <a:custGeom>
            <a:avLst/>
            <a:gdLst/>
            <a:ahLst/>
            <a:cxnLst/>
            <a:rect l="0" t="0" r="0" b="0"/>
            <a:pathLst>
              <a:path w="98" h="82">
                <a:moveTo>
                  <a:pt x="81" y="0"/>
                </a:moveTo>
                <a:lnTo>
                  <a:pt x="75" y="30"/>
                </a:lnTo>
                <a:lnTo>
                  <a:pt x="46" y="45"/>
                </a:lnTo>
                <a:lnTo>
                  <a:pt x="46" y="52"/>
                </a:lnTo>
                <a:lnTo>
                  <a:pt x="0" y="81"/>
                </a:lnTo>
                <a:lnTo>
                  <a:pt x="38" y="81"/>
                </a:lnTo>
                <a:lnTo>
                  <a:pt x="60" y="66"/>
                </a:lnTo>
                <a:lnTo>
                  <a:pt x="81" y="52"/>
                </a:lnTo>
                <a:lnTo>
                  <a:pt x="81" y="37"/>
                </a:lnTo>
                <a:lnTo>
                  <a:pt x="97" y="22"/>
                </a:lnTo>
                <a:lnTo>
                  <a:pt x="81"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7" name="Freeform 14396"/>
          <p:cNvSpPr/>
          <p:nvPr/>
        </p:nvSpPr>
        <p:spPr>
          <a:xfrm>
            <a:off x="4694238" y="5484813"/>
            <a:ext cx="71437" cy="47625"/>
          </a:xfrm>
          <a:custGeom>
            <a:avLst/>
            <a:gdLst/>
            <a:ahLst/>
            <a:cxnLst/>
            <a:rect l="0" t="0" r="0" b="0"/>
            <a:pathLst>
              <a:path w="45" h="30">
                <a:moveTo>
                  <a:pt x="44" y="0"/>
                </a:moveTo>
                <a:lnTo>
                  <a:pt x="0" y="14"/>
                </a:lnTo>
                <a:lnTo>
                  <a:pt x="31" y="29"/>
                </a:lnTo>
                <a:lnTo>
                  <a:pt x="44"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8" name="Freeform 14397"/>
          <p:cNvSpPr/>
          <p:nvPr/>
        </p:nvSpPr>
        <p:spPr>
          <a:xfrm>
            <a:off x="4143375" y="5026025"/>
            <a:ext cx="104775" cy="120650"/>
          </a:xfrm>
          <a:custGeom>
            <a:avLst/>
            <a:gdLst/>
            <a:ahLst/>
            <a:cxnLst/>
            <a:rect l="0" t="0" r="0" b="0"/>
            <a:pathLst>
              <a:path w="66" h="76">
                <a:moveTo>
                  <a:pt x="0" y="0"/>
                </a:moveTo>
                <a:lnTo>
                  <a:pt x="53" y="31"/>
                </a:lnTo>
                <a:lnTo>
                  <a:pt x="65" y="45"/>
                </a:lnTo>
                <a:lnTo>
                  <a:pt x="49" y="75"/>
                </a:lnTo>
                <a:lnTo>
                  <a:pt x="33" y="59"/>
                </a:lnTo>
                <a:lnTo>
                  <a:pt x="33" y="36"/>
                </a:lnTo>
                <a:lnTo>
                  <a:pt x="8" y="20"/>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399" name="Freeform 14398"/>
          <p:cNvSpPr/>
          <p:nvPr/>
        </p:nvSpPr>
        <p:spPr>
          <a:xfrm>
            <a:off x="4241800" y="5119688"/>
            <a:ext cx="112713" cy="26987"/>
          </a:xfrm>
          <a:custGeom>
            <a:avLst/>
            <a:gdLst/>
            <a:ahLst/>
            <a:cxnLst/>
            <a:rect l="0" t="0" r="0" b="0"/>
            <a:pathLst>
              <a:path w="71" h="17">
                <a:moveTo>
                  <a:pt x="70" y="16"/>
                </a:moveTo>
                <a:lnTo>
                  <a:pt x="42" y="0"/>
                </a:lnTo>
                <a:lnTo>
                  <a:pt x="24" y="0"/>
                </a:lnTo>
                <a:lnTo>
                  <a:pt x="17" y="7"/>
                </a:lnTo>
                <a:lnTo>
                  <a:pt x="0" y="8"/>
                </a:lnTo>
                <a:lnTo>
                  <a:pt x="3" y="10"/>
                </a:lnTo>
                <a:lnTo>
                  <a:pt x="49" y="16"/>
                </a:lnTo>
                <a:lnTo>
                  <a:pt x="70" y="16"/>
                </a:lnTo>
              </a:path>
            </a:pathLst>
          </a:custGeom>
          <a:solidFill>
            <a:srgbClr val="000000"/>
          </a:solidFill>
          <a:ln w="12700" cap="rnd" cmpd="sng">
            <a:solidFill>
              <a:srgbClr val="618FFD"/>
            </a:solidFill>
            <a:prstDash val="solid"/>
            <a:round/>
          </a:ln>
          <a:effectLst/>
        </p:spPr>
        <p:txBody>
          <a:bodyPr/>
          <a:lstStyle/>
          <a:p>
            <a:endParaRPr lang="en-US"/>
          </a:p>
        </p:txBody>
      </p:sp>
      <p:sp>
        <p:nvSpPr>
          <p:cNvPr id="14400" name="Freeform 14399"/>
          <p:cNvSpPr/>
          <p:nvPr/>
        </p:nvSpPr>
        <p:spPr>
          <a:xfrm>
            <a:off x="4386263" y="5083175"/>
            <a:ext cx="50800" cy="38100"/>
          </a:xfrm>
          <a:custGeom>
            <a:avLst/>
            <a:gdLst/>
            <a:ahLst/>
            <a:cxnLst/>
            <a:rect l="0" t="0" r="0" b="0"/>
            <a:pathLst>
              <a:path w="32" h="24">
                <a:moveTo>
                  <a:pt x="15" y="0"/>
                </a:moveTo>
                <a:lnTo>
                  <a:pt x="0" y="9"/>
                </a:lnTo>
                <a:lnTo>
                  <a:pt x="10" y="23"/>
                </a:lnTo>
                <a:lnTo>
                  <a:pt x="15" y="9"/>
                </a:lnTo>
                <a:lnTo>
                  <a:pt x="31" y="9"/>
                </a:lnTo>
                <a:lnTo>
                  <a:pt x="15"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1" name="Freeform 14400"/>
          <p:cNvSpPr/>
          <p:nvPr/>
        </p:nvSpPr>
        <p:spPr>
          <a:xfrm>
            <a:off x="4435475" y="4987925"/>
            <a:ext cx="49213" cy="26988"/>
          </a:xfrm>
          <a:custGeom>
            <a:avLst/>
            <a:gdLst/>
            <a:ahLst/>
            <a:cxnLst/>
            <a:rect l="0" t="0" r="0" b="0"/>
            <a:pathLst>
              <a:path w="31" h="17">
                <a:moveTo>
                  <a:pt x="0" y="0"/>
                </a:moveTo>
                <a:lnTo>
                  <a:pt x="30" y="0"/>
                </a:lnTo>
                <a:lnTo>
                  <a:pt x="30" y="16"/>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2" name="Freeform 14401"/>
          <p:cNvSpPr/>
          <p:nvPr/>
        </p:nvSpPr>
        <p:spPr>
          <a:xfrm>
            <a:off x="4386263" y="4884738"/>
            <a:ext cx="57150" cy="82550"/>
          </a:xfrm>
          <a:custGeom>
            <a:avLst/>
            <a:gdLst/>
            <a:ahLst/>
            <a:cxnLst/>
            <a:rect l="0" t="0" r="0" b="0"/>
            <a:pathLst>
              <a:path w="36" h="52">
                <a:moveTo>
                  <a:pt x="0" y="0"/>
                </a:moveTo>
                <a:lnTo>
                  <a:pt x="0" y="8"/>
                </a:lnTo>
                <a:lnTo>
                  <a:pt x="15" y="15"/>
                </a:lnTo>
                <a:lnTo>
                  <a:pt x="15" y="51"/>
                </a:lnTo>
                <a:lnTo>
                  <a:pt x="29" y="51"/>
                </a:lnTo>
                <a:lnTo>
                  <a:pt x="35" y="38"/>
                </a:lnTo>
                <a:lnTo>
                  <a:pt x="22" y="11"/>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3" name="Freeform 14402"/>
          <p:cNvSpPr/>
          <p:nvPr/>
        </p:nvSpPr>
        <p:spPr>
          <a:xfrm>
            <a:off x="4437063" y="4613275"/>
            <a:ext cx="93662" cy="122238"/>
          </a:xfrm>
          <a:custGeom>
            <a:avLst/>
            <a:gdLst/>
            <a:ahLst/>
            <a:cxnLst/>
            <a:rect l="0" t="0" r="0" b="0"/>
            <a:pathLst>
              <a:path w="59" h="77">
                <a:moveTo>
                  <a:pt x="0" y="0"/>
                </a:moveTo>
                <a:lnTo>
                  <a:pt x="23" y="22"/>
                </a:lnTo>
                <a:lnTo>
                  <a:pt x="25" y="19"/>
                </a:lnTo>
                <a:lnTo>
                  <a:pt x="35" y="46"/>
                </a:lnTo>
                <a:lnTo>
                  <a:pt x="26" y="64"/>
                </a:lnTo>
                <a:lnTo>
                  <a:pt x="3" y="76"/>
                </a:lnTo>
                <a:lnTo>
                  <a:pt x="27" y="70"/>
                </a:lnTo>
                <a:lnTo>
                  <a:pt x="37" y="75"/>
                </a:lnTo>
                <a:lnTo>
                  <a:pt x="53" y="75"/>
                </a:lnTo>
                <a:lnTo>
                  <a:pt x="58" y="59"/>
                </a:lnTo>
                <a:lnTo>
                  <a:pt x="29" y="19"/>
                </a:lnTo>
                <a:lnTo>
                  <a:pt x="35" y="14"/>
                </a:lnTo>
                <a:lnTo>
                  <a:pt x="10" y="0"/>
                </a:lnTo>
                <a:lnTo>
                  <a:pt x="0"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4" name="Freeform 14403"/>
          <p:cNvSpPr/>
          <p:nvPr/>
        </p:nvSpPr>
        <p:spPr>
          <a:xfrm>
            <a:off x="1739900" y="4351338"/>
            <a:ext cx="274638" cy="133350"/>
          </a:xfrm>
          <a:custGeom>
            <a:avLst/>
            <a:gdLst/>
            <a:ahLst/>
            <a:cxnLst/>
            <a:rect l="0" t="0" r="0" b="0"/>
            <a:pathLst>
              <a:path w="173" h="84">
                <a:moveTo>
                  <a:pt x="19" y="0"/>
                </a:moveTo>
                <a:lnTo>
                  <a:pt x="0" y="6"/>
                </a:lnTo>
                <a:lnTo>
                  <a:pt x="72" y="41"/>
                </a:lnTo>
                <a:lnTo>
                  <a:pt x="105" y="41"/>
                </a:lnTo>
                <a:lnTo>
                  <a:pt x="118" y="68"/>
                </a:lnTo>
                <a:lnTo>
                  <a:pt x="170" y="83"/>
                </a:lnTo>
                <a:lnTo>
                  <a:pt x="172" y="59"/>
                </a:lnTo>
                <a:lnTo>
                  <a:pt x="67" y="6"/>
                </a:lnTo>
                <a:lnTo>
                  <a:pt x="19"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5" name="Freeform 14404"/>
          <p:cNvSpPr/>
          <p:nvPr/>
        </p:nvSpPr>
        <p:spPr>
          <a:xfrm>
            <a:off x="3089275" y="4484688"/>
            <a:ext cx="53975" cy="49212"/>
          </a:xfrm>
          <a:custGeom>
            <a:avLst/>
            <a:gdLst/>
            <a:ahLst/>
            <a:cxnLst/>
            <a:rect l="0" t="0" r="0" b="0"/>
            <a:pathLst>
              <a:path w="34" h="31">
                <a:moveTo>
                  <a:pt x="24" y="0"/>
                </a:moveTo>
                <a:lnTo>
                  <a:pt x="33" y="13"/>
                </a:lnTo>
                <a:lnTo>
                  <a:pt x="28" y="30"/>
                </a:lnTo>
                <a:lnTo>
                  <a:pt x="0" y="14"/>
                </a:lnTo>
                <a:lnTo>
                  <a:pt x="24" y="0"/>
                </a:lnTo>
              </a:path>
            </a:pathLst>
          </a:custGeom>
          <a:solidFill>
            <a:srgbClr val="000000"/>
          </a:solidFill>
          <a:ln w="12700" cap="rnd" cmpd="sng">
            <a:solidFill>
              <a:srgbClr val="618FFD"/>
            </a:solidFill>
            <a:prstDash val="solid"/>
            <a:round/>
          </a:ln>
          <a:effectLst/>
        </p:spPr>
        <p:txBody>
          <a:bodyPr/>
          <a:lstStyle/>
          <a:p>
            <a:endParaRPr lang="en-US"/>
          </a:p>
        </p:txBody>
      </p:sp>
      <p:sp>
        <p:nvSpPr>
          <p:cNvPr id="14406" name="Freeform 14405"/>
          <p:cNvSpPr/>
          <p:nvPr/>
        </p:nvSpPr>
        <p:spPr>
          <a:xfrm>
            <a:off x="3141663" y="4445000"/>
            <a:ext cx="55562" cy="98425"/>
          </a:xfrm>
          <a:custGeom>
            <a:avLst/>
            <a:gdLst/>
            <a:ahLst/>
            <a:cxnLst/>
            <a:rect l="0" t="0" r="0" b="0"/>
            <a:pathLst>
              <a:path w="35" h="62">
                <a:moveTo>
                  <a:pt x="6" y="0"/>
                </a:moveTo>
                <a:lnTo>
                  <a:pt x="22" y="1"/>
                </a:lnTo>
                <a:lnTo>
                  <a:pt x="21" y="18"/>
                </a:lnTo>
                <a:lnTo>
                  <a:pt x="34" y="30"/>
                </a:lnTo>
                <a:lnTo>
                  <a:pt x="22" y="55"/>
                </a:lnTo>
                <a:lnTo>
                  <a:pt x="0" y="61"/>
                </a:lnTo>
                <a:lnTo>
                  <a:pt x="13" y="35"/>
                </a:lnTo>
                <a:lnTo>
                  <a:pt x="3" y="24"/>
                </a:lnTo>
                <a:lnTo>
                  <a:pt x="6" y="0"/>
                </a:lnTo>
              </a:path>
            </a:pathLst>
          </a:custGeom>
          <a:solidFill>
            <a:srgbClr val="000000"/>
          </a:solidFill>
          <a:ln w="12700" cap="rnd" cmpd="sng">
            <a:solidFill>
              <a:srgbClr val="618FFD"/>
            </a:solidFill>
            <a:prstDash val="solid"/>
            <a:round/>
          </a:ln>
          <a:effectLst/>
        </p:spPr>
        <p:txBody>
          <a:bodyPr/>
          <a:lstStyle/>
          <a:p>
            <a:endParaRPr lang="en-US"/>
          </a:p>
        </p:txBody>
      </p:sp>
      <p:pic>
        <p:nvPicPr>
          <p:cNvPr id="14407" name="Picture 14406"/>
          <p:cNvPicPr/>
          <p:nvPr/>
        </p:nvPicPr>
        <p:blipFill>
          <a:blip r:embed="rId3"/>
          <a:stretch>
            <a:fillRect/>
          </a:stretch>
        </p:blipFill>
        <p:spPr>
          <a:xfrm>
            <a:off x="5643563" y="3497263"/>
            <a:ext cx="2878137" cy="2751137"/>
          </a:xfrm>
          <a:prstGeom prst="rect">
            <a:avLst/>
          </a:prstGeom>
          <a:noFill/>
          <a:ln>
            <a:noFill/>
            <a:miter lim="800000"/>
          </a:ln>
          <a:effectLst/>
        </p:spPr>
      </p:pic>
      <p:sp>
        <p:nvSpPr>
          <p:cNvPr id="14408"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14409"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6385"/>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Global, Driving Forces</a:t>
            </a:r>
          </a:p>
        </p:txBody>
      </p:sp>
      <p:sp>
        <p:nvSpPr>
          <p:cNvPr id="16387" name="Text Placeholder 16386"/>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Geographic dispersion of enterprises</a:t>
            </a:r>
          </a:p>
          <a:p>
            <a:pPr lvl="0"/>
            <a:r>
              <a:t>Communication and coordination</a:t>
            </a:r>
          </a:p>
          <a:p>
            <a:pPr lvl="0"/>
            <a:r>
              <a:t>Cycle time pressures -&gt; virtual organizations</a:t>
            </a:r>
          </a:p>
          <a:p>
            <a:pPr lvl="0"/>
            <a:r>
              <a:t>Globalization of business</a:t>
            </a:r>
          </a:p>
          <a:p>
            <a:pPr lvl="0"/>
            <a:r>
              <a:t>Downsizing -&gt; process automation</a:t>
            </a:r>
          </a:p>
          <a:p>
            <a:pPr lvl="0"/>
            <a:r>
              <a:t>Leveraging knowledge as a competitive tool</a:t>
            </a:r>
          </a:p>
        </p:txBody>
      </p:sp>
      <p:grpSp>
        <p:nvGrpSpPr>
          <p:cNvPr id="16390" name="Group 16389"/>
          <p:cNvGrpSpPr/>
          <p:nvPr/>
        </p:nvGrpSpPr>
        <p:grpSpPr>
          <a:xfrm>
            <a:off x="6858000" y="2124075"/>
            <a:ext cx="1971675" cy="1990725"/>
            <a:chOff x="4320" y="1338"/>
            <a:chExt cx="1242" cy="1254"/>
          </a:xfrm>
        </p:grpSpPr>
        <p:pic>
          <p:nvPicPr>
            <p:cNvPr id="16388" name="Picture 16387"/>
            <p:cNvPicPr/>
            <p:nvPr/>
          </p:nvPicPr>
          <p:blipFill>
            <a:blip r:embed="rId3"/>
            <a:stretch>
              <a:fillRect/>
            </a:stretch>
          </p:blipFill>
          <p:spPr>
            <a:xfrm>
              <a:off x="4320" y="1338"/>
              <a:ext cx="1242" cy="1254"/>
            </a:xfrm>
            <a:prstGeom prst="rect">
              <a:avLst/>
            </a:prstGeom>
            <a:noFill/>
            <a:ln>
              <a:noFill/>
              <a:miter lim="800000"/>
            </a:ln>
            <a:effectLst/>
          </p:spPr>
        </p:pic>
        <p:graphicFrame>
          <p:nvGraphicFramePr>
            <p:cNvPr id="16389" name="Object 16388"/>
            <p:cNvGraphicFramePr/>
            <p:nvPr/>
          </p:nvGraphicFramePr>
          <p:xfrm>
            <a:off x="4874" y="1501"/>
            <a:ext cx="339" cy="591"/>
          </p:xfrm>
          <a:graphic>
            <a:graphicData uri="http://schemas.openxmlformats.org/presentationml/2006/ole">
              <mc:AlternateContent xmlns:mc="http://schemas.openxmlformats.org/markup-compatibility/2006">
                <mc:Choice xmlns:v="urn:schemas-microsoft-com:vml" Requires="v">
                  <p:oleObj name="CorelDRAW 6.0" r:id="rId4" imgW="538162" imgH="938212" progId="CorelDRAW.Graphic.6">
                    <p:embed/>
                  </p:oleObj>
                </mc:Choice>
                <mc:Fallback>
                  <p:oleObj name="CorelDRAW 6.0" r:id="rId4" imgW="538162" imgH="938212" progId="CorelDRAW.Graphic.6">
                    <p:embed/>
                    <p:pic>
                      <p:nvPicPr>
                        <p:cNvPr id="0" name="OLE substitute image"/>
                        <p:cNvPicPr/>
                        <p:nvPr/>
                      </p:nvPicPr>
                      <p:blipFill>
                        <a:blip r:embed="rId5"/>
                        <a:stretch>
                          <a:fillRect/>
                        </a:stretch>
                      </p:blipFill>
                      <p:spPr>
                        <a:xfrm>
                          <a:off x="4874" y="1501"/>
                          <a:ext cx="339" cy="591"/>
                        </a:xfrm>
                        <a:prstGeom prst="rect">
                          <a:avLst/>
                        </a:prstGeom>
                        <a:noFill/>
                        <a:ln>
                          <a:noFill/>
                          <a:miter lim="800000"/>
                        </a:ln>
                        <a:effectLst/>
                      </p:spPr>
                    </p:pic>
                  </p:oleObj>
                </mc:Fallback>
              </mc:AlternateContent>
            </a:graphicData>
          </a:graphic>
        </p:graphicFrame>
      </p:grpSp>
      <p:sp>
        <p:nvSpPr>
          <p:cNvPr id="16391"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16392"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8433"/>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Motivations</a:t>
            </a:r>
          </a:p>
        </p:txBody>
      </p:sp>
      <p:sp>
        <p:nvSpPr>
          <p:cNvPr id="18435" name="Text Placeholder 18434"/>
          <p:cNvSpPr>
            <a:spLocks noGrp="1"/>
          </p:cNvSpPr>
          <p:nvPr>
            <p:ph type="body" sz="half" idx="1"/>
          </p:nvPr>
        </p:nvSpPr>
        <p:spPr>
          <a:xfrm>
            <a:off x="1152525" y="1828800"/>
            <a:ext cx="3370263"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0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200" b="0" i="1" u="none" baseline="0">
                <a:solidFill>
                  <a:schemeClr val="tx1"/>
                </a:solidFill>
                <a:effectLst/>
                <a:latin typeface="Arial" pitchFamily="34" charset="0"/>
                <a:ea typeface="Arial" pitchFamily="34" charset="0"/>
              </a:defRPr>
            </a:lvl5pPr>
          </a:lstStyle>
          <a:p>
            <a:pPr lvl="0"/>
            <a:r>
              <a:t>Better cost control</a:t>
            </a:r>
          </a:p>
          <a:p>
            <a:pPr lvl="0"/>
            <a:r>
              <a:t>Fewer meetings</a:t>
            </a:r>
          </a:p>
          <a:p>
            <a:pPr lvl="0"/>
            <a:r>
              <a:t>Better customer support</a:t>
            </a:r>
          </a:p>
          <a:p>
            <a:pPr lvl="0"/>
            <a:r>
              <a:t>Automating routine processes</a:t>
            </a:r>
          </a:p>
          <a:p>
            <a:pPr lvl="0"/>
            <a:r>
              <a:t>Including customers and suppliers</a:t>
            </a:r>
          </a:p>
          <a:p>
            <a:pPr lvl="0"/>
            <a:r>
              <a:t>Leveraging professional expertise</a:t>
            </a:r>
          </a:p>
        </p:txBody>
      </p:sp>
      <p:sp>
        <p:nvSpPr>
          <p:cNvPr id="18436" name="Text Placeholder 18435"/>
          <p:cNvSpPr>
            <a:spLocks noGrp="1"/>
          </p:cNvSpPr>
          <p:nvPr>
            <p:ph type="body" sz="half" idx="1"/>
          </p:nvPr>
        </p:nvSpPr>
        <p:spPr>
          <a:xfrm>
            <a:off x="4675188" y="1828800"/>
            <a:ext cx="3370262"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0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200" b="0" i="1" u="none" baseline="0">
                <a:solidFill>
                  <a:schemeClr val="tx1"/>
                </a:solidFill>
                <a:effectLst/>
                <a:latin typeface="Arial" pitchFamily="34" charset="0"/>
                <a:ea typeface="Arial" pitchFamily="34" charset="0"/>
              </a:defRPr>
            </a:lvl5pPr>
          </a:lstStyle>
          <a:p>
            <a:pPr lvl="0"/>
            <a:r>
              <a:t>Increased productivity</a:t>
            </a:r>
          </a:p>
          <a:p>
            <a:pPr lvl="0"/>
            <a:r>
              <a:t>Better time to market</a:t>
            </a:r>
          </a:p>
          <a:p>
            <a:pPr lvl="0"/>
            <a:r>
              <a:t>Support for Total Quality Management</a:t>
            </a:r>
          </a:p>
          <a:p>
            <a:pPr lvl="0"/>
            <a:r>
              <a:t>Better global coordination</a:t>
            </a:r>
          </a:p>
          <a:p>
            <a:pPr lvl="0"/>
            <a:r>
              <a:t>Integrating geographically disparate teams</a:t>
            </a:r>
          </a:p>
          <a:p>
            <a:pPr lvl="0"/>
            <a:r>
              <a:t>Differentiation</a:t>
            </a:r>
          </a:p>
        </p:txBody>
      </p:sp>
      <p:sp>
        <p:nvSpPr>
          <p:cNvPr id="18437" name="Rectangle 18436"/>
          <p:cNvSpPr/>
          <p:nvPr/>
        </p:nvSpPr>
        <p:spPr>
          <a:xfrm>
            <a:off x="1395413" y="5561013"/>
            <a:ext cx="5489575" cy="825500"/>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ctr" eaLnBrk="0" hangingPunct="0"/>
            <a:r>
              <a:rPr sz="1600" b="1" i="1">
                <a:solidFill>
                  <a:srgbClr val="618FFD"/>
                </a:solidFill>
              </a:rPr>
              <a:t>“There will be two types of organizations in the future: </a:t>
            </a:r>
            <a:br>
              <a:rPr sz="1600" b="1" i="1">
                <a:solidFill>
                  <a:srgbClr val="618FFD"/>
                </a:solidFill>
              </a:rPr>
            </a:br>
            <a:r>
              <a:rPr sz="1600" b="1" i="1">
                <a:solidFill>
                  <a:srgbClr val="618FFD"/>
                </a:solidFill>
              </a:rPr>
              <a:t>the quick and the dead” </a:t>
            </a:r>
            <a:br>
              <a:rPr sz="1600" b="1" i="1">
                <a:solidFill>
                  <a:srgbClr val="618FFD"/>
                </a:solidFill>
              </a:rPr>
            </a:br>
            <a:r>
              <a:rPr sz="1600" b="1" i="1">
                <a:solidFill>
                  <a:srgbClr val="618FFD"/>
                </a:solidFill>
              </a:rPr>
              <a:t>-- Andy Grove, Intel</a:t>
            </a:r>
          </a:p>
        </p:txBody>
      </p:sp>
      <p:sp>
        <p:nvSpPr>
          <p:cNvPr id="18438" name="Date Placeholder 4"/>
          <p:cNvSpPr>
            <a:spLocks noGrp="1"/>
          </p:cNvSpPr>
          <p:nvPr>
            <p:ph type="dt" sz="half" idx="10"/>
          </p:nvPr>
        </p:nvSpPr>
        <p:spPr/>
        <p:txBody>
          <a:bodyPr/>
          <a:lstStyle/>
          <a:p>
            <a:pPr lvl="0" eaLnBrk="0" hangingPunct="0"/>
            <a:endParaRPr sz="1400">
              <a:latin typeface="Times New Roman" pitchFamily="18" charset="0"/>
            </a:endParaRPr>
          </a:p>
        </p:txBody>
      </p:sp>
      <p:sp>
        <p:nvSpPr>
          <p:cNvPr id="18439" name="Footer Placeholder 5"/>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20481"/>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Technology Trends</a:t>
            </a:r>
          </a:p>
        </p:txBody>
      </p:sp>
      <p:sp>
        <p:nvSpPr>
          <p:cNvPr id="20483" name="Text Placeholder 20482"/>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Better, cheaper PCs and soon NCs</a:t>
            </a:r>
          </a:p>
          <a:p>
            <a:pPr lvl="0"/>
            <a:r>
              <a:t>Bandwidth</a:t>
            </a:r>
          </a:p>
          <a:p>
            <a:pPr lvl="1"/>
            <a:r>
              <a:t>Greater:  Fast Ethernet, ATM</a:t>
            </a:r>
          </a:p>
          <a:p>
            <a:pPr lvl="1"/>
            <a:r>
              <a:t>Cheaper: decreasing cost per network connection</a:t>
            </a:r>
          </a:p>
          <a:p>
            <a:pPr lvl="0"/>
            <a:r>
              <a:t>Storage: more at less cost</a:t>
            </a:r>
          </a:p>
          <a:p>
            <a:pPr lvl="0"/>
            <a:r>
              <a:t>Multimedia: getting closer but still not there</a:t>
            </a:r>
          </a:p>
          <a:p>
            <a:pPr lvl="0"/>
            <a:r>
              <a:t>Enterprise application management nears</a:t>
            </a:r>
          </a:p>
          <a:p>
            <a:pPr lvl="0"/>
            <a:r>
              <a:t>Connectivity:  Web opens the world</a:t>
            </a:r>
          </a:p>
        </p:txBody>
      </p:sp>
      <p:pic>
        <p:nvPicPr>
          <p:cNvPr id="20484" name="Picture 20483"/>
          <p:cNvPicPr/>
          <p:nvPr/>
        </p:nvPicPr>
        <p:blipFill>
          <a:blip r:embed="rId3"/>
          <a:stretch>
            <a:fillRect/>
          </a:stretch>
        </p:blipFill>
        <p:spPr>
          <a:xfrm>
            <a:off x="6835775" y="2200275"/>
            <a:ext cx="2016125" cy="1990725"/>
          </a:xfrm>
          <a:prstGeom prst="rect">
            <a:avLst/>
          </a:prstGeom>
          <a:noFill/>
          <a:ln>
            <a:noFill/>
            <a:miter lim="800000"/>
          </a:ln>
          <a:effectLst/>
        </p:spPr>
      </p:pic>
      <p:sp>
        <p:nvSpPr>
          <p:cNvPr id="20485"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20486"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2529"/>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Collaboration Requires Connections</a:t>
            </a:r>
          </a:p>
        </p:txBody>
      </p:sp>
      <p:graphicFrame>
        <p:nvGraphicFramePr>
          <p:cNvPr id="22531" name="Chart Placeholder 22530"/>
          <p:cNvGraphicFramePr>
            <a:graphicFrameLocks noGrp="1"/>
          </p:cNvGraphicFramePr>
          <p:nvPr>
            <p:ph type="chart" idx="1"/>
          </p:nvPr>
        </p:nvGraphicFramePr>
        <p:xfrm>
          <a:off x="1154113" y="1828800"/>
          <a:ext cx="6870700" cy="4171950"/>
        </p:xfrm>
        <a:graphic>
          <a:graphicData uri="http://schemas.openxmlformats.org/presentationml/2006/ole">
            <mc:AlternateContent xmlns:mc="http://schemas.openxmlformats.org/markup-compatibility/2006">
              <mc:Choice xmlns:v="urn:schemas-microsoft-com:vml" Requires="v">
                <p:oleObj name="Chart" r:id="rId3" imgW="6870700" imgH="4171950" progId="MSGraph.Chart.5">
                  <p:embed/>
                </p:oleObj>
              </mc:Choice>
              <mc:Fallback>
                <p:oleObj name="Chart" r:id="rId3" imgW="6870700" imgH="4171950" progId="MSGraph.Chart.5">
                  <p:embed/>
                  <p:pic>
                    <p:nvPicPr>
                      <p:cNvPr id="0" name="OLE substitute image"/>
                      <p:cNvPicPr/>
                      <p:nvPr/>
                    </p:nvPicPr>
                    <p:blipFill>
                      <a:blip r:embed="rId4"/>
                      <a:stretch>
                        <a:fillRect/>
                      </a:stretch>
                    </p:blipFill>
                    <p:spPr>
                      <a:xfrm>
                        <a:off x="1154113" y="1828800"/>
                        <a:ext cx="6870700" cy="4171950"/>
                      </a:xfrm>
                      <a:prstGeom prst="rect">
                        <a:avLst/>
                      </a:prstGeom>
                      <a:noFill/>
                      <a:ln>
                        <a:noFill/>
                        <a:miter lim="800000"/>
                      </a:ln>
                      <a:effectLst/>
                    </p:spPr>
                  </p:pic>
                </p:oleObj>
              </mc:Fallback>
            </mc:AlternateContent>
          </a:graphicData>
        </a:graphic>
      </p:graphicFrame>
      <p:sp>
        <p:nvSpPr>
          <p:cNvPr id="22532" name="Rectangle 22531"/>
          <p:cNvSpPr/>
          <p:nvPr/>
        </p:nvSpPr>
        <p:spPr>
          <a:xfrm>
            <a:off x="5446713" y="5859463"/>
            <a:ext cx="1468437" cy="244475"/>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ctr" eaLnBrk="0" hangingPunct="0"/>
            <a:r>
              <a:rPr sz="1000" b="1" i="1"/>
              <a:t>Source:  Forbes 1995</a:t>
            </a:r>
          </a:p>
        </p:txBody>
      </p:sp>
      <p:sp>
        <p:nvSpPr>
          <p:cNvPr id="22533"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22534"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4577"/>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Market Maturation</a:t>
            </a:r>
          </a:p>
        </p:txBody>
      </p:sp>
      <p:sp>
        <p:nvSpPr>
          <p:cNvPr id="24579" name="Text Placeholder 24578"/>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USA is most connected</a:t>
            </a:r>
          </a:p>
          <a:p>
            <a:pPr lvl="0"/>
            <a:r>
              <a:t>Scandinavia, Benelux: mature economies, cooperative</a:t>
            </a:r>
          </a:p>
          <a:p>
            <a:pPr lvl="0"/>
            <a:r>
              <a:t>UK:  follows USA trends a year behind</a:t>
            </a:r>
          </a:p>
          <a:p>
            <a:pPr lvl="0"/>
            <a:r>
              <a:t>France: major force but insular -- 2-3 years behind USA</a:t>
            </a:r>
          </a:p>
          <a:p>
            <a:pPr lvl="0"/>
            <a:r>
              <a:t>Germany: Slow to act.  3 years behind USA</a:t>
            </a:r>
          </a:p>
          <a:p>
            <a:pPr lvl="0"/>
            <a:r>
              <a:t>Eastern Europe: fast growth on tiny base</a:t>
            </a:r>
          </a:p>
          <a:p>
            <a:pPr lvl="0"/>
            <a:r>
              <a:t>Southern EC: slow to build infrastructure </a:t>
            </a:r>
          </a:p>
        </p:txBody>
      </p:sp>
      <p:sp>
        <p:nvSpPr>
          <p:cNvPr id="24580"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24581"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6625"/>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Breaking Down Barriers</a:t>
            </a:r>
          </a:p>
        </p:txBody>
      </p:sp>
      <p:sp>
        <p:nvSpPr>
          <p:cNvPr id="26627" name="Text Placeholder 26626"/>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Past groupware systems looked inward</a:t>
            </a:r>
          </a:p>
          <a:p>
            <a:pPr lvl="0"/>
            <a:r>
              <a:t>Future groupware systems must look outward</a:t>
            </a:r>
          </a:p>
          <a:p>
            <a:pPr lvl="1"/>
            <a:r>
              <a:t>Customers</a:t>
            </a:r>
          </a:p>
          <a:p>
            <a:pPr lvl="1"/>
            <a:r>
              <a:t>Suppliers</a:t>
            </a:r>
          </a:p>
          <a:p>
            <a:pPr lvl="1"/>
            <a:r>
              <a:t>Even competitors!</a:t>
            </a:r>
          </a:p>
          <a:p>
            <a:pPr lvl="0"/>
            <a:r>
              <a:t>The Internet will enable this worldwide collaboration</a:t>
            </a:r>
          </a:p>
        </p:txBody>
      </p:sp>
      <p:pic>
        <p:nvPicPr>
          <p:cNvPr id="26628" name="Picture 26627"/>
          <p:cNvPicPr/>
          <p:nvPr/>
        </p:nvPicPr>
        <p:blipFill>
          <a:blip r:embed="rId3"/>
          <a:stretch>
            <a:fillRect/>
          </a:stretch>
        </p:blipFill>
        <p:spPr>
          <a:xfrm>
            <a:off x="3379788" y="4438650"/>
            <a:ext cx="2487612" cy="2068513"/>
          </a:xfrm>
          <a:prstGeom prst="rect">
            <a:avLst/>
          </a:prstGeom>
          <a:noFill/>
          <a:ln>
            <a:noFill/>
            <a:miter lim="800000"/>
          </a:ln>
          <a:effectLst/>
        </p:spPr>
      </p:pic>
      <p:sp>
        <p:nvSpPr>
          <p:cNvPr id="26629"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26630"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8673"/>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Crafting a Strategy</a:t>
            </a:r>
          </a:p>
        </p:txBody>
      </p:sp>
      <p:sp>
        <p:nvSpPr>
          <p:cNvPr id="28675" name="Text Placeholder 28674"/>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An enterprise groupware strategy cannot come from the IT department</a:t>
            </a:r>
          </a:p>
          <a:p>
            <a:pPr lvl="0"/>
            <a:r>
              <a:t>Beware the “squeaky wheel” -- </a:t>
            </a:r>
            <a:br/>
            <a:r>
              <a:t>think globally and long term</a:t>
            </a:r>
          </a:p>
          <a:p>
            <a:pPr lvl="0"/>
            <a:r>
              <a:t>Electronic mail is always the great equalizer and the logical “first step”</a:t>
            </a:r>
          </a:p>
          <a:p>
            <a:pPr lvl="0"/>
            <a:r>
              <a:t>Groupware is an application starting point, not the finish -- a better infrastructure is a better long-term investment </a:t>
            </a:r>
          </a:p>
        </p:txBody>
      </p:sp>
      <p:cxnSp>
        <p:nvCxnSpPr>
          <p:cNvPr id="28676" name="Straight Connector 28675"/>
          <p:cNvCxnSpPr/>
          <p:nvPr/>
        </p:nvCxnSpPr>
        <p:spPr>
          <a:xfrm flipH="1" flipV="1">
            <a:off x="7777163" y="2362200"/>
            <a:ext cx="0" cy="1295400"/>
          </a:xfrm>
          <a:prstGeom prst="line">
            <a:avLst/>
          </a:prstGeom>
          <a:noFill/>
          <a:ln w="50800">
            <a:solidFill>
              <a:schemeClr val="bg2"/>
            </a:solidFill>
            <a:miter lim="800000"/>
          </a:ln>
          <a:effectLst/>
        </p:spPr>
      </p:cxnSp>
      <p:cxnSp>
        <p:nvCxnSpPr>
          <p:cNvPr id="28677" name="Straight Connector 28676"/>
          <p:cNvCxnSpPr/>
          <p:nvPr/>
        </p:nvCxnSpPr>
        <p:spPr>
          <a:xfrm flipH="1" flipV="1">
            <a:off x="8709025" y="2362200"/>
            <a:ext cx="0" cy="1295400"/>
          </a:xfrm>
          <a:prstGeom prst="line">
            <a:avLst/>
          </a:prstGeom>
          <a:noFill/>
          <a:ln w="50800">
            <a:solidFill>
              <a:schemeClr val="bg2"/>
            </a:solidFill>
            <a:miter lim="800000"/>
          </a:ln>
          <a:effectLst/>
        </p:spPr>
      </p:cxnSp>
      <p:cxnSp>
        <p:nvCxnSpPr>
          <p:cNvPr id="28678" name="Straight Connector 28677"/>
          <p:cNvCxnSpPr/>
          <p:nvPr/>
        </p:nvCxnSpPr>
        <p:spPr>
          <a:xfrm>
            <a:off x="7467600" y="2362200"/>
            <a:ext cx="1447800" cy="0"/>
          </a:xfrm>
          <a:prstGeom prst="line">
            <a:avLst/>
          </a:prstGeom>
          <a:noFill/>
          <a:ln w="101600">
            <a:solidFill>
              <a:schemeClr val="bg2"/>
            </a:solidFill>
            <a:miter lim="800000"/>
          </a:ln>
          <a:effectLst/>
        </p:spPr>
      </p:cxnSp>
      <p:sp>
        <p:nvSpPr>
          <p:cNvPr id="28679" name="Rectangle 28678"/>
          <p:cNvSpPr/>
          <p:nvPr/>
        </p:nvSpPr>
        <p:spPr>
          <a:xfrm>
            <a:off x="7759700" y="2635250"/>
            <a:ext cx="877888" cy="274638"/>
          </a:xfrm>
          <a:prstGeom prst="rect">
            <a:avLst/>
          </a:prstGeom>
          <a:noFill/>
          <a:ln>
            <a:noFill/>
            <a:miter lim="800000"/>
          </a:ln>
          <a:effectLst/>
        </p:spPr>
        <p:txBody>
          <a:bodyPr wrap="none" lIns="92075" tIns="46038" rIns="92075" bIns="46038">
            <a:spAutoFit/>
          </a:bodyPr>
          <a:lstStyle>
            <a:defPPr>
              <a:defRPr lang="en-US"/>
            </a:defPPr>
            <a:lvl1pPr marL="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1pPr>
            <a:lvl2pPr marL="4572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2pPr>
            <a:lvl3pPr marL="9144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3pPr>
            <a:lvl4pPr marL="13716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4pPr>
            <a:lvl5pPr marL="1828800" indent="0" algn="l" defTabSz="914400" rtl="0" eaLnBrk="1" fontAlgn="base" hangingPunct="1">
              <a:lnSpc>
                <a:spcPct val="100000"/>
              </a:lnSpc>
              <a:spcBef>
                <a:spcPct val="0"/>
              </a:spcBef>
              <a:spcAft>
                <a:spcPct val="0"/>
              </a:spcAft>
              <a:buClrTx/>
              <a:buSzTx/>
              <a:buFontTx/>
              <a:buNone/>
              <a:defRPr kumimoji="0" lang="en-US" altLang="en-US" sz="1800" b="0" i="0" u="none" baseline="0">
                <a:solidFill>
                  <a:schemeClr val="tx1"/>
                </a:solidFill>
                <a:effectLst/>
                <a:latin typeface="Arial" pitchFamily="34" charset="0"/>
                <a:ea typeface="Arial" pitchFamily="34" charset="0"/>
              </a:defRPr>
            </a:lvl5pPr>
          </a:lstStyle>
          <a:p>
            <a:pPr lvl="0" algn="ctr" eaLnBrk="0" hangingPunct="0"/>
            <a:r>
              <a:rPr sz="1200" b="1">
                <a:solidFill>
                  <a:schemeClr val="tx2"/>
                </a:solidFill>
              </a:rPr>
              <a:t>President</a:t>
            </a:r>
          </a:p>
        </p:txBody>
      </p:sp>
      <p:sp>
        <p:nvSpPr>
          <p:cNvPr id="28680"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28681"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30721"/>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Setting Requirements</a:t>
            </a:r>
          </a:p>
        </p:txBody>
      </p:sp>
      <p:sp>
        <p:nvSpPr>
          <p:cNvPr id="30723" name="Text Placeholder 30722"/>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Scalability</a:t>
            </a:r>
          </a:p>
          <a:p>
            <a:pPr lvl="0"/>
            <a:r>
              <a:t>Platform and network breadth</a:t>
            </a:r>
          </a:p>
          <a:p>
            <a:pPr lvl="0"/>
            <a:r>
              <a:t>Open standards</a:t>
            </a:r>
          </a:p>
          <a:p>
            <a:pPr lvl="0"/>
            <a:r>
              <a:t>Internet awareness</a:t>
            </a:r>
          </a:p>
          <a:p>
            <a:pPr lvl="0"/>
            <a:r>
              <a:t>Application extensibility</a:t>
            </a:r>
          </a:p>
        </p:txBody>
      </p:sp>
      <p:pic>
        <p:nvPicPr>
          <p:cNvPr id="30724" name="Picture 30723"/>
          <p:cNvPicPr/>
          <p:nvPr/>
        </p:nvPicPr>
        <p:blipFill>
          <a:blip r:embed="rId3"/>
          <a:stretch>
            <a:fillRect/>
          </a:stretch>
        </p:blipFill>
        <p:spPr>
          <a:xfrm>
            <a:off x="6310313" y="2098675"/>
            <a:ext cx="2384425" cy="1847850"/>
          </a:xfrm>
          <a:prstGeom prst="rect">
            <a:avLst/>
          </a:prstGeom>
          <a:noFill/>
          <a:ln>
            <a:noFill/>
            <a:miter lim="800000"/>
          </a:ln>
          <a:effectLst/>
        </p:spPr>
      </p:pic>
      <p:sp>
        <p:nvSpPr>
          <p:cNvPr id="30725"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30726"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2769"/>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Best Practices</a:t>
            </a:r>
          </a:p>
        </p:txBody>
      </p:sp>
      <p:sp>
        <p:nvSpPr>
          <p:cNvPr id="32771" name="Text Placeholder 32770"/>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lnSpc>
                <a:spcPct val="150000"/>
              </a:lnSpc>
            </a:pPr>
            <a:r>
              <a:t>Technologically Sophisticated</a:t>
            </a:r>
          </a:p>
          <a:p>
            <a:pPr lvl="0">
              <a:lnSpc>
                <a:spcPct val="150000"/>
              </a:lnSpc>
            </a:pPr>
            <a:r>
              <a:t>Organizationally Sophisticated</a:t>
            </a:r>
          </a:p>
          <a:p>
            <a:pPr lvl="0">
              <a:lnSpc>
                <a:spcPct val="150000"/>
              </a:lnSpc>
            </a:pPr>
            <a:r>
              <a:t>Both</a:t>
            </a:r>
          </a:p>
        </p:txBody>
      </p:sp>
      <p:pic>
        <p:nvPicPr>
          <p:cNvPr id="32772" name="Picture 32771"/>
          <p:cNvPicPr/>
          <p:nvPr/>
        </p:nvPicPr>
        <p:blipFill>
          <a:blip r:embed="rId3"/>
          <a:stretch>
            <a:fillRect/>
          </a:stretch>
        </p:blipFill>
        <p:spPr>
          <a:xfrm>
            <a:off x="5583238" y="3810000"/>
            <a:ext cx="2998787" cy="1973263"/>
          </a:xfrm>
          <a:prstGeom prst="rect">
            <a:avLst/>
          </a:prstGeom>
          <a:noFill/>
          <a:ln>
            <a:noFill/>
            <a:miter lim="800000"/>
          </a:ln>
          <a:effectLst/>
        </p:spPr>
      </p:pic>
      <p:sp>
        <p:nvSpPr>
          <p:cNvPr id="32773"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32774"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4817"/>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What About ROI?</a:t>
            </a:r>
          </a:p>
        </p:txBody>
      </p:sp>
      <p:sp>
        <p:nvSpPr>
          <p:cNvPr id="34819" name="Text Placeholder 34818"/>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ROI: Return On Investment</a:t>
            </a:r>
          </a:p>
          <a:p>
            <a:pPr lvl="0"/>
            <a:r>
              <a:t>Hard to quantify</a:t>
            </a:r>
          </a:p>
          <a:p>
            <a:pPr lvl="0"/>
            <a:r>
              <a:t>Easy to identify the trends</a:t>
            </a:r>
          </a:p>
          <a:p>
            <a:pPr lvl="1"/>
            <a:r>
              <a:t>1.1 million US secretarial jobs disappeared since 1985</a:t>
            </a:r>
          </a:p>
          <a:p>
            <a:pPr lvl="1"/>
            <a:r>
              <a:t>Very few white collar workers still have personal support in the U.S.</a:t>
            </a:r>
          </a:p>
          <a:p>
            <a:pPr lvl="0"/>
            <a:r>
              <a:t>Many take a broad view of </a:t>
            </a:r>
            <a:r>
              <a:rPr i="1"/>
              <a:t>productivity</a:t>
            </a:r>
          </a:p>
          <a:p>
            <a:pPr lvl="1"/>
            <a:r>
              <a:t>Example: Revenues per employee</a:t>
            </a:r>
          </a:p>
        </p:txBody>
      </p:sp>
      <p:pic>
        <p:nvPicPr>
          <p:cNvPr id="34820" name="Picture 34819"/>
          <p:cNvPicPr/>
          <p:nvPr/>
        </p:nvPicPr>
        <p:blipFill>
          <a:blip r:embed="rId3"/>
          <a:stretch>
            <a:fillRect/>
          </a:stretch>
        </p:blipFill>
        <p:spPr>
          <a:xfrm>
            <a:off x="6858000" y="674688"/>
            <a:ext cx="2124075" cy="1687512"/>
          </a:xfrm>
          <a:prstGeom prst="rect">
            <a:avLst/>
          </a:prstGeom>
          <a:noFill/>
          <a:ln>
            <a:noFill/>
            <a:miter lim="800000"/>
          </a:ln>
          <a:effectLst/>
        </p:spPr>
      </p:pic>
      <p:sp>
        <p:nvSpPr>
          <p:cNvPr id="34821"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34822"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6865"/>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Ideal Groupware</a:t>
            </a:r>
          </a:p>
        </p:txBody>
      </p:sp>
      <p:sp>
        <p:nvSpPr>
          <p:cNvPr id="36867" name="Text Placeholder 36866"/>
          <p:cNvSpPr>
            <a:spLocks noGrp="1"/>
          </p:cNvSpPr>
          <p:nvPr>
            <p:ph type="body" sz="half" idx="1"/>
          </p:nvPr>
        </p:nvSpPr>
        <p:spPr>
          <a:xfrm>
            <a:off x="1152525" y="1828800"/>
            <a:ext cx="387667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0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200" b="0" i="1" u="none" baseline="0">
                <a:solidFill>
                  <a:schemeClr val="tx1"/>
                </a:solidFill>
                <a:effectLst/>
                <a:latin typeface="Arial" pitchFamily="34" charset="0"/>
                <a:ea typeface="Arial" pitchFamily="34" charset="0"/>
              </a:defRPr>
            </a:lvl5pPr>
          </a:lstStyle>
          <a:p>
            <a:pPr lvl="0">
              <a:lnSpc>
                <a:spcPct val="120000"/>
              </a:lnSpc>
            </a:pPr>
            <a:r>
              <a:t>Portable (2 meanings)</a:t>
            </a:r>
          </a:p>
          <a:p>
            <a:pPr lvl="0">
              <a:lnSpc>
                <a:spcPct val="120000"/>
              </a:lnSpc>
            </a:pPr>
            <a:r>
              <a:t>High-performance</a:t>
            </a:r>
          </a:p>
          <a:p>
            <a:pPr lvl="0">
              <a:lnSpc>
                <a:spcPct val="120000"/>
              </a:lnSpc>
            </a:pPr>
            <a:r>
              <a:t>Scalability</a:t>
            </a:r>
          </a:p>
          <a:p>
            <a:pPr lvl="0">
              <a:lnSpc>
                <a:spcPct val="120000"/>
              </a:lnSpc>
            </a:pPr>
            <a:r>
              <a:t>Effective user interface</a:t>
            </a:r>
          </a:p>
          <a:p>
            <a:pPr lvl="0">
              <a:lnSpc>
                <a:spcPct val="120000"/>
              </a:lnSpc>
            </a:pPr>
            <a:r>
              <a:t>Efficient protocols</a:t>
            </a:r>
          </a:p>
          <a:p>
            <a:pPr lvl="0">
              <a:lnSpc>
                <a:spcPct val="120000"/>
              </a:lnSpc>
            </a:pPr>
            <a:r>
              <a:t>Distributed management</a:t>
            </a:r>
          </a:p>
          <a:p>
            <a:pPr lvl="0">
              <a:lnSpc>
                <a:spcPct val="120000"/>
              </a:lnSpc>
            </a:pPr>
            <a:r>
              <a:t>Distributed security</a:t>
            </a:r>
          </a:p>
          <a:p>
            <a:pPr lvl="0">
              <a:lnSpc>
                <a:spcPct val="120000"/>
              </a:lnSpc>
            </a:pPr>
            <a:r>
              <a:t>Legacy interoperability</a:t>
            </a:r>
          </a:p>
        </p:txBody>
      </p:sp>
      <p:pic>
        <p:nvPicPr>
          <p:cNvPr id="36868" name="Picture 36867"/>
          <p:cNvPicPr/>
          <p:nvPr/>
        </p:nvPicPr>
        <p:blipFill>
          <a:blip r:embed="rId3"/>
          <a:stretch>
            <a:fillRect/>
          </a:stretch>
        </p:blipFill>
        <p:spPr>
          <a:xfrm>
            <a:off x="4876800" y="2146300"/>
            <a:ext cx="3800475" cy="2252663"/>
          </a:xfrm>
          <a:prstGeom prst="rect">
            <a:avLst/>
          </a:prstGeom>
          <a:noFill/>
          <a:ln>
            <a:noFill/>
            <a:miter lim="800000"/>
          </a:ln>
          <a:effectLst/>
        </p:spPr>
      </p:pic>
      <p:sp>
        <p:nvSpPr>
          <p:cNvPr id="36869" name="Date Placeholder 4"/>
          <p:cNvSpPr>
            <a:spLocks noGrp="1"/>
          </p:cNvSpPr>
          <p:nvPr>
            <p:ph type="dt" sz="half" idx="10"/>
          </p:nvPr>
        </p:nvSpPr>
        <p:spPr/>
        <p:txBody>
          <a:bodyPr/>
          <a:lstStyle/>
          <a:p>
            <a:pPr lvl="0" eaLnBrk="0" hangingPunct="0"/>
            <a:endParaRPr sz="1400">
              <a:latin typeface="Times New Roman" pitchFamily="18" charset="0"/>
            </a:endParaRPr>
          </a:p>
        </p:txBody>
      </p:sp>
      <p:sp>
        <p:nvSpPr>
          <p:cNvPr id="36870" name="Footer Placeholder 5"/>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8913"/>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Oracle’s InterOffice</a:t>
            </a:r>
          </a:p>
        </p:txBody>
      </p:sp>
      <p:sp>
        <p:nvSpPr>
          <p:cNvPr id="38915" name="Text Placeholder 38914"/>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Takes a server-centric view of groupware</a:t>
            </a:r>
          </a:p>
          <a:p>
            <a:pPr lvl="0"/>
            <a:r>
              <a:t>Provides a wide variety of standards across a wide variety of platforms</a:t>
            </a:r>
          </a:p>
          <a:p>
            <a:pPr lvl="0"/>
            <a:r>
              <a:t>Extends the traditional group model to the World: customers; suppliers; competitors</a:t>
            </a:r>
          </a:p>
          <a:p>
            <a:pPr lvl="0"/>
            <a:r>
              <a:t>Internet- and Intranet-ready</a:t>
            </a:r>
          </a:p>
          <a:p>
            <a:pPr lvl="0"/>
            <a:r>
              <a:t>Groupware-enables specific applications with e-mail, workflow, etc.</a:t>
            </a:r>
          </a:p>
          <a:p>
            <a:pPr lvl="0"/>
            <a:r>
              <a:t>Oracle’s InterOffice integration leads the market by 6 - 12 months</a:t>
            </a:r>
          </a:p>
        </p:txBody>
      </p:sp>
      <p:sp>
        <p:nvSpPr>
          <p:cNvPr id="38916"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38917"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0961"/>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InterOffice </a:t>
            </a:r>
            <a:br/>
            <a:r>
              <a:t>Groupware Features</a:t>
            </a:r>
          </a:p>
        </p:txBody>
      </p:sp>
      <p:grpSp>
        <p:nvGrpSpPr>
          <p:cNvPr id="40965" name="Group 40964"/>
          <p:cNvGrpSpPr/>
          <p:nvPr/>
        </p:nvGrpSpPr>
        <p:grpSpPr>
          <a:xfrm>
            <a:off x="1066800" y="2198688"/>
            <a:ext cx="7620000" cy="3440112"/>
            <a:chOff x="672" y="1385"/>
            <a:chExt cx="4800" cy="2167"/>
          </a:xfrm>
        </p:grpSpPr>
        <p:graphicFrame>
          <p:nvGraphicFramePr>
            <p:cNvPr id="40963" name="Object 40962"/>
            <p:cNvGraphicFramePr/>
            <p:nvPr/>
          </p:nvGraphicFramePr>
          <p:xfrm>
            <a:off x="672" y="1385"/>
            <a:ext cx="4791" cy="2167"/>
          </p:xfrm>
          <a:graphic>
            <a:graphicData uri="http://schemas.openxmlformats.org/presentationml/2006/ole">
              <mc:AlternateContent xmlns:mc="http://schemas.openxmlformats.org/markup-compatibility/2006">
                <mc:Choice xmlns:v="urn:schemas-microsoft-com:vml" Requires="v">
                  <p:oleObj name="Document" r:id="rId3" imgW="7605712" imgH="3440112" progId="Word.Document.6">
                    <p:embed/>
                  </p:oleObj>
                </mc:Choice>
                <mc:Fallback>
                  <p:oleObj name="Document" r:id="rId3" imgW="7605712" imgH="3440112" progId="Word.Document.6">
                    <p:embed/>
                    <p:pic>
                      <p:nvPicPr>
                        <p:cNvPr id="0" name="OLE substitute image"/>
                        <p:cNvPicPr/>
                        <p:nvPr/>
                      </p:nvPicPr>
                      <p:blipFill>
                        <a:blip r:embed="rId4"/>
                        <a:stretch>
                          <a:fillRect/>
                        </a:stretch>
                      </p:blipFill>
                      <p:spPr>
                        <a:xfrm>
                          <a:off x="672" y="1385"/>
                          <a:ext cx="4791" cy="2167"/>
                        </a:xfrm>
                        <a:prstGeom prst="rect">
                          <a:avLst/>
                        </a:prstGeom>
                        <a:noFill/>
                        <a:ln>
                          <a:noFill/>
                          <a:miter lim="800000"/>
                        </a:ln>
                        <a:effectLst/>
                      </p:spPr>
                    </p:pic>
                  </p:oleObj>
                </mc:Fallback>
              </mc:AlternateContent>
            </a:graphicData>
          </a:graphic>
        </p:graphicFrame>
        <p:cxnSp>
          <p:nvCxnSpPr>
            <p:cNvPr id="40964" name="Straight Connector 40963"/>
            <p:cNvCxnSpPr/>
            <p:nvPr/>
          </p:nvCxnSpPr>
          <p:spPr>
            <a:xfrm flipH="1">
              <a:off x="5472" y="1392"/>
              <a:ext cx="0" cy="2016"/>
            </a:xfrm>
            <a:prstGeom prst="line">
              <a:avLst/>
            </a:prstGeom>
            <a:noFill/>
            <a:ln w="12700">
              <a:solidFill>
                <a:schemeClr val="tx1"/>
              </a:solidFill>
              <a:miter lim="800000"/>
            </a:ln>
            <a:effectLst/>
          </p:spPr>
        </p:cxnSp>
      </p:grpSp>
      <p:sp>
        <p:nvSpPr>
          <p:cNvPr id="40966" name="Date Placeholder 2"/>
          <p:cNvSpPr>
            <a:spLocks noGrp="1"/>
          </p:cNvSpPr>
          <p:nvPr>
            <p:ph type="dt" sz="half" idx="10"/>
          </p:nvPr>
        </p:nvSpPr>
        <p:spPr/>
        <p:txBody>
          <a:bodyPr/>
          <a:lstStyle/>
          <a:p>
            <a:pPr lvl="0" eaLnBrk="0" hangingPunct="0"/>
            <a:endParaRPr sz="1400">
              <a:latin typeface="Times New Roman" pitchFamily="18" charset="0"/>
            </a:endParaRPr>
          </a:p>
        </p:txBody>
      </p:sp>
      <p:sp>
        <p:nvSpPr>
          <p:cNvPr id="40967" name="Footer Placeholder 3"/>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43009"/>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t>InterOffice</a:t>
            </a:r>
            <a:br/>
            <a:r>
              <a:t>Architecture</a:t>
            </a:r>
          </a:p>
        </p:txBody>
      </p:sp>
      <p:graphicFrame>
        <p:nvGraphicFramePr>
          <p:cNvPr id="43011" name="Object 43010"/>
          <p:cNvGraphicFramePr/>
          <p:nvPr/>
        </p:nvGraphicFramePr>
        <p:xfrm>
          <a:off x="600075" y="1828800"/>
          <a:ext cx="8229600" cy="4095750"/>
        </p:xfrm>
        <a:graphic>
          <a:graphicData uri="http://schemas.openxmlformats.org/presentationml/2006/ole">
            <mc:AlternateContent xmlns:mc="http://schemas.openxmlformats.org/markup-compatibility/2006">
              <mc:Choice xmlns:v="urn:schemas-microsoft-com:vml" Requires="v">
                <p:oleObj name="Document" r:id="rId3" imgW="8229600" imgH="4095750" progId="Word.Document.6">
                  <p:embed/>
                </p:oleObj>
              </mc:Choice>
              <mc:Fallback>
                <p:oleObj name="Document" r:id="rId3" imgW="8229600" imgH="4095750" progId="Word.Document.6">
                  <p:embed/>
                  <p:pic>
                    <p:nvPicPr>
                      <p:cNvPr id="0" name="OLE substitute image"/>
                      <p:cNvPicPr/>
                      <p:nvPr/>
                    </p:nvPicPr>
                    <p:blipFill>
                      <a:blip r:embed="rId4"/>
                      <a:stretch>
                        <a:fillRect/>
                      </a:stretch>
                    </p:blipFill>
                    <p:spPr>
                      <a:xfrm>
                        <a:off x="600075" y="1828800"/>
                        <a:ext cx="8229600" cy="4095750"/>
                      </a:xfrm>
                      <a:prstGeom prst="rect">
                        <a:avLst/>
                      </a:prstGeom>
                      <a:noFill/>
                      <a:ln>
                        <a:noFill/>
                        <a:miter lim="800000"/>
                      </a:ln>
                      <a:effectLst/>
                    </p:spPr>
                  </p:pic>
                </p:oleObj>
              </mc:Fallback>
            </mc:AlternateContent>
          </a:graphicData>
        </a:graphic>
      </p:graphicFrame>
      <p:sp>
        <p:nvSpPr>
          <p:cNvPr id="43012" name="Date Placeholder 2"/>
          <p:cNvSpPr>
            <a:spLocks noGrp="1"/>
          </p:cNvSpPr>
          <p:nvPr>
            <p:ph type="dt" sz="half" idx="10"/>
          </p:nvPr>
        </p:nvSpPr>
        <p:spPr/>
        <p:txBody>
          <a:bodyPr/>
          <a:lstStyle/>
          <a:p>
            <a:pPr lvl="0" eaLnBrk="0" hangingPunct="0"/>
            <a:endParaRPr sz="1400">
              <a:latin typeface="Times New Roman" pitchFamily="18" charset="0"/>
            </a:endParaRPr>
          </a:p>
        </p:txBody>
      </p:sp>
      <p:sp>
        <p:nvSpPr>
          <p:cNvPr id="43013" name="Footer Placeholder 3"/>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5057"/>
          <p:cNvSpPr>
            <a:spLocks noGrp="1"/>
          </p:cNvSpPr>
          <p:nvPr>
            <p:ph type="title"/>
          </p:nvPr>
        </p:nvSpPr>
        <p:spPr>
          <a:xfrm>
            <a:off x="1189038" y="228600"/>
            <a:ext cx="6842125" cy="1143000"/>
          </a:xfrm>
          <a:noFill/>
          <a:ln>
            <a:noFill/>
            <a:miter lim="800000"/>
          </a:ln>
          <a:effectLst/>
        </p:spPr>
        <p:txBody>
          <a:bodyPr vert="horz" wrap="square" lIns="92075" tIns="46038" rIns="92075" bIns="46038" anchor="b" anchorCtr="0">
            <a:noAutofit/>
          </a:bodyPr>
          <a:lstStyle>
            <a:lvl1pPr marL="0" indent="0" algn="ctr" defTabSz="914400" rtl="0" eaLnBrk="0" fontAlgn="base" hangingPunct="0">
              <a:lnSpc>
                <a:spcPct val="100000"/>
              </a:lnSpc>
              <a:spcBef>
                <a:spcPct val="0"/>
              </a:spcBef>
              <a:spcAft>
                <a:spcPct val="0"/>
              </a:spcAft>
              <a:buClrTx/>
              <a:buSzTx/>
              <a:buFontTx/>
              <a:buNone/>
              <a:defRPr kumimoji="0" lang="en-US" altLang="en-US" sz="4000" b="1" i="0" u="none" baseline="0">
                <a:solidFill>
                  <a:schemeClr val="tx2"/>
                </a:solidFill>
                <a:effectLst/>
                <a:latin typeface="Arial" pitchFamily="34" charset="0"/>
                <a:ea typeface="Arial" pitchFamily="34" charset="0"/>
              </a:defRPr>
            </a:lvl1pPr>
          </a:lstStyle>
          <a:p>
            <a:pPr lvl="0"/>
            <a:r>
              <a:rPr sz="3600"/>
              <a:t>Aberdeen Conclusions</a:t>
            </a:r>
          </a:p>
        </p:txBody>
      </p:sp>
      <p:sp>
        <p:nvSpPr>
          <p:cNvPr id="45059" name="Text Placeholder 45058"/>
          <p:cNvSpPr>
            <a:spLocks noGrp="1"/>
          </p:cNvSpPr>
          <p:nvPr>
            <p:ph type="body" idx="1"/>
          </p:nvPr>
        </p:nvSpPr>
        <p:spPr>
          <a:xfrm>
            <a:off x="1152525" y="1828800"/>
            <a:ext cx="6892925" cy="4191000"/>
          </a:xfrm>
          <a:noFill/>
          <a:ln>
            <a:noFill/>
            <a:miter lim="800000"/>
          </a:ln>
          <a:effectLst/>
        </p:spPr>
        <p:txBody>
          <a:bodyPr vert="horz" wrap="square" lIns="92075" tIns="46038" rIns="92075" bIns="46038" anchor="t" anchorCtr="0">
            <a:noAutofit/>
          </a:bodyPr>
          <a:lstStyle>
            <a:lvl1pPr marL="342900" indent="-342900" algn="l" defTabSz="914400" rtl="0" eaLnBrk="0" fontAlgn="base" hangingPunct="0">
              <a:lnSpc>
                <a:spcPct val="100000"/>
              </a:lnSpc>
              <a:spcBef>
                <a:spcPct val="20000"/>
              </a:spcBef>
              <a:spcAft>
                <a:spcPct val="0"/>
              </a:spcAft>
              <a:buClr>
                <a:schemeClr val="tx1"/>
              </a:buClr>
              <a:buSzPct val="75000"/>
              <a:buFont typeface="Monotype Sorts" charset="0"/>
              <a:buChar char="n"/>
              <a:defRPr kumimoji="0" lang="en-US" altLang="en-US" sz="2400" b="1" i="0" u="none" baseline="0">
                <a:solidFill>
                  <a:schemeClr val="tx1"/>
                </a:solidFill>
                <a:effectLst/>
                <a:latin typeface="Arial" pitchFamily="34" charset="0"/>
                <a:ea typeface="Arial" pitchFamily="34" charset="0"/>
              </a:defRPr>
            </a:lvl1pPr>
            <a:lvl2pPr marL="742950" indent="-285750" algn="l" defTabSz="914400" rtl="0" eaLnBrk="0" fontAlgn="base" hangingPunct="0">
              <a:lnSpc>
                <a:spcPct val="100000"/>
              </a:lnSpc>
              <a:spcBef>
                <a:spcPct val="20000"/>
              </a:spcBef>
              <a:spcAft>
                <a:spcPct val="0"/>
              </a:spcAft>
              <a:buClr>
                <a:schemeClr val="tx1"/>
              </a:buClr>
              <a:buSzTx/>
              <a:buFontTx/>
              <a:buChar char="•"/>
              <a:defRPr kumimoji="0" lang="en-US" altLang="en-US" sz="2000" b="1" i="0" u="none" baseline="0">
                <a:solidFill>
                  <a:schemeClr val="tx1"/>
                </a:solidFill>
                <a:effectLst/>
                <a:latin typeface="Arial" pitchFamily="34" charset="0"/>
                <a:ea typeface="Arial" pitchFamily="34" charset="0"/>
              </a:defRPr>
            </a:lvl2pPr>
            <a:lvl3pPr marL="1143000" indent="-228600" algn="l" defTabSz="914400" rtl="0" eaLnBrk="0" fontAlgn="base" hangingPunct="0">
              <a:lnSpc>
                <a:spcPct val="100000"/>
              </a:lnSpc>
              <a:spcBef>
                <a:spcPct val="20000"/>
              </a:spcBef>
              <a:spcAft>
                <a:spcPct val="0"/>
              </a:spcAft>
              <a:buClr>
                <a:schemeClr val="tx1"/>
              </a:buClr>
              <a:buSzTx/>
              <a:buFontTx/>
              <a:buChar char="–"/>
              <a:defRPr kumimoji="0" lang="en-US" altLang="en-US" sz="1800" b="1" i="0" u="none" baseline="0">
                <a:solidFill>
                  <a:schemeClr val="tx1"/>
                </a:solidFill>
                <a:effectLst/>
                <a:latin typeface="Arial" pitchFamily="34" charset="0"/>
                <a:ea typeface="Arial" pitchFamily="34" charset="0"/>
              </a:defRPr>
            </a:lvl3pPr>
            <a:lvl4pPr marL="1600200" indent="-228600" algn="l" defTabSz="914400" rtl="0" eaLnBrk="0" fontAlgn="base" hangingPunct="0">
              <a:lnSpc>
                <a:spcPct val="100000"/>
              </a:lnSpc>
              <a:spcBef>
                <a:spcPct val="20000"/>
              </a:spcBef>
              <a:spcAft>
                <a:spcPct val="0"/>
              </a:spcAft>
              <a:buClr>
                <a:schemeClr val="tx1"/>
              </a:buClr>
              <a:buSzTx/>
              <a:buFontTx/>
              <a:buChar char="•"/>
              <a:defRPr kumimoji="0" lang="en-US" altLang="en-US" sz="1600" b="0" i="1" u="none" baseline="0">
                <a:solidFill>
                  <a:schemeClr val="tx1"/>
                </a:solidFill>
                <a:effectLst/>
                <a:latin typeface="Arial" pitchFamily="34" charset="0"/>
                <a:ea typeface="Arial" pitchFamily="34" charset="0"/>
              </a:defRPr>
            </a:lvl4pPr>
            <a:lvl5pPr marL="2057400" indent="-228600" algn="l" defTabSz="914400" rtl="0" eaLnBrk="0" fontAlgn="base" hangingPunct="0">
              <a:lnSpc>
                <a:spcPct val="100000"/>
              </a:lnSpc>
              <a:spcBef>
                <a:spcPct val="20000"/>
              </a:spcBef>
              <a:spcAft>
                <a:spcPct val="0"/>
              </a:spcAft>
              <a:buClr>
                <a:schemeClr val="tx1"/>
              </a:buClr>
              <a:buSzTx/>
              <a:buFontTx/>
              <a:buChar char="–"/>
              <a:defRPr kumimoji="0" lang="en-US" altLang="en-US" sz="1400" b="0" i="1" u="none" baseline="0">
                <a:solidFill>
                  <a:schemeClr val="tx1"/>
                </a:solidFill>
                <a:effectLst/>
                <a:latin typeface="Arial" pitchFamily="34" charset="0"/>
                <a:ea typeface="Arial" pitchFamily="34" charset="0"/>
              </a:defRPr>
            </a:lvl5pPr>
          </a:lstStyle>
          <a:p>
            <a:pPr lvl="0"/>
            <a:r>
              <a:t>Buying groupware for a workgroup is short-sighted</a:t>
            </a:r>
          </a:p>
          <a:p>
            <a:pPr lvl="0"/>
            <a:r>
              <a:t>The Internet will expand collaboration outside the enterprise while Intranets create a web inside organizations</a:t>
            </a:r>
          </a:p>
          <a:p>
            <a:pPr lvl="0"/>
            <a:r>
              <a:t>A sound technology infrastructure is needed to cope with anticipated new technology leading to new organizational efficiencies (i.e., video conferencing)</a:t>
            </a:r>
          </a:p>
          <a:p>
            <a:pPr lvl="0"/>
            <a:r>
              <a:t>Traditional groupware products may lack the stamina to transition outside the workgroup/department</a:t>
            </a:r>
          </a:p>
        </p:txBody>
      </p:sp>
      <p:sp>
        <p:nvSpPr>
          <p:cNvPr id="45060" name="Date Placeholder 3"/>
          <p:cNvSpPr>
            <a:spLocks noGrp="1"/>
          </p:cNvSpPr>
          <p:nvPr>
            <p:ph type="dt" sz="half" idx="10"/>
          </p:nvPr>
        </p:nvSpPr>
        <p:spPr/>
        <p:txBody>
          <a:bodyPr/>
          <a:lstStyle/>
          <a:p>
            <a:pPr lvl="0" eaLnBrk="0" hangingPunct="0"/>
            <a:endParaRPr sz="1400">
              <a:latin typeface="Times New Roman" pitchFamily="18" charset="0"/>
            </a:endParaRPr>
          </a:p>
        </p:txBody>
      </p:sp>
      <p:sp>
        <p:nvSpPr>
          <p:cNvPr id="45061" name="Footer Placeholder 4"/>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7105"/>
          <p:cNvPicPr/>
          <p:nvPr/>
        </p:nvPicPr>
        <p:blipFill>
          <a:blip r:embed="rId3"/>
          <a:stretch>
            <a:fillRect/>
          </a:stretch>
        </p:blipFill>
        <p:spPr>
          <a:xfrm>
            <a:off x="2695575" y="2019300"/>
            <a:ext cx="4081463" cy="4216400"/>
          </a:xfrm>
          <a:prstGeom prst="rect">
            <a:avLst/>
          </a:prstGeom>
          <a:noFill/>
          <a:ln>
            <a:noFill/>
            <a:miter lim="800000"/>
          </a:ln>
          <a:effectLst/>
        </p:spPr>
      </p:pic>
      <p:sp>
        <p:nvSpPr>
          <p:cNvPr id="47107" name="Date Placeholder 1"/>
          <p:cNvSpPr>
            <a:spLocks noGrp="1"/>
          </p:cNvSpPr>
          <p:nvPr>
            <p:ph type="dt" sz="half" idx="10"/>
          </p:nvPr>
        </p:nvSpPr>
        <p:spPr/>
        <p:txBody>
          <a:bodyPr/>
          <a:lstStyle/>
          <a:p>
            <a:pPr lvl="0" eaLnBrk="0" hangingPunct="0"/>
            <a:endParaRPr sz="1400">
              <a:latin typeface="Times New Roman" pitchFamily="18" charset="0"/>
            </a:endParaRPr>
          </a:p>
        </p:txBody>
      </p:sp>
      <p:sp>
        <p:nvSpPr>
          <p:cNvPr id="47108" name="Footer Placeholder 2"/>
          <p:cNvSpPr>
            <a:spLocks noGrp="1"/>
          </p:cNvSpPr>
          <p:nvPr>
            <p:ph type="ftr" sz="quarter" idx="11"/>
          </p:nvPr>
        </p:nvSpPr>
        <p:spPr/>
        <p:txBody>
          <a:bodyPr/>
          <a:lstStyle/>
          <a:p>
            <a:pPr lvl="0" algn="ctr" eaLnBrk="0" hangingPunct="0"/>
            <a:endParaRPr sz="1400">
              <a:latin typeface="Times New Roman" pitchFamily="18"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0.06.14"/>
  <p:tag name="AS_TITLE" val="Aspose.Slides for .NET 2.0"/>
  <p:tag name="AS_VERSION" val="20.6"/>
</p:tagLst>
</file>

<file path=ppt/theme/theme1.xml><?xml version="1.0" encoding="utf-8"?>
<a:theme xmlns:a="http://schemas.openxmlformats.org/drawingml/2006/main" name="Internet Overview">
  <a:themeElements>
    <a:clrScheme name="Internet Overview 8">
      <a:dk1>
        <a:srgbClr val="790015"/>
      </a:dk1>
      <a:lt1>
        <a:srgbClr val="FDE3BA"/>
      </a:lt1>
      <a:dk2>
        <a:srgbClr val="000000"/>
      </a:dk2>
      <a:lt2>
        <a:srgbClr val="F6BF69"/>
      </a:lt2>
      <a:accent1>
        <a:srgbClr val="F57B49"/>
      </a:accent1>
      <a:accent2>
        <a:srgbClr val="FFA27C"/>
      </a:accent2>
      <a:accent3>
        <a:srgbClr val="9BBB59"/>
      </a:accent3>
      <a:accent4>
        <a:srgbClr val="8064A2"/>
      </a:accent4>
      <a:accent5>
        <a:srgbClr val="4BACC6"/>
      </a:accent5>
      <a:accent6>
        <a:srgbClr val="F79646"/>
      </a:accent6>
      <a:hlink>
        <a:srgbClr val="00B7A5"/>
      </a:hlink>
      <a:folHlink>
        <a:srgbClr val="FFFFFF"/>
      </a:folHlink>
    </a:clrScheme>
    <a:fontScheme name="Internet Overview">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nternet Overview 1">
        <a:dk1>
          <a:srgbClr val="000000"/>
        </a:dk1>
        <a:lt1>
          <a:srgbClr val="FFFFFF"/>
        </a:lt1>
        <a:dk2>
          <a:srgbClr val="000000"/>
        </a:dk2>
        <a:lt2>
          <a:srgbClr val="969696"/>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ernet Overview 2">
        <a:dk1>
          <a:srgbClr val="000000"/>
        </a:dk1>
        <a:lt1>
          <a:srgbClr val="FFFFFF"/>
        </a:lt1>
        <a:dk2>
          <a:srgbClr val="0000FF"/>
        </a:dk2>
        <a:lt2>
          <a:srgbClr val="FFFF00"/>
        </a:lt2>
        <a:accent1>
          <a:srgbClr val="FF9900"/>
        </a:accent1>
        <a:accent2>
          <a:srgbClr val="00FFFF"/>
        </a:accent2>
        <a:accent3>
          <a:srgbClr val="9BBB59"/>
        </a:accent3>
        <a:accent4>
          <a:srgbClr val="8064A2"/>
        </a:accent4>
        <a:accent5>
          <a:srgbClr val="4BACC6"/>
        </a:accent5>
        <a:accent6>
          <a:srgbClr val="F79646"/>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ernet Overview 3">
        <a:dk1>
          <a:srgbClr val="000000"/>
        </a:dk1>
        <a:lt1>
          <a:srgbClr val="FFFFCC"/>
        </a:lt1>
        <a:dk2>
          <a:srgbClr val="808000"/>
        </a:dk2>
        <a:lt2>
          <a:srgbClr val="999933"/>
        </a:lt2>
        <a:accent1>
          <a:srgbClr val="339933"/>
        </a:accent1>
        <a:accent2>
          <a:srgbClr val="800000"/>
        </a:accent2>
        <a:accent3>
          <a:srgbClr val="9BBB59"/>
        </a:accent3>
        <a:accent4>
          <a:srgbClr val="8064A2"/>
        </a:accent4>
        <a:accent5>
          <a:srgbClr val="4BACC6"/>
        </a:accent5>
        <a:accent6>
          <a:srgbClr val="F79646"/>
        </a:accent6>
        <a:hlink>
          <a:srgbClr val="0033CC"/>
        </a:hlink>
        <a:folHlink>
          <a:srgbClr val="FFCC66"/>
        </a:folHlink>
      </a:clrScheme>
      <a:clrMap bg1="lt1" tx1="dk1" bg2="dk2" tx2="lt2" accent1="accent1" accent2="accent2" accent3="accent3" accent4="accent4" accent5="accent5" accent6="accent6" hlink="hlink" folHlink="folHlink"/>
    </a:extraClrScheme>
    <a:extraClrScheme>
      <a:clrScheme name="Internet Overview 4">
        <a:dk1>
          <a:srgbClr val="000000"/>
        </a:dk1>
        <a:lt1>
          <a:srgbClr val="FFFFFF"/>
        </a:lt1>
        <a:dk2>
          <a:srgbClr val="000000"/>
        </a:dk2>
        <a:lt2>
          <a:srgbClr val="393939"/>
        </a:lt2>
        <a:accent1>
          <a:srgbClr val="CBCBCB"/>
        </a:accent1>
        <a:accent2>
          <a:srgbClr val="868686"/>
        </a:accent2>
        <a:accent3>
          <a:srgbClr val="9BBB59"/>
        </a:accent3>
        <a:accent4>
          <a:srgbClr val="8064A2"/>
        </a:accent4>
        <a:accent5>
          <a:srgbClr val="4BACC6"/>
        </a:accent5>
        <a:accent6>
          <a:srgbClr val="F79646"/>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ernet Overview 5">
        <a:dk1>
          <a:srgbClr val="000000"/>
        </a:dk1>
        <a:lt1>
          <a:srgbClr val="FFFFFF"/>
        </a:lt1>
        <a:dk2>
          <a:srgbClr val="000000"/>
        </a:dk2>
        <a:lt2>
          <a:srgbClr val="9F9F9F"/>
        </a:lt2>
        <a:accent1>
          <a:srgbClr val="FFCC66"/>
        </a:accent1>
        <a:accent2>
          <a:srgbClr val="0000FF"/>
        </a:accent2>
        <a:accent3>
          <a:srgbClr val="9BBB59"/>
        </a:accent3>
        <a:accent4>
          <a:srgbClr val="8064A2"/>
        </a:accent4>
        <a:accent5>
          <a:srgbClr val="4BACC6"/>
        </a:accent5>
        <a:accent6>
          <a:srgbClr val="F79646"/>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ernet Overview 6">
        <a:dk1>
          <a:srgbClr val="000000"/>
        </a:dk1>
        <a:lt1>
          <a:srgbClr val="FFFFFF"/>
        </a:lt1>
        <a:dk2>
          <a:srgbClr val="000000"/>
        </a:dk2>
        <a:lt2>
          <a:srgbClr val="868686"/>
        </a:lt2>
        <a:accent1>
          <a:srgbClr val="CBCBCB"/>
        </a:accent1>
        <a:accent2>
          <a:srgbClr val="0066FF"/>
        </a:accent2>
        <a:accent3>
          <a:srgbClr val="9BBB59"/>
        </a:accent3>
        <a:accent4>
          <a:srgbClr val="8064A2"/>
        </a:accent4>
        <a:accent5>
          <a:srgbClr val="4BACC6"/>
        </a:accent5>
        <a:accent6>
          <a:srgbClr val="F79646"/>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ernet Overview 7">
        <a:dk1>
          <a:srgbClr val="000000"/>
        </a:dk1>
        <a:lt1>
          <a:srgbClr val="FFFFFF"/>
        </a:lt1>
        <a:dk2>
          <a:srgbClr val="000000"/>
        </a:dk2>
        <a:lt2>
          <a:srgbClr val="969696"/>
        </a:lt2>
        <a:accent1>
          <a:srgbClr val="3399FF"/>
        </a:accent1>
        <a:accent2>
          <a:srgbClr val="99FFCC"/>
        </a:accent2>
        <a:accent3>
          <a:srgbClr val="9BBB59"/>
        </a:accent3>
        <a:accent4>
          <a:srgbClr val="8064A2"/>
        </a:accent4>
        <a:accent5>
          <a:srgbClr val="4BACC6"/>
        </a:accent5>
        <a:accent6>
          <a:srgbClr val="F79646"/>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9BBB59"/>
      </a:accent3>
      <a:accent4>
        <a:srgbClr val="8064A2"/>
      </a:accent4>
      <a:accent5>
        <a:srgbClr val="4BACC6"/>
      </a:accent5>
      <a:accent6>
        <a:srgbClr val="F79646"/>
      </a:accent6>
      <a:hlink>
        <a:srgbClr val="CCCCFF"/>
      </a:hlink>
      <a:folHlink>
        <a:srgbClr val="B2B2B2"/>
      </a:folHlink>
    </a:clrScheme>
    <a:fontScheme name="Arial">
      <a:majorFont>
        <a:latin typeface="Arial"/>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prstClr val="black">
                <a:alpha val="38000"/>
              </a:prstClr>
            </a:outerShdw>
          </a:effectLst>
        </a:effectStyle>
        <a:effectStyle>
          <a:effectLst>
            <a:outerShdw blurRad="40000" dist="23000" dir="5400000" rotWithShape="0">
              <a:prstClr val="black">
                <a:alpha val="35000"/>
              </a:prstClr>
            </a:outerShdw>
          </a:effectLst>
        </a:effectStyle>
        <a:effectStyle>
          <a:effectLst>
            <a:outerShdw blurRad="40000" dist="23000" dir="5400000" rotWithShape="0">
              <a:prstClr val="black">
                <a:alpha val="35000"/>
              </a:prst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1012</TotalTime>
  <Words>2326</Words>
  <Application>Microsoft Macintosh PowerPoint</Application>
  <PresentationFormat>On-screen Show (4:3)</PresentationFormat>
  <Paragraphs>325</Paragraphs>
  <Slides>22</Slides>
  <Notes>22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3</vt:i4>
      </vt:variant>
      <vt:variant>
        <vt:lpstr>Slide Titles</vt:lpstr>
      </vt:variant>
      <vt:variant>
        <vt:i4>22</vt:i4>
      </vt:variant>
    </vt:vector>
  </HeadingPairs>
  <TitlesOfParts>
    <vt:vector size="29" baseType="lpstr">
      <vt:lpstr>Arial</vt:lpstr>
      <vt:lpstr>Monotype Sorts</vt:lpstr>
      <vt:lpstr>Times New Roman</vt:lpstr>
      <vt:lpstr>Internet Overview</vt:lpstr>
      <vt:lpstr>CorelDRAW 6.0</vt:lpstr>
      <vt:lpstr>Chart</vt:lpstr>
      <vt:lpstr>Document</vt:lpstr>
      <vt:lpstr>If Workgroup Collaboration is a Problem, How Are We Going to Collaborate With the World?</vt:lpstr>
      <vt:lpstr>Workgroup Collaboration In a Global World</vt:lpstr>
      <vt:lpstr>Definitions</vt:lpstr>
      <vt:lpstr>The Market</vt:lpstr>
      <vt:lpstr>Characteristics</vt:lpstr>
      <vt:lpstr>Trends</vt:lpstr>
      <vt:lpstr>Global, Driving Forces</vt:lpstr>
      <vt:lpstr>Motivations</vt:lpstr>
      <vt:lpstr>Technology Trends</vt:lpstr>
      <vt:lpstr>Collaboration Requires Connections</vt:lpstr>
      <vt:lpstr>Market Maturation</vt:lpstr>
      <vt:lpstr>Breaking Down Barriers</vt:lpstr>
      <vt:lpstr>Crafting a Strategy</vt:lpstr>
      <vt:lpstr>Setting Requirements</vt:lpstr>
      <vt:lpstr>Best Practices</vt:lpstr>
      <vt:lpstr>What About ROI?</vt:lpstr>
      <vt:lpstr>Ideal Groupware</vt:lpstr>
      <vt:lpstr>Oracle’s InterOffice</vt:lpstr>
      <vt:lpstr>InterOffice  Groupware Features</vt:lpstr>
      <vt:lpstr>InterOffice Architecture</vt:lpstr>
      <vt:lpstr>Aberdeen 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 Workgroup Collaboration is a Problem, How Are We Going to Collaborate With the World?</dc:title>
  <dc:subject>Oracle Interoffice</dc:subject>
  <cp:keywords>Oracle Interoffice Netherlands</cp:keywords>
  <cp:lastModifiedBy>Pete Kastner</cp:lastModifiedBy>
  <cp:revision>19</cp:revision>
  <cp:lastPrinted>1996-09-23T21:10:10Z</cp:lastPrinted>
  <dcterms:created xsi:type="dcterms:W3CDTF">1995-06-17T23:31:02Z</dcterms:created>
  <dcterms:modified xsi:type="dcterms:W3CDTF">2024-06-14T01:02:24Z</dcterms:modified>
  <cp:category>speech</cp:category>
</cp:coreProperties>
</file>