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wmf" ContentType="image/x-wmf"/>
  <Default Extension="emf" ContentType="image/x-emf"/>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0.6-->
<p:presentation xmlns:r="http://schemas.openxmlformats.org/officeDocument/2006/relationships" xmlns:a="http://schemas.openxmlformats.org/drawingml/2006/main" xmlns:p="http://schemas.openxmlformats.org/presentationml/2006/main" showSpecialPlsOnTitleSld="0">
  <p:sldMasterIdLst>
    <p:sldMasterId id="2147483648" r:id="rId1"/>
  </p:sldMasterIdLst>
  <p:notesMasterIdLst>
    <p:notesMasterId r:id="rId2"/>
  </p:notesMasterIdLst>
  <p:handoutMasterIdLst>
    <p:handoutMasterId r:id="rId3"/>
  </p:handoutMasterIdLst>
  <p:sldIdLst>
    <p:sldId id="256" r:id="rId4"/>
    <p:sldId id="257" r:id="rId5"/>
    <p:sldId id="258" r:id="rId6"/>
    <p:sldId id="259" r:id="rId7"/>
    <p:sldId id="263" r:id="rId8"/>
    <p:sldId id="260" r:id="rId9"/>
    <p:sldId id="264" r:id="rId10"/>
    <p:sldId id="261" r:id="rId11"/>
    <p:sldId id="266" r:id="rId12"/>
    <p:sldId id="265" r:id="rId13"/>
    <p:sldId id="269" r:id="rId14"/>
    <p:sldId id="267" r:id="rId15"/>
    <p:sldId id="268" r:id="rId16"/>
    <p:sldId id="262" r:id="rId17"/>
    <p:sldId id="270" r:id="rId18"/>
    <p:sldId id="271" r:id="rId19"/>
    <p:sldId id="273" r:id="rId20"/>
    <p:sldId id="272" r:id="rId21"/>
  </p:sldIdLst>
  <p:sldSz cx="9144000" cy="6858000" type="letter"/>
  <p:notesSz cx="6858000" cy="9190038"/>
  <p:custDataLst>
    <p:tags r:id="rId22"/>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5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varScale="1">
        <p:scale>
          <a:sx n="78" d="100"/>
          <a:sy n="78" d="100"/>
        </p:scale>
        <p:origin x="0" y="0"/>
      </p:cViewPr>
    </p:cSldViewPr>
  </p:slideViewPr>
  <p:notesViewPr>
    <p:cSldViewPr>
      <p:cViewPr varScale="1">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tags" Target="tags/tag1.xml" /><Relationship Id="rId23" Type="http://schemas.openxmlformats.org/officeDocument/2006/relationships/presProps" Target="presProps.xml" /><Relationship Id="rId24" Type="http://schemas.openxmlformats.org/officeDocument/2006/relationships/viewProps" Target="viewProps.xml" /><Relationship Id="rId25" Type="http://schemas.openxmlformats.org/officeDocument/2006/relationships/theme" Target="theme/theme1.xml" /><Relationship Id="rId26" Type="http://schemas.openxmlformats.org/officeDocument/2006/relationships/tableStyles" Target="tableStyles.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p:cNvGrpSpPr/>
        <p:nvPr/>
      </p:nvGrpSpPr>
      <p:grpSpPr/>
      <p:sp>
        <p:nvSpPr>
          <p:cNvPr id="12290" name=""/>
          <p:cNvSpPr>
            <a:spLocks noGrp="1"/>
          </p:cNvSpPr>
          <p:nvPr>
            <p:ph type="hdr" sz="quarter"/>
          </p:nvPr>
        </p:nvSpPr>
        <p:spPr>
          <a:xfrm>
            <a:off x="0" y="0"/>
            <a:ext cx="2971800" cy="458788"/>
          </a:xfrm>
          <a:prstGeom prst="rect">
            <a:avLst/>
          </a:prstGeom>
          <a:noFill/>
          <a:ln>
            <a:noFill/>
            <a:miter lim="800000"/>
          </a:ln>
        </p:spPr>
        <p:txBody>
          <a:bodyPr lIns="91433" tIns="45716" rIns="91433" bIns="45716">
            <a:noAutofit/>
          </a:bodyPr>
          <a:lstStyle/>
          <a:p>
            <a:pPr lvl="0"/>
            <a:fld id="{E9C91EF3-C65C-40BC-A15D-93C4B337AF33}" type="header">
              <a:rPr sz="1200"/>
              <a:t>*</a:t>
            </a:fld>
            <a:endParaRPr sz="1200"/>
          </a:p>
        </p:txBody>
      </p:sp>
      <p:sp>
        <p:nvSpPr>
          <p:cNvPr id="12291" name=""/>
          <p:cNvSpPr>
            <a:spLocks noGrp="1"/>
          </p:cNvSpPr>
          <p:nvPr>
            <p:ph type="dt" sz="quarter" idx="1"/>
          </p:nvPr>
        </p:nvSpPr>
        <p:spPr>
          <a:xfrm>
            <a:off x="3886200" y="0"/>
            <a:ext cx="2971800" cy="458788"/>
          </a:xfrm>
          <a:prstGeom prst="rect">
            <a:avLst/>
          </a:prstGeom>
          <a:noFill/>
          <a:ln>
            <a:noFill/>
            <a:miter lim="800000"/>
          </a:ln>
        </p:spPr>
        <p:txBody>
          <a:bodyPr lIns="91433" tIns="45716" rIns="91433" bIns="45716">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9B3B9353-CE06-4A3C-AB0A-6EE126CFA383}" type="datetime1">
              <a:rPr sz="1200"/>
              <a:t>*</a:t>
            </a:fld>
            <a:endParaRPr sz="1200"/>
          </a:p>
        </p:txBody>
      </p:sp>
      <p:sp>
        <p:nvSpPr>
          <p:cNvPr id="12292" name=""/>
          <p:cNvSpPr>
            <a:spLocks noGrp="1"/>
          </p:cNvSpPr>
          <p:nvPr>
            <p:ph type="ftr" sz="quarter" idx="2"/>
          </p:nvPr>
        </p:nvSpPr>
        <p:spPr>
          <a:xfrm>
            <a:off x="0" y="8731250"/>
            <a:ext cx="2971800" cy="458788"/>
          </a:xfrm>
          <a:prstGeom prst="rect">
            <a:avLst/>
          </a:prstGeom>
          <a:noFill/>
          <a:ln>
            <a:noFill/>
            <a:miter lim="800000"/>
          </a:ln>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6BA94AFE-83B1-4B39-A8FC-4AE297F6F612}" type="footer">
              <a:rPr sz="1200"/>
              <a:t>*</a:t>
            </a:fld>
            <a:endParaRPr sz="1200"/>
          </a:p>
        </p:txBody>
      </p:sp>
      <p:sp>
        <p:nvSpPr>
          <p:cNvPr id="12293" name=""/>
          <p:cNvSpPr>
            <a:spLocks noGrp="1"/>
          </p:cNvSpPr>
          <p:nvPr>
            <p:ph type="sldNum" sz="quarter" idx="3"/>
          </p:nvPr>
        </p:nvSpPr>
        <p:spPr>
          <a:xfrm>
            <a:off x="3886200" y="8731250"/>
            <a:ext cx="2971800" cy="458788"/>
          </a:xfrm>
          <a:prstGeom prst="rect">
            <a:avLst/>
          </a:prstGeom>
          <a:noFill/>
          <a:ln>
            <a:noFill/>
            <a:miter lim="800000"/>
          </a:ln>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C86F071F-4537-4F4E-97B8-8E33091B1EA8}" type="slidenum">
              <a:rPr sz="1200"/>
              <a:t>*</a:t>
            </a:fld>
            <a:endParaRPr sz="1200"/>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p:cNvGrpSpPr/>
        <p:nvPr/>
      </p:nvGrpSpPr>
      <p:grpSpPr/>
      <p:sp>
        <p:nvSpPr>
          <p:cNvPr id="10242" name=""/>
          <p:cNvSpPr>
            <a:spLocks noGrp="1"/>
          </p:cNvSpPr>
          <p:nvPr>
            <p:ph type="hdr" sz="quarter"/>
          </p:nvPr>
        </p:nvSpPr>
        <p:spPr>
          <a:xfrm>
            <a:off x="0" y="0"/>
            <a:ext cx="2971800" cy="458788"/>
          </a:xfrm>
          <a:prstGeom prst="rect">
            <a:avLst/>
          </a:prstGeom>
          <a:noFill/>
          <a:ln>
            <a:noFill/>
            <a:miter lim="800000"/>
          </a:ln>
        </p:spPr>
        <p:txBody>
          <a:bodyPr lIns="91433" tIns="45716" rIns="91433" bIns="45716">
            <a:noAutofit/>
          </a:bodyPr>
          <a:lstStyle/>
          <a:p>
            <a:pPr lvl="0"/>
            <a:fld id="{186DA91B-0B48-4060-8FBF-0D69C9140E63}" type="header">
              <a:rPr sz="1200"/>
              <a:t>SAG NA market intelligence day</a:t>
            </a:fld>
            <a:endParaRPr sz="1200"/>
          </a:p>
        </p:txBody>
      </p:sp>
      <p:sp>
        <p:nvSpPr>
          <p:cNvPr id="10243" name=""/>
          <p:cNvSpPr>
            <a:spLocks noGrp="1"/>
          </p:cNvSpPr>
          <p:nvPr>
            <p:ph type="dt" idx="1"/>
          </p:nvPr>
        </p:nvSpPr>
        <p:spPr>
          <a:xfrm>
            <a:off x="3886200" y="0"/>
            <a:ext cx="2971800" cy="458788"/>
          </a:xfrm>
          <a:prstGeom prst="rect">
            <a:avLst/>
          </a:prstGeom>
          <a:noFill/>
          <a:ln>
            <a:noFill/>
            <a:miter lim="800000"/>
          </a:ln>
        </p:spPr>
        <p:txBody>
          <a:bodyPr lIns="91433" tIns="45716" rIns="91433" bIns="45716">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456B0BC8-52AD-412E-8487-296A62C5904C}" type="datetime1">
              <a:rPr sz="1200"/>
              <a:t>*</a:t>
            </a:fld>
            <a:endParaRPr sz="1200"/>
          </a:p>
        </p:txBody>
      </p:sp>
      <p:sp>
        <p:nvSpPr>
          <p:cNvPr id="10244" name=""/>
          <p:cNvSpPr>
            <a:spLocks noTextEdit="1"/>
          </p:cNvSpPr>
          <p:nvPr>
            <p:ph type="sldImg" idx="2"/>
          </p:nvPr>
        </p:nvSpPr>
        <p:spPr>
          <a:xfrm>
            <a:off x="1131888" y="688975"/>
            <a:ext cx="4595812" cy="3446463"/>
          </a:xfrm>
          <a:prstGeom prst="rect">
            <a:avLst/>
          </a:prstGeom>
          <a:solidFill>
            <a:srgbClr val="FFFFFF"/>
          </a:solidFill>
          <a:ln>
            <a:solidFill>
              <a:prstClr val="black"/>
            </a:solidFill>
            <a:miter lim="800000"/>
          </a:ln>
        </p:spPr>
      </p:sp>
      <p:sp>
        <p:nvSpPr>
          <p:cNvPr id="10245" name=""/>
          <p:cNvSpPr>
            <a:spLocks noGrp="1"/>
          </p:cNvSpPr>
          <p:nvPr>
            <p:ph type="body" sz="quarter" idx="3"/>
          </p:nvPr>
        </p:nvSpPr>
        <p:spPr>
          <a:xfrm>
            <a:off x="914400" y="4365625"/>
            <a:ext cx="5029200" cy="4135438"/>
          </a:xfrm>
          <a:prstGeom prst="rect">
            <a:avLst/>
          </a:prstGeom>
          <a:noFill/>
          <a:ln>
            <a:noFill/>
            <a:miter lim="800000"/>
          </a:ln>
        </p:spPr>
        <p:txBody>
          <a:bodyPr lIns="91433" tIns="45716" rIns="91433" bIns="45716">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Click to edit Master text styles</a:t>
            </a:r>
          </a:p>
          <a:p>
            <a:pPr lvl="1"/>
            <a:r>
              <a:t>Second level</a:t>
            </a:r>
          </a:p>
          <a:p>
            <a:pPr lvl="2"/>
            <a:r>
              <a:t>Third level</a:t>
            </a:r>
          </a:p>
          <a:p>
            <a:pPr lvl="3"/>
            <a:r>
              <a:t>Fourth level</a:t>
            </a:r>
          </a:p>
          <a:p>
            <a:pPr lvl="4"/>
            <a:r>
              <a:t>Fifth level</a:t>
            </a:r>
          </a:p>
        </p:txBody>
      </p:sp>
      <p:sp>
        <p:nvSpPr>
          <p:cNvPr id="10246" name=""/>
          <p:cNvSpPr>
            <a:spLocks noGrp="1"/>
          </p:cNvSpPr>
          <p:nvPr>
            <p:ph type="ftr" sz="quarter" idx="4"/>
          </p:nvPr>
        </p:nvSpPr>
        <p:spPr>
          <a:xfrm>
            <a:off x="0" y="8731250"/>
            <a:ext cx="2971800" cy="458788"/>
          </a:xfrm>
          <a:prstGeom prst="rect">
            <a:avLst/>
          </a:prstGeom>
          <a:noFill/>
          <a:ln>
            <a:noFill/>
            <a:miter lim="800000"/>
          </a:ln>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83E10719-F3E7-40B3-B231-032A1CC30F7F}" type="footer">
              <a:rPr sz="1200"/>
              <a:t>(c) Aberdeen Group, Inc.</a:t>
            </a:fld>
            <a:endParaRPr sz="1200"/>
          </a:p>
        </p:txBody>
      </p:sp>
      <p:sp>
        <p:nvSpPr>
          <p:cNvPr id="10247" name=""/>
          <p:cNvSpPr>
            <a:spLocks noGrp="1"/>
          </p:cNvSpPr>
          <p:nvPr>
            <p:ph type="sldNum" sz="quarter" idx="5"/>
          </p:nvPr>
        </p:nvSpPr>
        <p:spPr>
          <a:xfrm>
            <a:off x="3886200" y="8731250"/>
            <a:ext cx="2971800" cy="458788"/>
          </a:xfrm>
          <a:prstGeom prst="rect">
            <a:avLst/>
          </a:prstGeom>
          <a:noFill/>
          <a:ln>
            <a:noFill/>
            <a:miter lim="800000"/>
          </a:ln>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2ECF6693-6945-426E-8148-C86F819CB4DC}" type="slidenum">
              <a:rPr sz="1200"/>
              <a:t>*</a:t>
            </a:fld>
            <a:endParaRPr sz="1200"/>
          </a:p>
        </p:txBody>
      </p:sp>
    </p:spTree>
  </p:cSld>
  <p:clrMap bg1="lt1" tx1="dk1" bg2="lt2" tx2="dk2" accent1="accent1" accent2="accent2" accent3="accent3" accent4="accent4" accent5="accent5" accent6="accent6" hlink="hlink" folHlink="folHlink"/>
  <p:hf/>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1266" name=""/>
          <p:cNvSpPr/>
          <p:nvPr>
            <p:ph type="sldImg" idx="2"/>
          </p:nvPr>
        </p:nvSpPr>
        <p:spPr>
          <a:xfrm>
            <a:off x="1131888" y="688975"/>
            <a:ext cx="4595812" cy="3446463"/>
          </a:xfrm>
          <a:solidFill>
            <a:srgbClr val="FFFFFF"/>
          </a:solidFill>
          <a:ln>
            <a:miter lim="800000"/>
          </a:ln>
        </p:spPr>
      </p:sp>
      <p:sp>
        <p:nvSpPr>
          <p:cNvPr id="11267" name=""/>
          <p:cNvSpPr/>
          <p:nvPr>
            <p:ph type="body" idx="3"/>
          </p:nvPr>
        </p:nvSpPr>
        <p:spPr>
          <a:xfrm>
            <a:off x="914400" y="4365625"/>
            <a:ext cx="5029200" cy="4135438"/>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1268" name=""/>
          <p:cNvSpPr>
            <a:spLocks noGrp="1"/>
          </p:cNvSpPr>
          <p:nvPr>
            <p:ph type="hdr" sz="quarter"/>
          </p:nvPr>
        </p:nvSpPr>
        <p:spPr/>
        <p:txBody>
          <a:bodyPr lIns="91433" tIns="45716" rIns="91433" bIns="45716">
            <a:noAutofit/>
          </a:bodyPr>
          <a:lstStyle/>
          <a:p>
            <a:pPr lvl="0"/>
            <a:fld id="{2B0BB5EF-3327-498B-B456-916050794C3B}" type="header">
              <a:rPr sz="1200"/>
              <a:t>SAG NA market intelligence day</a:t>
            </a:fld>
          </a:p>
        </p:txBody>
      </p:sp>
      <p:sp>
        <p:nvSpPr>
          <p:cNvPr id="11269" name=""/>
          <p:cNvSpPr>
            <a:spLocks noGrp="1"/>
          </p:cNvSpPr>
          <p:nvPr>
            <p:ph type="dt" idx="1"/>
          </p:nvPr>
        </p:nvSpPr>
        <p:spPr/>
        <p:txBody>
          <a:bodyPr lIns="91433" tIns="45716" rIns="91433" bIns="45716">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D9EC138C-0F4F-496B-8F5F-A6D05481F6FE}" type="datetime1">
              <a:rPr sz="1200"/>
              <a:t>6/13/2024</a:t>
            </a:fld>
            <a:endParaRPr sz="1200"/>
          </a:p>
        </p:txBody>
      </p:sp>
      <p:sp>
        <p:nvSpPr>
          <p:cNvPr id="11270" name=""/>
          <p:cNvSpPr>
            <a:spLocks noGrp="1"/>
          </p:cNvSpPr>
          <p:nvPr>
            <p:ph type="ftr" sz="quarter" idx="4"/>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91C13052-DB95-4F8F-9315-EB456A17C83F}" type="footer">
              <a:rPr sz="1200"/>
              <a:t>(c) Aberdeen Group, Inc.</a:t>
            </a:fld>
            <a:endParaRPr sz="1200"/>
          </a:p>
        </p:txBody>
      </p:sp>
      <p:sp>
        <p:nvSpPr>
          <p:cNvPr id="11271" name=""/>
          <p:cNvSpPr>
            <a:spLocks noGrp="1"/>
          </p:cNvSpPr>
          <p:nvPr>
            <p:ph type="sldNum" sz="quarter" idx="5"/>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395C00A3-8E37-4650-8FF6-AEF0AE9E1636}" type="slidenum">
              <a:rPr sz="1200"/>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21506" name=""/>
          <p:cNvSpPr/>
          <p:nvPr>
            <p:ph type="body" idx="3"/>
          </p:nvPr>
        </p:nvSpPr>
        <p:spPr>
          <a:xfrm>
            <a:off x="914400" y="4364038"/>
            <a:ext cx="5029200" cy="4137025"/>
          </a:xfrm>
          <a:noFill/>
          <a:ln>
            <a:noFill/>
            <a:miter lim="800000"/>
          </a:ln>
          <a:effectLst/>
        </p:spPr>
        <p:txBody>
          <a:bodyPr rot="0" vert="horz" wrap="square" lIns="93654" tIns="47621" rIns="93654" bIns="47621"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defTabSz="882650"/>
            <a:r>
              <a:t>A real-world insurance company and Aberdeen client is planning a next generation claims processing system.  Any customer can stop in any office for complete support.  Claims can be updated from any local office.</a:t>
            </a:r>
          </a:p>
          <a:p>
            <a:pPr marL="0" lvl="0" indent="0" defTabSz="882650"/>
            <a:r>
              <a:t>A server at HQ will manage 3,500 HQ users, systems management, and batch.</a:t>
            </a:r>
          </a:p>
          <a:p>
            <a:pPr marL="0" lvl="0" indent="0" defTabSz="882650"/>
            <a:r>
              <a:t>.</a:t>
            </a:r>
          </a:p>
        </p:txBody>
      </p:sp>
      <p:sp>
        <p:nvSpPr>
          <p:cNvPr id="21507" name=""/>
          <p:cNvSpPr/>
          <p:nvPr>
            <p:ph type="sldImg" idx="2"/>
          </p:nvPr>
        </p:nvSpPr>
        <p:spPr>
          <a:xfrm>
            <a:off x="1135063" y="690563"/>
            <a:ext cx="4591050" cy="3443287"/>
          </a:xfrm>
          <a:noFill/>
          <a:ln w="12700" cap="flat" cmpd="sng">
            <a:solidFill>
              <a:schemeClr val="tx1"/>
            </a:solidFill>
            <a:prstDash val="solid"/>
            <a:miter lim="800000"/>
          </a:ln>
          <a:effectLst/>
        </p:spPr>
      </p:sp>
      <p:sp>
        <p:nvSpPr>
          <p:cNvPr id="21508" name=""/>
          <p:cNvSpPr>
            <a:spLocks noGrp="1"/>
          </p:cNvSpPr>
          <p:nvPr>
            <p:ph type="hdr" sz="quarter"/>
          </p:nvPr>
        </p:nvSpPr>
        <p:spPr/>
        <p:txBody>
          <a:bodyPr lIns="91433" tIns="45716" rIns="91433" bIns="45716">
            <a:noAutofit/>
          </a:bodyPr>
          <a:lstStyle/>
          <a:p>
            <a:pPr lvl="0"/>
            <a:fld id="{C5F70EB8-C16A-40D8-8D75-AC98992E241F}" type="header">
              <a:rPr sz="1200"/>
              <a:t>SAG NA market intelligence day</a:t>
            </a:fld>
          </a:p>
        </p:txBody>
      </p:sp>
      <p:sp>
        <p:nvSpPr>
          <p:cNvPr id="21509" name=""/>
          <p:cNvSpPr>
            <a:spLocks noGrp="1"/>
          </p:cNvSpPr>
          <p:nvPr>
            <p:ph type="dt" idx="1"/>
          </p:nvPr>
        </p:nvSpPr>
        <p:spPr/>
        <p:txBody>
          <a:bodyPr lIns="91433" tIns="45716" rIns="91433" bIns="45716">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16239E95-8DCC-4F9D-842A-2FECB13356A2}" type="datetime1">
              <a:rPr sz="1200"/>
              <a:t>6/13/2024</a:t>
            </a:fld>
            <a:endParaRPr sz="1200"/>
          </a:p>
        </p:txBody>
      </p:sp>
      <p:sp>
        <p:nvSpPr>
          <p:cNvPr id="21510" name=""/>
          <p:cNvSpPr>
            <a:spLocks noGrp="1"/>
          </p:cNvSpPr>
          <p:nvPr>
            <p:ph type="ftr" sz="quarter" idx="4"/>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673500CE-0A5D-47C7-B4EF-16DA11268DC1}" type="footer">
              <a:rPr sz="1200"/>
              <a:t>(c) Aberdeen Group, Inc.</a:t>
            </a:fld>
            <a:endParaRPr sz="1200"/>
          </a:p>
        </p:txBody>
      </p:sp>
      <p:sp>
        <p:nvSpPr>
          <p:cNvPr id="21511" name=""/>
          <p:cNvSpPr>
            <a:spLocks noGrp="1"/>
          </p:cNvSpPr>
          <p:nvPr>
            <p:ph type="sldNum" sz="quarter" idx="5"/>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36EE6C7C-600C-478D-91A0-2CD9A4BBD7C8}" type="slidenum">
              <a:rPr sz="1200"/>
              <a:t>12</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23554" name=""/>
          <p:cNvSpPr/>
          <p:nvPr>
            <p:ph type="body" idx="3"/>
          </p:nvPr>
        </p:nvSpPr>
        <p:spPr>
          <a:xfrm>
            <a:off x="914400" y="4364038"/>
            <a:ext cx="5029200" cy="4137025"/>
          </a:xfrm>
          <a:noFill/>
          <a:ln>
            <a:noFill/>
            <a:miter lim="800000"/>
          </a:ln>
          <a:effectLst/>
        </p:spPr>
        <p:txBody>
          <a:bodyPr rot="0" vert="horz" wrap="square" lIns="93654" tIns="47621" rIns="93654" bIns="47621"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defTabSz="882650"/>
            <a:r>
              <a:t>Local servers in 50 offices are desired for fast, local response time.  Each office will have a complete copy of the active claims database.  Replication or transaction queuing will be used to pull every transaction from the local office to an “enterprise superserver” at headquarters which will serve as the database of record.  This superserver will service 3,500 HQ users, replicate (“push”) all transactions out to all offices, and drive data transformation onto a data warehouse server.</a:t>
            </a:r>
          </a:p>
          <a:p>
            <a:pPr marL="0" lvl="0" indent="0" defTabSz="882650"/>
            <a:r>
              <a:t>Supporting transactions from 5,000 remote users and 3,500 local users as well as push replication, batch, and data warehouse transformation duties demands considerable computing capacity -- beyond traditional SMP architectures and even many clusters.</a:t>
            </a:r>
          </a:p>
          <a:p>
            <a:pPr marL="0" lvl="0" indent="0" defTabSz="882650"/>
            <a:r>
              <a:t>What computing platform can handle this workload and still be able to grow with the projected 15%-20% annual business volume?</a:t>
            </a:r>
          </a:p>
        </p:txBody>
      </p:sp>
      <p:sp>
        <p:nvSpPr>
          <p:cNvPr id="23555" name=""/>
          <p:cNvSpPr/>
          <p:nvPr>
            <p:ph type="sldImg" idx="2"/>
          </p:nvPr>
        </p:nvSpPr>
        <p:spPr>
          <a:xfrm>
            <a:off x="1135063" y="690563"/>
            <a:ext cx="4591050" cy="3443287"/>
          </a:xfrm>
          <a:noFill/>
          <a:ln w="12700" cap="flat" cmpd="sng">
            <a:solidFill>
              <a:schemeClr val="tx1"/>
            </a:solidFill>
            <a:prstDash val="solid"/>
            <a:miter lim="800000"/>
          </a:ln>
          <a:effectLst/>
        </p:spPr>
      </p:sp>
      <p:sp>
        <p:nvSpPr>
          <p:cNvPr id="23556" name=""/>
          <p:cNvSpPr>
            <a:spLocks noGrp="1"/>
          </p:cNvSpPr>
          <p:nvPr>
            <p:ph type="hdr" sz="quarter"/>
          </p:nvPr>
        </p:nvSpPr>
        <p:spPr/>
        <p:txBody>
          <a:bodyPr lIns="91433" tIns="45716" rIns="91433" bIns="45716">
            <a:noAutofit/>
          </a:bodyPr>
          <a:lstStyle/>
          <a:p>
            <a:pPr lvl="0"/>
            <a:fld id="{CDDE26FA-257A-44B4-83C9-0B5102AE4D62}" type="header">
              <a:rPr sz="1200"/>
              <a:t>SAG NA market intelligence day</a:t>
            </a:fld>
          </a:p>
        </p:txBody>
      </p:sp>
      <p:sp>
        <p:nvSpPr>
          <p:cNvPr id="23557" name=""/>
          <p:cNvSpPr>
            <a:spLocks noGrp="1"/>
          </p:cNvSpPr>
          <p:nvPr>
            <p:ph type="dt" idx="1"/>
          </p:nvPr>
        </p:nvSpPr>
        <p:spPr/>
        <p:txBody>
          <a:bodyPr lIns="91433" tIns="45716" rIns="91433" bIns="45716">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11EF8BF9-2AC0-41C3-845D-17797C839679}" type="datetime1">
              <a:rPr sz="1200"/>
              <a:t>6/13/2024</a:t>
            </a:fld>
            <a:endParaRPr sz="1200"/>
          </a:p>
        </p:txBody>
      </p:sp>
      <p:sp>
        <p:nvSpPr>
          <p:cNvPr id="23558" name=""/>
          <p:cNvSpPr>
            <a:spLocks noGrp="1"/>
          </p:cNvSpPr>
          <p:nvPr>
            <p:ph type="ftr" sz="quarter" idx="4"/>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2B0A453F-980D-484F-9F13-304C7078CECD}" type="footer">
              <a:rPr sz="1200"/>
              <a:t>(c) Aberdeen Group, Inc.</a:t>
            </a:fld>
            <a:endParaRPr sz="1200"/>
          </a:p>
        </p:txBody>
      </p:sp>
      <p:sp>
        <p:nvSpPr>
          <p:cNvPr id="23559" name=""/>
          <p:cNvSpPr>
            <a:spLocks noGrp="1"/>
          </p:cNvSpPr>
          <p:nvPr>
            <p:ph type="sldNum" sz="quarter" idx="5"/>
          </p:nvPr>
        </p:nvSpPr>
        <p:spPr/>
        <p:txBody>
          <a:bodyPr lIns="91433" tIns="45716" rIns="91433" bIns="4571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359682E1-3399-41DB-AB46-ECE0C5B2A96F}" type="slidenum">
              <a:rPr sz="1200"/>
              <a:t>13</a:t>
            </a:fld>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fld id="{52B2F950-28C2-49D0-8B72-7DA5ABC47A14}" type="datetime1">
              <a:rPr sz="1400"/>
              <a:t>*</a:t>
            </a:fld>
            <a:endParaRPr sz="1400"/>
          </a:p>
        </p:txBody>
      </p:sp>
      <p:sp>
        <p:nvSpPr>
          <p:cNvPr id="5" name="Footer Placeholder 4"/>
          <p:cNvSpPr>
            <a:spLocks noGrp="1"/>
          </p:cNvSpPr>
          <p:nvPr>
            <p:ph type="ftr" sz="quarter" idx="11"/>
          </p:nvPr>
        </p:nvSpPr>
        <p:spPr/>
        <p:txBody>
          <a:bodyPr/>
          <a:lstStyle/>
          <a:p>
            <a:pPr lvl="0" algn="ctr"/>
            <a:fld id="{2CF00CDB-2E93-416D-86D5-A69AF91DD584}" type="footer">
              <a:rPr sz="1400"/>
              <a:t>(c) Aberdeen Group, Inc.</a:t>
            </a:fld>
            <a:endParaRPr sz="1400"/>
          </a:p>
        </p:txBody>
      </p:sp>
      <p:sp>
        <p:nvSpPr>
          <p:cNvPr id="6" name="Slide Number Placeholder 5"/>
          <p:cNvSpPr>
            <a:spLocks noGrp="1"/>
          </p:cNvSpPr>
          <p:nvPr>
            <p:ph type="sldNum" sz="quarter" idx="12"/>
          </p:nvPr>
        </p:nvSpPr>
        <p:spPr/>
        <p:txBody>
          <a:bodyPr/>
          <a:lstStyle/>
          <a:p>
            <a:pPr lvl="0" algn="r"/>
            <a:fld id="{93AE1883-0942-4AA3-9DB2-9C7C3A0314B1}" type="slidenum">
              <a:rPr sz="140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fld id="{B8CB32BF-B851-4E9E-ADC0-A1370B5F4EEE}" type="datetime1">
              <a:rPr sz="1400"/>
              <a:t>*</a:t>
            </a:fld>
            <a:endParaRPr sz="1400"/>
          </a:p>
        </p:txBody>
      </p:sp>
      <p:sp>
        <p:nvSpPr>
          <p:cNvPr id="5" name="Footer Placeholder 4"/>
          <p:cNvSpPr>
            <a:spLocks noGrp="1"/>
          </p:cNvSpPr>
          <p:nvPr>
            <p:ph type="ftr" sz="quarter" idx="11"/>
          </p:nvPr>
        </p:nvSpPr>
        <p:spPr/>
        <p:txBody>
          <a:bodyPr/>
          <a:lstStyle/>
          <a:p>
            <a:pPr lvl="0" algn="ctr"/>
            <a:fld id="{478753D9-77B3-4E83-A040-2F948BDAAEA2}" type="footer">
              <a:rPr sz="1400"/>
              <a:t>(c) Aberdeen Group, Inc.</a:t>
            </a:fld>
            <a:endParaRPr sz="1400"/>
          </a:p>
        </p:txBody>
      </p:sp>
      <p:sp>
        <p:nvSpPr>
          <p:cNvPr id="6" name="Slide Number Placeholder 5"/>
          <p:cNvSpPr>
            <a:spLocks noGrp="1"/>
          </p:cNvSpPr>
          <p:nvPr>
            <p:ph type="sldNum" sz="quarter" idx="12"/>
          </p:nvPr>
        </p:nvSpPr>
        <p:spPr/>
        <p:txBody>
          <a:bodyPr/>
          <a:lstStyle/>
          <a:p>
            <a:pPr lvl="0" algn="r"/>
            <a:fld id="{93AE1883-0942-4AA3-9DB2-9C7C3A0314B1}" type="slidenum">
              <a:rPr sz="140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fld id="{8FDB4D39-A371-47D7-9FB0-F5BB63A59E01}" type="datetime1">
              <a:rPr sz="1400"/>
              <a:t>*</a:t>
            </a:fld>
            <a:endParaRPr sz="1400"/>
          </a:p>
        </p:txBody>
      </p:sp>
      <p:sp>
        <p:nvSpPr>
          <p:cNvPr id="6" name="Footer Placeholder 5"/>
          <p:cNvSpPr>
            <a:spLocks noGrp="1"/>
          </p:cNvSpPr>
          <p:nvPr>
            <p:ph type="ftr" sz="quarter" idx="11"/>
          </p:nvPr>
        </p:nvSpPr>
        <p:spPr/>
        <p:txBody>
          <a:bodyPr/>
          <a:lstStyle/>
          <a:p>
            <a:pPr lvl="0" algn="ctr"/>
            <a:fld id="{0E98C692-58FD-44E9-8E32-43F775213B38}" type="footer">
              <a:rPr sz="1400"/>
              <a:t>(c) Aberdeen Group, Inc.</a:t>
            </a:fld>
            <a:endParaRPr sz="1400"/>
          </a:p>
        </p:txBody>
      </p:sp>
      <p:sp>
        <p:nvSpPr>
          <p:cNvPr id="7" name="Slide Number Placeholder 6"/>
          <p:cNvSpPr>
            <a:spLocks noGrp="1"/>
          </p:cNvSpPr>
          <p:nvPr>
            <p:ph type="sldNum" sz="quarter" idx="12"/>
          </p:nvPr>
        </p:nvSpPr>
        <p:spPr/>
        <p:txBody>
          <a:bodyPr/>
          <a:lstStyle/>
          <a:p>
            <a:pPr lvl="0" algn="r"/>
            <a:fld id="{93AE1883-0942-4AA3-9DB2-9C7C3A0314B1}" type="slidenum">
              <a:rPr sz="140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Date Placeholder 2"/>
          <p:cNvSpPr>
            <a:spLocks noGrp="1"/>
          </p:cNvSpPr>
          <p:nvPr>
            <p:ph type="dt" sz="half" idx="10"/>
          </p:nvPr>
        </p:nvSpPr>
        <p:spPr/>
        <p:txBody>
          <a:bodyPr/>
          <a:lstStyle/>
          <a:p>
            <a:pPr lvl="0"/>
            <a:fld id="{3D25DA65-7436-4497-8C7F-774BFC9001F9}" type="datetime1">
              <a:rPr sz="1400"/>
              <a:t>*</a:t>
            </a:fld>
            <a:endParaRPr sz="1400"/>
          </a:p>
        </p:txBody>
      </p:sp>
      <p:sp>
        <p:nvSpPr>
          <p:cNvPr id="4" name="Footer Placeholder 3"/>
          <p:cNvSpPr>
            <a:spLocks noGrp="1"/>
          </p:cNvSpPr>
          <p:nvPr>
            <p:ph type="ftr" sz="quarter" idx="11"/>
          </p:nvPr>
        </p:nvSpPr>
        <p:spPr/>
        <p:txBody>
          <a:bodyPr/>
          <a:lstStyle/>
          <a:p>
            <a:pPr lvl="0" algn="ctr"/>
            <a:fld id="{D10BA9B4-33FE-418C-8C74-FC197F8AE39C}" type="footer">
              <a:rPr sz="1400"/>
              <a:t>(c) Aberdeen Group, Inc.</a:t>
            </a:fld>
            <a:endParaRPr sz="1400"/>
          </a:p>
        </p:txBody>
      </p:sp>
      <p:sp>
        <p:nvSpPr>
          <p:cNvPr id="5" name="Slide Number Placeholder 4"/>
          <p:cNvSpPr>
            <a:spLocks noGrp="1"/>
          </p:cNvSpPr>
          <p:nvPr>
            <p:ph type="sldNum" sz="quarter" idx="12"/>
          </p:nvPr>
        </p:nvSpPr>
        <p:spPr/>
        <p:txBody>
          <a:bodyPr/>
          <a:lstStyle/>
          <a:p>
            <a:pPr lvl="0" algn="r"/>
            <a:fld id="{93AE1883-0942-4AA3-9DB2-9C7C3A0314B1}" type="slidenum">
              <a:rPr sz="140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bg1"/>
        </a:solidFill>
      </p:bgPr>
    </p:bg>
    <p:spTree>
      <p:nvGrpSpPr>
        <p:cNvPr id="1" name=""/>
        <p:cNvGrpSpPr/>
        <p:nvPr/>
      </p:nvGrpSpPr>
      <p:grpSpPr/>
      <p:sp>
        <p:nvSpPr>
          <p:cNvPr id="1026" name=""/>
          <p:cNvSpPr>
            <a:spLocks noGrp="1"/>
          </p:cNvSpPr>
          <p:nvPr>
            <p:ph type="title"/>
          </p:nvPr>
        </p:nvSpPr>
        <p:spPr>
          <a:xfrm>
            <a:off x="685800" y="609600"/>
            <a:ext cx="7772400" cy="1143000"/>
          </a:xfrm>
          <a:prstGeom prst="rect">
            <a:avLst/>
          </a:prstGeom>
          <a:noFill/>
          <a:ln>
            <a:noFill/>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Click to edit Master title style</a:t>
            </a:r>
          </a:p>
        </p:txBody>
      </p:sp>
      <p:sp>
        <p:nvSpPr>
          <p:cNvPr id="1027" name=""/>
          <p:cNvSpPr>
            <a:spLocks noGrp="1"/>
          </p:cNvSpPr>
          <p:nvPr>
            <p:ph type="body" idx="1"/>
          </p:nvPr>
        </p:nvSpPr>
        <p:spPr>
          <a:xfrm>
            <a:off x="685800" y="1981200"/>
            <a:ext cx="7772400" cy="4114800"/>
          </a:xfrm>
          <a:prstGeom prst="rect">
            <a:avLst/>
          </a:prstGeom>
          <a:noFill/>
          <a:ln>
            <a:noFill/>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Click to edit Master text styles</a:t>
            </a:r>
          </a:p>
          <a:p>
            <a:pPr lvl="1"/>
            <a:r>
              <a:t>Second level</a:t>
            </a:r>
          </a:p>
          <a:p>
            <a:pPr lvl="2"/>
            <a:r>
              <a:t>Third level</a:t>
            </a:r>
          </a:p>
          <a:p>
            <a:pPr lvl="3"/>
            <a:r>
              <a:t>Fourth level</a:t>
            </a:r>
          </a:p>
          <a:p>
            <a:pPr lvl="4"/>
            <a:r>
              <a:t>Fifth level</a:t>
            </a:r>
          </a:p>
        </p:txBody>
      </p:sp>
      <p:sp>
        <p:nvSpPr>
          <p:cNvPr id="1028" name=""/>
          <p:cNvSpPr>
            <a:spLocks noGrp="1"/>
          </p:cNvSpPr>
          <p:nvPr>
            <p:ph type="dt" sz="half" idx="2"/>
          </p:nvPr>
        </p:nvSpPr>
        <p:spPr>
          <a:xfrm>
            <a:off x="685800" y="6248400"/>
            <a:ext cx="1905000" cy="457200"/>
          </a:xfrm>
          <a:prstGeom prst="rect">
            <a:avLst/>
          </a:prstGeom>
          <a:noFill/>
          <a:ln>
            <a:noFill/>
            <a:miter lim="800000"/>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fld id="{A059443A-B323-4DAB-B524-02A5BC21EC0C}" type="datetime1">
              <a:rPr sz="1400"/>
              <a:t>*</a:t>
            </a:fld>
            <a:endParaRPr sz="1400"/>
          </a:p>
        </p:txBody>
      </p:sp>
      <p:sp>
        <p:nvSpPr>
          <p:cNvPr id="1029" name=""/>
          <p:cNvSpPr>
            <a:spLocks noGrp="1"/>
          </p:cNvSpPr>
          <p:nvPr>
            <p:ph type="ftr" sz="quarter" idx="3"/>
          </p:nvPr>
        </p:nvSpPr>
        <p:spPr>
          <a:xfrm>
            <a:off x="3124200" y="6248400"/>
            <a:ext cx="2895600" cy="457200"/>
          </a:xfrm>
          <a:prstGeom prst="rect">
            <a:avLst/>
          </a:prstGeom>
          <a:noFill/>
          <a:ln>
            <a:noFill/>
            <a:miter lim="800000"/>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fld id="{3F75D393-601D-4057-88F4-AD98779C202C}" type="footer">
              <a:rPr sz="1400"/>
              <a:t>(c) Aberdeen Group, Inc.</a:t>
            </a:fld>
            <a:endParaRPr sz="1400"/>
          </a:p>
        </p:txBody>
      </p:sp>
      <p:sp>
        <p:nvSpPr>
          <p:cNvPr id="1030" name=""/>
          <p:cNvSpPr>
            <a:spLocks noGrp="1"/>
          </p:cNvSpPr>
          <p:nvPr>
            <p:ph type="sldNum" sz="quarter" idx="4"/>
          </p:nvPr>
        </p:nvSpPr>
        <p:spPr>
          <a:xfrm>
            <a:off x="6553200" y="6248400"/>
            <a:ext cx="1905000" cy="457200"/>
          </a:xfrm>
          <a:prstGeom prst="rect">
            <a:avLst/>
          </a:prstGeom>
          <a:noFill/>
          <a:ln>
            <a:noFill/>
            <a:miter lim="800000"/>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fld id="{CF7CA343-31E3-49C6-B277-5862FC16C87B}" type="slidenum">
              <a:rPr sz="1400"/>
              <a:t>*</a:t>
            </a:fld>
            <a:endParaRPr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iming/>
  <p:hf hdr="0" dt="0"/>
  <p:txStyles>
    <p:titleStyle>
      <a:lvl1pPr marL="0" indent="0" algn="ctr" defTabSz="914400" rtl="0" eaLnBrk="0" fontAlgn="base" hangingPunct="0">
        <a:lnSpc>
          <a:spcPct val="100000"/>
        </a:lnSpc>
        <a:spcBef>
          <a:spcPct val="0"/>
        </a:spcBef>
        <a:spcAft>
          <a:spcPct val="0"/>
        </a:spcAft>
        <a:buClrTx/>
        <a:buSzTx/>
        <a:buFontTx/>
        <a:buNone/>
        <a:defRPr kumimoji="0" sz="4400" b="0" i="0" u="none" baseline="0">
          <a:solidFill>
            <a:schemeClr val="tx2"/>
          </a:solidFill>
          <a:effectLst/>
          <a:latin typeface="Times New Roman" pitchFamily="18" charset="0"/>
        </a:defRPr>
      </a:lvl1pPr>
    </p:titleStyle>
    <p:bodyStyle>
      <a:lvl1pPr marL="342900" indent="-342900" algn="l" defTabSz="914400" rtl="0" eaLnBrk="0" fontAlgn="base" hangingPunct="0">
        <a:lnSpc>
          <a:spcPct val="100000"/>
        </a:lnSpc>
        <a:spcBef>
          <a:spcPct val="20000"/>
        </a:spcBef>
        <a:spcAft>
          <a:spcPct val="0"/>
        </a:spcAft>
        <a:buClrTx/>
        <a:buSzTx/>
        <a:buFontTx/>
        <a:buChar char="•"/>
        <a:defRPr kumimoji="0"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sz="1800" b="0" i="0" u="none" baseline="0">
          <a:solidFill>
            <a:schemeClr val="tx1"/>
          </a:solidFill>
          <a:effectLst/>
          <a:latin typeface="Times New Roman" pitchFamily="18" charset="0"/>
        </a:defRPr>
      </a:lvl5pPr>
    </p:bodyStyle>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 Id="rId3" Type="http://schemas.openxmlformats.org/officeDocument/2006/relationships/image" Target="../media/image1.wmf"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1.wmf" /><Relationship Id="rId4" Type="http://schemas.openxmlformats.org/officeDocument/2006/relationships/image" Target="../media/image2.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050" name=""/>
          <p:cNvSpPr/>
          <p:nvPr>
            <p:ph type="ctrTitle"/>
          </p:nvPr>
        </p:nvSpPr>
        <p:spPr>
          <a:xfrm>
            <a:off x="685800" y="22860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U.S. Insurance Industry Overview</a:t>
            </a:r>
          </a:p>
        </p:txBody>
      </p:sp>
      <p:sp>
        <p:nvSpPr>
          <p:cNvPr id="2051" name=""/>
          <p:cNvSpPr/>
          <p:nvPr>
            <p:ph type="subTitle" idx="1"/>
          </p:nvPr>
        </p:nvSpPr>
        <p:spPr>
          <a:xfrm>
            <a:off x="1371600" y="3886200"/>
            <a:ext cx="6400800" cy="1752600"/>
          </a:xfrm>
          <a:noFill/>
          <a:ln>
            <a:miter lim="800000"/>
          </a:ln>
        </p:spPr>
        <p:txBody>
          <a:bodyPr/>
          <a:lstStyle>
            <a:lvl1pPr marL="0" indent="0" algn="ctr" defTabSz="914400" rtl="0" eaLnBrk="0" fontAlgn="base" hangingPunct="0">
              <a:lnSpc>
                <a:spcPct val="100000"/>
              </a:lnSpc>
              <a:spcBef>
                <a:spcPct val="20000"/>
              </a:spcBef>
              <a:spcAft>
                <a:spcPct val="0"/>
              </a:spcAft>
              <a:buClrTx/>
              <a:buSzTx/>
              <a:buFontTx/>
              <a:buNone/>
              <a:defRPr kumimoji="0" lang="en-US" altLang="en-US" sz="2800" b="0" i="0" u="none" baseline="0">
                <a:solidFill>
                  <a:schemeClr val="tx1"/>
                </a:solidFill>
                <a:effectLst/>
                <a:latin typeface="Times New Roman" pitchFamily="18" charset="0"/>
              </a:defRPr>
            </a:lvl1pPr>
            <a:lvl2pPr marL="457200" indent="0" algn="ctr" defTabSz="914400" rtl="0" eaLnBrk="0" fontAlgn="base" hangingPunct="0">
              <a:lnSpc>
                <a:spcPct val="100000"/>
              </a:lnSpc>
              <a:spcBef>
                <a:spcPct val="2000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ctr" defTabSz="914400" rtl="0" eaLnBrk="0" fontAlgn="base" hangingPunct="0">
              <a:lnSpc>
                <a:spcPct val="100000"/>
              </a:lnSpc>
              <a:spcBef>
                <a:spcPct val="20000"/>
              </a:spcBef>
              <a:spcAft>
                <a:spcPct val="0"/>
              </a:spcAft>
              <a:buClrTx/>
              <a:buSzTx/>
              <a:buFontTx/>
              <a:buNone/>
              <a:defRPr kumimoji="0" lang="en-US" altLang="en-US" sz="2000" b="0" i="0" u="none" baseline="0">
                <a:solidFill>
                  <a:schemeClr val="tx1"/>
                </a:solidFill>
                <a:effectLst/>
                <a:latin typeface="Times New Roman" pitchFamily="18" charset="0"/>
              </a:defRPr>
            </a:lvl3pPr>
            <a:lvl4pPr marL="1371600" indent="0" algn="ctr" defTabSz="914400" rtl="0" eaLnBrk="0" fontAlgn="base" hangingPunct="0">
              <a:lnSpc>
                <a:spcPct val="100000"/>
              </a:lnSpc>
              <a:spcBef>
                <a:spcPct val="20000"/>
              </a:spcBef>
              <a:spcAft>
                <a:spcPct val="0"/>
              </a:spcAft>
              <a:buClrTx/>
              <a:buSzTx/>
              <a:buFontTx/>
              <a:buNone/>
              <a:defRPr kumimoji="0" lang="en-US" altLang="en-US" sz="1800" b="0" i="0" u="none" baseline="0">
                <a:solidFill>
                  <a:schemeClr val="tx1"/>
                </a:solidFill>
                <a:effectLst/>
                <a:latin typeface="Times New Roman" pitchFamily="18" charset="0"/>
              </a:defRPr>
            </a:lvl4pPr>
            <a:lvl5pPr marL="1828800" indent="0" algn="ctr" defTabSz="914400" rtl="0" eaLnBrk="0" fontAlgn="base" hangingPunct="0">
              <a:lnSpc>
                <a:spcPct val="100000"/>
              </a:lnSpc>
              <a:spcBef>
                <a:spcPct val="20000"/>
              </a:spcBef>
              <a:spcAft>
                <a:spcPct val="0"/>
              </a:spcAft>
              <a:buClrTx/>
              <a:buSzTx/>
              <a:buFontTx/>
              <a:buNone/>
              <a:defRPr kumimoji="0" lang="en-US" altLang="en-US" sz="1800" b="0" i="0" u="none" baseline="0">
                <a:solidFill>
                  <a:schemeClr val="tx1"/>
                </a:solidFill>
                <a:effectLst/>
                <a:latin typeface="Times New Roman" pitchFamily="18" charset="0"/>
              </a:defRPr>
            </a:lvl5pPr>
          </a:lstStyle>
          <a:p>
            <a:pPr lvl="0"/>
            <a:r>
              <a:rPr sz="1600"/>
              <a:t>Peter S. Kastner</a:t>
            </a:r>
            <a:br>
              <a:rPr sz="1600"/>
            </a:br>
            <a:r>
              <a:rPr sz="1600"/>
              <a:t>Chief Research Officer</a:t>
            </a:r>
            <a:br>
              <a:rPr sz="1600"/>
            </a:br>
            <a:br>
              <a:rPr sz="1600"/>
            </a:br>
            <a:r>
              <a:rPr sz="1600"/>
              <a:t>Aberdeen Group, Inc.</a:t>
            </a:r>
            <a:br>
              <a:rPr sz="1600"/>
            </a:br>
            <a:r>
              <a:rPr sz="1600"/>
              <a:t>Boston, Massachusetts</a:t>
            </a:r>
            <a:br>
              <a:rPr sz="1600"/>
            </a:br>
            <a:r>
              <a:rPr sz="1600"/>
              <a:t>(617) 723-7890</a:t>
            </a:r>
            <a:endParaRPr sz="1600"/>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3074"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Agenda</a:t>
            </a:r>
          </a:p>
        </p:txBody>
      </p:sp>
      <p:sp>
        <p:nvSpPr>
          <p:cNvPr id="3075"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Market Segmentation</a:t>
            </a:r>
          </a:p>
          <a:p>
            <a:pPr lvl="0"/>
            <a:r>
              <a:t>Business Drivers</a:t>
            </a:r>
          </a:p>
          <a:p>
            <a:pPr lvl="0"/>
            <a:r>
              <a:t>Industry Trends</a:t>
            </a:r>
          </a:p>
          <a:p>
            <a:pPr lvl="0"/>
            <a:r>
              <a:t>Technology in Insurance</a:t>
            </a:r>
          </a:p>
          <a:p>
            <a:pPr lvl="0"/>
            <a:r>
              <a:t>Attractiveness to SAGA</a:t>
            </a:r>
          </a:p>
        </p:txBody>
      </p:sp>
      <p:sp>
        <p:nvSpPr>
          <p:cNvPr id="3076" name="Slide Number Placeholder 5"/>
          <p:cNvSpPr>
            <a:spLocks noGrp="1"/>
          </p:cNvSpPr>
          <p:nvPr>
            <p:ph type="sldNum" sz="quarter" idx="12"/>
          </p:nvPr>
        </p:nvSpPr>
        <p:spPr/>
        <p:txBody>
          <a:bodyPr/>
          <a:lstStyle/>
          <a:p>
            <a:pPr lvl="0" algn="r"/>
            <a:fld id="{C2576897-85C1-4CA7-8B20-8EA5D97F68BC}" type="slidenum">
              <a:rPr sz="1400"/>
              <a:t>2</a:t>
            </a:fld>
            <a:endParaRPr lang="en-US"/>
          </a:p>
        </p:txBody>
      </p:sp>
      <p:sp>
        <p:nvSpPr>
          <p:cNvPr id="3077" name="Footer Placeholder 4"/>
          <p:cNvSpPr>
            <a:spLocks noGrp="1"/>
          </p:cNvSpPr>
          <p:nvPr>
            <p:ph type="ftr" sz="quarter" idx="11"/>
          </p:nvPr>
        </p:nvSpPr>
        <p:spPr/>
        <p:txBody>
          <a:bodyPr/>
          <a:lstStyle/>
          <a:p>
            <a:pPr lvl="0" algn="ctr"/>
            <a:fld id="{C8BC05B8-4D7C-488E-9CC4-3F1D34C27390}" type="footer">
              <a:rPr sz="1400"/>
              <a:t>(c) Aberdeen Group, Inc.</a:t>
            </a:fld>
            <a:endParaRPr sz="1400"/>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4098"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Market Segmentation</a:t>
            </a:r>
          </a:p>
        </p:txBody>
      </p:sp>
      <p:sp>
        <p:nvSpPr>
          <p:cNvPr id="4099" name=""/>
          <p:cNvSpPr/>
          <p:nvPr>
            <p:ph type="body" sz="half" idx="1"/>
          </p:nvPr>
        </p:nvSpPr>
        <p:spPr>
          <a:xfrm>
            <a:off x="685800" y="1981200"/>
            <a:ext cx="38100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6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600" b="0" i="0" u="none" baseline="0">
                <a:solidFill>
                  <a:schemeClr val="tx1"/>
                </a:solidFill>
                <a:effectLst/>
                <a:latin typeface="Times New Roman" pitchFamily="18" charset="0"/>
              </a:defRPr>
            </a:lvl5pPr>
          </a:lstStyle>
          <a:p>
            <a:pPr lvl="0"/>
            <a:r>
              <a:t>Property &amp; Casualty</a:t>
            </a:r>
          </a:p>
          <a:p>
            <a:pPr lvl="1"/>
            <a:r>
              <a:t>Home, business, liability, interruption</a:t>
            </a:r>
          </a:p>
          <a:p>
            <a:pPr lvl="1"/>
            <a:r>
              <a:t>$260B in premiums</a:t>
            </a:r>
          </a:p>
          <a:p>
            <a:pPr lvl="1"/>
            <a:r>
              <a:t>All consumers and businesses are customers</a:t>
            </a:r>
          </a:p>
        </p:txBody>
      </p:sp>
      <p:sp>
        <p:nvSpPr>
          <p:cNvPr id="4100" name=""/>
          <p:cNvSpPr/>
          <p:nvPr>
            <p:ph type="body" sz="half" idx="1"/>
          </p:nvPr>
        </p:nvSpPr>
        <p:spPr>
          <a:xfrm>
            <a:off x="4648200" y="1981200"/>
            <a:ext cx="38100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6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600" b="0" i="0" u="none" baseline="0">
                <a:solidFill>
                  <a:schemeClr val="tx1"/>
                </a:solidFill>
                <a:effectLst/>
                <a:latin typeface="Times New Roman" pitchFamily="18" charset="0"/>
              </a:defRPr>
            </a:lvl5pPr>
          </a:lstStyle>
          <a:p>
            <a:pPr lvl="0"/>
            <a:r>
              <a:t>Life &amp; Health</a:t>
            </a:r>
          </a:p>
          <a:p>
            <a:pPr lvl="1"/>
            <a:r>
              <a:t>Life and health insurance</a:t>
            </a:r>
          </a:p>
          <a:p>
            <a:pPr lvl="1"/>
            <a:r>
              <a:t>$330B in premiums</a:t>
            </a:r>
          </a:p>
          <a:p>
            <a:pPr lvl="1"/>
            <a:r>
              <a:t>Personal and group are major sub-segments</a:t>
            </a:r>
          </a:p>
          <a:p>
            <a:pPr lvl="1"/>
            <a:r>
              <a:t>80%+ of businesses and consumers are customers</a:t>
            </a:r>
          </a:p>
        </p:txBody>
      </p:sp>
      <p:sp>
        <p:nvSpPr>
          <p:cNvPr id="4101" name="Slide Number Placeholder 6"/>
          <p:cNvSpPr>
            <a:spLocks noGrp="1"/>
          </p:cNvSpPr>
          <p:nvPr>
            <p:ph type="sldNum" sz="quarter" idx="12"/>
          </p:nvPr>
        </p:nvSpPr>
        <p:spPr/>
        <p:txBody>
          <a:bodyPr/>
          <a:lstStyle/>
          <a:p>
            <a:pPr lvl="0" algn="r"/>
            <a:fld id="{62553401-4175-47D2-94E3-DE9F878E7429}" type="slidenum">
              <a:rPr sz="1400"/>
              <a:t>3</a:t>
            </a:fld>
            <a:endParaRPr lang="en-US"/>
          </a:p>
        </p:txBody>
      </p:sp>
      <p:sp>
        <p:nvSpPr>
          <p:cNvPr id="4102" name="Footer Placeholder 5"/>
          <p:cNvSpPr>
            <a:spLocks noGrp="1"/>
          </p:cNvSpPr>
          <p:nvPr>
            <p:ph type="ftr" sz="quarter" idx="11"/>
          </p:nvPr>
        </p:nvSpPr>
        <p:spPr/>
        <p:txBody>
          <a:bodyPr/>
          <a:lstStyle/>
          <a:p>
            <a:pPr lvl="0" algn="ctr"/>
            <a:fld id="{45C095A8-C6A4-44B5-A052-6C733B63181E}" type="footer">
              <a:rPr sz="1400"/>
              <a:t>(c) Aberdeen Group, Inc.</a:t>
            </a:fld>
            <a:endParaRPr sz="1400"/>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6146"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Business Drivers</a:t>
            </a:r>
          </a:p>
        </p:txBody>
      </p:sp>
      <p:sp>
        <p:nvSpPr>
          <p:cNvPr id="6147"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lnSpc>
                <a:spcPct val="90000"/>
              </a:lnSpc>
            </a:pPr>
            <a:r>
              <a:t>Erosion of profitability due to competition and poor actuarial planning</a:t>
            </a:r>
          </a:p>
          <a:p>
            <a:pPr lvl="1">
              <a:lnSpc>
                <a:spcPct val="90000"/>
              </a:lnSpc>
            </a:pPr>
            <a:r>
              <a:t>Breakdown in traditional business relationships, driving many to seek “lowest price” — commodity products</a:t>
            </a:r>
          </a:p>
          <a:p>
            <a:pPr lvl="1">
              <a:lnSpc>
                <a:spcPct val="90000"/>
              </a:lnSpc>
            </a:pPr>
            <a:r>
              <a:t>Lack of product and service differentiation</a:t>
            </a:r>
          </a:p>
          <a:p>
            <a:pPr lvl="1">
              <a:lnSpc>
                <a:spcPct val="90000"/>
              </a:lnSpc>
            </a:pPr>
            <a:r>
              <a:t>Relative disadvantage in consumer face-time</a:t>
            </a:r>
          </a:p>
          <a:p>
            <a:pPr lvl="1">
              <a:lnSpc>
                <a:spcPct val="90000"/>
              </a:lnSpc>
            </a:pPr>
            <a:r>
              <a:t>Bad bets placed on coastal real estate, longevity, HMO savings</a:t>
            </a:r>
          </a:p>
          <a:p>
            <a:pPr lvl="0">
              <a:lnSpc>
                <a:spcPct val="90000"/>
              </a:lnSpc>
            </a:pPr>
            <a:r>
              <a:t>High expense ratios, slowing growth, market-share challenges, M&amp;A</a:t>
            </a:r>
          </a:p>
          <a:p>
            <a:pPr lvl="0">
              <a:lnSpc>
                <a:spcPct val="90000"/>
              </a:lnSpc>
            </a:pPr>
          </a:p>
        </p:txBody>
      </p:sp>
      <p:sp>
        <p:nvSpPr>
          <p:cNvPr id="6148" name="Slide Number Placeholder 5"/>
          <p:cNvSpPr>
            <a:spLocks noGrp="1"/>
          </p:cNvSpPr>
          <p:nvPr>
            <p:ph type="sldNum" sz="quarter" idx="12"/>
          </p:nvPr>
        </p:nvSpPr>
        <p:spPr/>
        <p:txBody>
          <a:bodyPr/>
          <a:lstStyle/>
          <a:p>
            <a:pPr lvl="0" algn="r"/>
            <a:fld id="{EC1CCEF2-935B-42B4-9236-282666D34A4E}" type="slidenum">
              <a:rPr sz="1400"/>
              <a:t>4</a:t>
            </a:fld>
            <a:endParaRPr lang="en-US"/>
          </a:p>
        </p:txBody>
      </p:sp>
      <p:sp>
        <p:nvSpPr>
          <p:cNvPr id="6149" name="Footer Placeholder 4"/>
          <p:cNvSpPr>
            <a:spLocks noGrp="1"/>
          </p:cNvSpPr>
          <p:nvPr>
            <p:ph type="ftr" sz="quarter" idx="11"/>
          </p:nvPr>
        </p:nvSpPr>
        <p:spPr/>
        <p:txBody>
          <a:bodyPr/>
          <a:lstStyle/>
          <a:p>
            <a:pPr lvl="0" algn="ctr"/>
            <a:fld id="{E3DB9091-5855-46C1-98EB-7A1ACEB19144}" type="footer">
              <a:rPr sz="1400"/>
              <a:t>(c) Aberdeen Group, Inc.</a:t>
            </a:fld>
            <a:endParaRPr sz="1400"/>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14338"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Business Drivers	</a:t>
            </a:r>
          </a:p>
        </p:txBody>
      </p:sp>
      <p:sp>
        <p:nvSpPr>
          <p:cNvPr id="14339"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Customer Service</a:t>
            </a:r>
          </a:p>
          <a:p>
            <a:pPr lvl="1"/>
            <a:r>
              <a:t>A huge cost-center opportunity for $$$ savings</a:t>
            </a:r>
          </a:p>
          <a:p>
            <a:pPr lvl="1"/>
            <a:r>
              <a:t>A means of differentiation (e.g., 24x7, drive-in, etc.)</a:t>
            </a:r>
          </a:p>
          <a:p>
            <a:pPr lvl="0"/>
            <a:r>
              <a:t>Government regulation</a:t>
            </a:r>
          </a:p>
          <a:p>
            <a:pPr lvl="1"/>
            <a:r>
              <a:t>50 states plus federal = high cost to enter market</a:t>
            </a:r>
          </a:p>
          <a:p>
            <a:pPr lvl="0"/>
            <a:r>
              <a:t>Complicated, multi-tier selling and service delivery schemes are traditional</a:t>
            </a:r>
          </a:p>
          <a:p>
            <a:pPr lvl="1"/>
            <a:r>
              <a:t>Agencies</a:t>
            </a:r>
          </a:p>
          <a:p>
            <a:pPr lvl="1"/>
            <a:r>
              <a:t>Group plan administration</a:t>
            </a:r>
          </a:p>
        </p:txBody>
      </p:sp>
      <p:sp>
        <p:nvSpPr>
          <p:cNvPr id="14340" name="Slide Number Placeholder 5"/>
          <p:cNvSpPr>
            <a:spLocks noGrp="1"/>
          </p:cNvSpPr>
          <p:nvPr>
            <p:ph type="sldNum" sz="quarter" idx="12"/>
          </p:nvPr>
        </p:nvSpPr>
        <p:spPr/>
        <p:txBody>
          <a:bodyPr/>
          <a:lstStyle/>
          <a:p>
            <a:pPr lvl="0" algn="r"/>
            <a:fld id="{986149F8-2FDB-4EF0-9883-0135C6B1634B}" type="slidenum">
              <a:rPr sz="1400"/>
              <a:t>5</a:t>
            </a:fld>
            <a:endParaRPr lang="en-US"/>
          </a:p>
        </p:txBody>
      </p:sp>
      <p:sp>
        <p:nvSpPr>
          <p:cNvPr id="14341" name="Footer Placeholder 4"/>
          <p:cNvSpPr>
            <a:spLocks noGrp="1"/>
          </p:cNvSpPr>
          <p:nvPr>
            <p:ph type="ftr" sz="quarter" idx="11"/>
          </p:nvPr>
        </p:nvSpPr>
        <p:spPr/>
        <p:txBody>
          <a:bodyPr/>
          <a:lstStyle/>
          <a:p>
            <a:pPr lvl="0" algn="ctr"/>
            <a:fld id="{DAB8DC93-89A4-45B3-942C-CD35D9B14B6D}" type="footer">
              <a:rPr sz="1400"/>
              <a:t>(c) Aberdeen Group, Inc.</a:t>
            </a:fld>
            <a:endParaRPr sz="1400"/>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170"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Industry Trends</a:t>
            </a:r>
          </a:p>
        </p:txBody>
      </p:sp>
      <p:sp>
        <p:nvSpPr>
          <p:cNvPr id="7171"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Financial</a:t>
            </a:r>
            <a:r>
              <a:t> Disintermediation</a:t>
            </a:r>
          </a:p>
          <a:p>
            <a:pPr lvl="1"/>
            <a:r>
              <a:t>“Why not buy insurance from … a bank”</a:t>
            </a:r>
          </a:p>
          <a:p>
            <a:pPr lvl="1"/>
            <a:r>
              <a:t>Or over the Internet from the lowest-cost bidder</a:t>
            </a:r>
          </a:p>
          <a:p>
            <a:pPr lvl="1"/>
            <a:r>
              <a:t>The Citibank/</a:t>
            </a:r>
            <a:r>
              <a:t>Travellers</a:t>
            </a:r>
            <a:r>
              <a:t> merger was not an aberration</a:t>
            </a:r>
          </a:p>
          <a:p>
            <a:pPr lvl="0"/>
            <a:r>
              <a:t>Year 2000 Creates Supply-Chain Opportunities</a:t>
            </a:r>
          </a:p>
          <a:p>
            <a:pPr lvl="1"/>
            <a:r>
              <a:t>Safe HQ but failing agencies?</a:t>
            </a:r>
          </a:p>
        </p:txBody>
      </p:sp>
      <p:sp>
        <p:nvSpPr>
          <p:cNvPr id="7172" name="Slide Number Placeholder 5"/>
          <p:cNvSpPr>
            <a:spLocks noGrp="1"/>
          </p:cNvSpPr>
          <p:nvPr>
            <p:ph type="sldNum" sz="quarter" idx="12"/>
          </p:nvPr>
        </p:nvSpPr>
        <p:spPr/>
        <p:txBody>
          <a:bodyPr/>
          <a:lstStyle/>
          <a:p>
            <a:pPr lvl="0" algn="r"/>
            <a:fld id="{857B5256-9FC3-4090-933D-D607D6E522D0}" type="slidenum">
              <a:rPr sz="1400"/>
              <a:t>6</a:t>
            </a:fld>
            <a:endParaRPr lang="en-US"/>
          </a:p>
        </p:txBody>
      </p:sp>
      <p:sp>
        <p:nvSpPr>
          <p:cNvPr id="7173" name="Footer Placeholder 4"/>
          <p:cNvSpPr>
            <a:spLocks noGrp="1"/>
          </p:cNvSpPr>
          <p:nvPr>
            <p:ph type="ftr" sz="quarter" idx="11"/>
          </p:nvPr>
        </p:nvSpPr>
        <p:spPr/>
        <p:txBody>
          <a:bodyPr/>
          <a:lstStyle/>
          <a:p>
            <a:pPr lvl="0" algn="ctr"/>
            <a:fld id="{30FED730-2C49-46B2-935E-A7F98D3421E4}" type="footer">
              <a:rPr sz="1400"/>
              <a:t>(c) Aberdeen Group, Inc.</a:t>
            </a:fld>
            <a:endParaRPr sz="1400"/>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15364"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Industry Trends</a:t>
            </a:r>
          </a:p>
        </p:txBody>
      </p:sp>
      <p:sp>
        <p:nvSpPr>
          <p:cNvPr id="15365"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Health Care Remains a Wild Card</a:t>
            </a:r>
          </a:p>
          <a:p>
            <a:pPr lvl="1"/>
            <a:r>
              <a:t>Managed care will become more regulated by politicians</a:t>
            </a:r>
          </a:p>
          <a:p>
            <a:pPr lvl="1"/>
            <a:r>
              <a:t>Nationalized system unlikely</a:t>
            </a:r>
          </a:p>
          <a:p>
            <a:pPr lvl="1"/>
            <a:r>
              <a:t>Result:  be prepared for rapid systems change</a:t>
            </a:r>
          </a:p>
          <a:p>
            <a:pPr lvl="0"/>
            <a:r>
              <a:t>Electronic Commerce Proliferates</a:t>
            </a:r>
          </a:p>
          <a:p>
            <a:pPr lvl="1"/>
            <a:r>
              <a:t>supplier-to-consumer</a:t>
            </a:r>
          </a:p>
          <a:p>
            <a:pPr lvl="1"/>
            <a:r>
              <a:t>business-to-business</a:t>
            </a:r>
          </a:p>
          <a:p>
            <a:pPr lvl="1"/>
            <a:r>
              <a:t>supplier-to-intermediary</a:t>
            </a:r>
          </a:p>
        </p:txBody>
      </p:sp>
      <p:sp>
        <p:nvSpPr>
          <p:cNvPr id="15366" name="Slide Number Placeholder 5"/>
          <p:cNvSpPr>
            <a:spLocks noGrp="1"/>
          </p:cNvSpPr>
          <p:nvPr>
            <p:ph type="sldNum" sz="quarter" idx="12"/>
          </p:nvPr>
        </p:nvSpPr>
        <p:spPr/>
        <p:txBody>
          <a:bodyPr/>
          <a:lstStyle/>
          <a:p>
            <a:pPr lvl="0" algn="r"/>
            <a:fld id="{3EA6B8C0-D4CB-43BB-821E-A290743EA70D}" type="slidenum">
              <a:rPr sz="1400"/>
              <a:t>7</a:t>
            </a:fld>
            <a:endParaRPr lang="en-US"/>
          </a:p>
        </p:txBody>
      </p:sp>
      <p:sp>
        <p:nvSpPr>
          <p:cNvPr id="15367" name="Footer Placeholder 4"/>
          <p:cNvSpPr>
            <a:spLocks noGrp="1"/>
          </p:cNvSpPr>
          <p:nvPr>
            <p:ph type="ftr" sz="quarter" idx="11"/>
          </p:nvPr>
        </p:nvSpPr>
        <p:spPr/>
        <p:txBody>
          <a:bodyPr/>
          <a:lstStyle/>
          <a:p>
            <a:pPr lvl="0" algn="ctr"/>
            <a:fld id="{9E2AF0DC-A97A-474C-9F0E-9F978162F97B}" type="footer">
              <a:rPr sz="1400"/>
              <a:t>(c) Aberdeen Group, Inc.</a:t>
            </a:fld>
            <a:endParaRPr sz="1400"/>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8194"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Technology in Insurance</a:t>
            </a:r>
          </a:p>
        </p:txBody>
      </p:sp>
      <p:sp>
        <p:nvSpPr>
          <p:cNvPr id="8195"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Architecture</a:t>
            </a:r>
          </a:p>
          <a:p>
            <a:pPr lvl="1"/>
            <a:r>
              <a:t>Mainframe tradition for OLTP and batch</a:t>
            </a:r>
          </a:p>
          <a:p>
            <a:pPr lvl="1"/>
            <a:r>
              <a:t>Agency systems are moving towards NT</a:t>
            </a:r>
          </a:p>
          <a:p>
            <a:pPr lvl="1"/>
            <a:r>
              <a:t>Multi-tier, geographically distributed systems are the norm</a:t>
            </a:r>
          </a:p>
          <a:p>
            <a:pPr lvl="0"/>
            <a:r>
              <a:t>Interface: almost all human-to-computer [unlike </a:t>
            </a:r>
            <a:r>
              <a:t>POS</a:t>
            </a:r>
            <a:r>
              <a:t> and ATM special terminals in retail and banking]</a:t>
            </a:r>
          </a:p>
        </p:txBody>
      </p:sp>
      <p:sp>
        <p:nvSpPr>
          <p:cNvPr id="8196" name="Slide Number Placeholder 5"/>
          <p:cNvSpPr>
            <a:spLocks noGrp="1"/>
          </p:cNvSpPr>
          <p:nvPr>
            <p:ph type="sldNum" sz="quarter" idx="12"/>
          </p:nvPr>
        </p:nvSpPr>
        <p:spPr/>
        <p:txBody>
          <a:bodyPr/>
          <a:lstStyle/>
          <a:p>
            <a:pPr lvl="0" algn="r"/>
            <a:fld id="{7001AC7F-A8C6-4C77-A5EF-BC3F93255FB5}" type="slidenum">
              <a:rPr sz="1400"/>
              <a:t>8</a:t>
            </a:fld>
            <a:endParaRPr lang="en-US"/>
          </a:p>
        </p:txBody>
      </p:sp>
      <p:sp>
        <p:nvSpPr>
          <p:cNvPr id="8197" name="Footer Placeholder 4"/>
          <p:cNvSpPr>
            <a:spLocks noGrp="1"/>
          </p:cNvSpPr>
          <p:nvPr>
            <p:ph type="ftr" sz="quarter" idx="11"/>
          </p:nvPr>
        </p:nvSpPr>
        <p:spPr/>
        <p:txBody>
          <a:bodyPr/>
          <a:lstStyle/>
          <a:p>
            <a:pPr lvl="0" algn="ctr"/>
            <a:fld id="{6B4DE468-570B-47B7-8BBB-6927179189D8}" type="footer">
              <a:rPr sz="1400"/>
              <a:t>(c) Aberdeen Group, Inc.</a:t>
            </a:fld>
            <a:endParaRPr sz="1400"/>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19458"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Technology in Insurance</a:t>
            </a:r>
          </a:p>
        </p:txBody>
      </p:sp>
      <p:sp>
        <p:nvSpPr>
          <p:cNvPr id="19459"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Vast Data Requirements</a:t>
            </a:r>
          </a:p>
          <a:p>
            <a:pPr lvl="1"/>
            <a:r>
              <a:t>Underwriting</a:t>
            </a:r>
          </a:p>
          <a:p>
            <a:pPr lvl="1"/>
            <a:r>
              <a:t>Actuarial</a:t>
            </a:r>
          </a:p>
          <a:p>
            <a:pPr lvl="1"/>
            <a:r>
              <a:t>Claims</a:t>
            </a:r>
          </a:p>
          <a:p>
            <a:pPr lvl="1"/>
            <a:r>
              <a:t>Regulatory</a:t>
            </a:r>
          </a:p>
          <a:p>
            <a:pPr lvl="0"/>
            <a:r>
              <a:t>Data Warehousing is a natural, growing fast</a:t>
            </a:r>
          </a:p>
        </p:txBody>
      </p:sp>
      <p:sp>
        <p:nvSpPr>
          <p:cNvPr id="19460" name="Slide Number Placeholder 5"/>
          <p:cNvSpPr>
            <a:spLocks noGrp="1"/>
          </p:cNvSpPr>
          <p:nvPr>
            <p:ph type="sldNum" sz="quarter" idx="12"/>
          </p:nvPr>
        </p:nvSpPr>
        <p:spPr/>
        <p:txBody>
          <a:bodyPr/>
          <a:lstStyle/>
          <a:p>
            <a:pPr lvl="0" algn="r"/>
            <a:fld id="{E81B7C21-05AF-410C-BB08-7B996036A1A4}" type="slidenum">
              <a:rPr sz="1400"/>
              <a:t>9</a:t>
            </a:fld>
            <a:endParaRPr lang="en-US"/>
          </a:p>
        </p:txBody>
      </p:sp>
      <p:sp>
        <p:nvSpPr>
          <p:cNvPr id="19461" name="Footer Placeholder 4"/>
          <p:cNvSpPr>
            <a:spLocks noGrp="1"/>
          </p:cNvSpPr>
          <p:nvPr>
            <p:ph type="ftr" sz="quarter" idx="11"/>
          </p:nvPr>
        </p:nvSpPr>
        <p:spPr/>
        <p:txBody>
          <a:bodyPr/>
          <a:lstStyle/>
          <a:p>
            <a:pPr lvl="0" algn="ctr"/>
            <a:fld id="{AC2215EF-9676-4E01-9FB6-AA96EE5BEBE3}" type="footer">
              <a:rPr sz="1400"/>
              <a:t>(c) Aberdeen Group, Inc.</a:t>
            </a:fld>
            <a:endParaRPr sz="1400"/>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18434"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Technology in Insurance</a:t>
            </a:r>
          </a:p>
        </p:txBody>
      </p:sp>
      <p:sp>
        <p:nvSpPr>
          <p:cNvPr id="18435"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Computing Styles</a:t>
            </a:r>
          </a:p>
          <a:p>
            <a:pPr lvl="1"/>
            <a:r>
              <a:t>Large volumes dictate mature software</a:t>
            </a:r>
          </a:p>
          <a:p>
            <a:pPr lvl="1"/>
            <a:r>
              <a:t>Complicated transactions (volumes vary by segment)</a:t>
            </a:r>
          </a:p>
          <a:p>
            <a:pPr lvl="1"/>
            <a:r>
              <a:t>Client-server in local offices for speed.  Perhaps a local database</a:t>
            </a:r>
          </a:p>
          <a:p>
            <a:pPr lvl="0"/>
            <a:r>
              <a:t>Complex data (e.g., ORDBMS) slow to take off</a:t>
            </a:r>
          </a:p>
          <a:p>
            <a:pPr lvl="1"/>
            <a:r>
              <a:t>Imaging also slow uptake due to costs.  Is changing due to cheap digital cameras and printers.</a:t>
            </a:r>
          </a:p>
        </p:txBody>
      </p:sp>
      <p:sp>
        <p:nvSpPr>
          <p:cNvPr id="18436" name="Slide Number Placeholder 5"/>
          <p:cNvSpPr>
            <a:spLocks noGrp="1"/>
          </p:cNvSpPr>
          <p:nvPr>
            <p:ph type="sldNum" sz="quarter" idx="12"/>
          </p:nvPr>
        </p:nvSpPr>
        <p:spPr/>
        <p:txBody>
          <a:bodyPr/>
          <a:lstStyle/>
          <a:p>
            <a:pPr lvl="0" algn="r"/>
            <a:fld id="{F0932B5A-4172-4D08-A976-C18A914A9C98}" type="slidenum">
              <a:rPr sz="1400"/>
              <a:t>10</a:t>
            </a:fld>
            <a:endParaRPr lang="en-US"/>
          </a:p>
        </p:txBody>
      </p:sp>
      <p:sp>
        <p:nvSpPr>
          <p:cNvPr id="18437" name="Footer Placeholder 4"/>
          <p:cNvSpPr>
            <a:spLocks noGrp="1"/>
          </p:cNvSpPr>
          <p:nvPr>
            <p:ph type="ftr" sz="quarter" idx="11"/>
          </p:nvPr>
        </p:nvSpPr>
        <p:spPr/>
        <p:txBody>
          <a:bodyPr/>
          <a:lstStyle/>
          <a:p>
            <a:pPr lvl="0" algn="ctr"/>
            <a:fld id="{3268FFD6-D260-4B91-9D28-7E3CE42C4250}" type="footer">
              <a:rPr sz="1400"/>
              <a:t>(c) Aberdeen Group, Inc.</a:t>
            </a:fld>
            <a:endParaRPr sz="1400"/>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4578"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Technology Problem Example</a:t>
            </a:r>
          </a:p>
        </p:txBody>
      </p:sp>
      <p:sp>
        <p:nvSpPr>
          <p:cNvPr id="24579"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Large, for-profit insurance company with huge investment in mainframe systems</a:t>
            </a:r>
          </a:p>
          <a:p>
            <a:pPr lvl="0"/>
            <a:r>
              <a:t>Slow information turnaround due to batch orientation and lack of a data warehouse</a:t>
            </a:r>
          </a:p>
          <a:p>
            <a:pPr lvl="0"/>
            <a:r>
              <a:t>Under market pressure to make casualty claims decisions faster in 500 local offices.  Walk-up claim resolution is the business goal.</a:t>
            </a:r>
          </a:p>
          <a:p>
            <a:pPr lvl="0"/>
            <a:r>
              <a:t>But fraud checking and cost-comparison data must be kept at headquarters</a:t>
            </a:r>
          </a:p>
        </p:txBody>
      </p:sp>
      <p:sp>
        <p:nvSpPr>
          <p:cNvPr id="24580" name="Slide Number Placeholder 5"/>
          <p:cNvSpPr>
            <a:spLocks noGrp="1"/>
          </p:cNvSpPr>
          <p:nvPr>
            <p:ph type="sldNum" sz="quarter" idx="12"/>
          </p:nvPr>
        </p:nvSpPr>
        <p:spPr/>
        <p:txBody>
          <a:bodyPr/>
          <a:lstStyle/>
          <a:p>
            <a:pPr lvl="0" algn="r"/>
            <a:fld id="{D5DDD049-C21F-4AA6-8D11-09DB2BC30513}" type="slidenum">
              <a:rPr sz="1400"/>
              <a:t>11</a:t>
            </a:fld>
            <a:endParaRPr lang="en-US"/>
          </a:p>
        </p:txBody>
      </p:sp>
      <p:sp>
        <p:nvSpPr>
          <p:cNvPr id="24581" name="Footer Placeholder 4"/>
          <p:cNvSpPr>
            <a:spLocks noGrp="1"/>
          </p:cNvSpPr>
          <p:nvPr>
            <p:ph type="ftr" sz="quarter" idx="11"/>
          </p:nvPr>
        </p:nvSpPr>
        <p:spPr/>
        <p:txBody>
          <a:bodyPr/>
          <a:lstStyle/>
          <a:p>
            <a:pPr lvl="0" algn="ctr"/>
            <a:fld id="{C65AF5BF-A12F-4C39-9D99-99430B6B3D46}" type="footer">
              <a:rPr sz="1400"/>
              <a:t>(c) Aberdeen Group, Inc.</a:t>
            </a:fld>
            <a:endParaRPr sz="1400"/>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0482" name=""/>
          <p:cNvSpPr/>
          <p:nvPr/>
        </p:nvSpPr>
        <p:spPr>
          <a:xfrm>
            <a:off x="711200" y="6248400"/>
            <a:ext cx="1897063" cy="457200"/>
          </a:xfrm>
          <a:prstGeom prst="rect">
            <a:avLst/>
          </a:prstGeom>
          <a:noFill/>
          <a:ln>
            <a:noFill/>
            <a:miter lim="800000"/>
          </a:ln>
          <a:effectLst/>
        </p:spPr>
      </p:sp>
      <p:sp>
        <p:nvSpPr>
          <p:cNvPr id="20483" name=""/>
          <p:cNvSpPr/>
          <p:nvPr/>
        </p:nvSpPr>
        <p:spPr>
          <a:xfrm>
            <a:off x="3149600" y="6248400"/>
            <a:ext cx="2844800" cy="457200"/>
          </a:xfrm>
          <a:prstGeom prst="rect">
            <a:avLst/>
          </a:prstGeom>
          <a:noFill/>
          <a:ln>
            <a:noFill/>
            <a:miter lim="800000"/>
          </a:ln>
          <a:effectLst/>
        </p:spPr>
      </p:sp>
      <p:sp>
        <p:nvSpPr>
          <p:cNvPr id="20484" name=""/>
          <p:cNvSpPr/>
          <p:nvPr>
            <p:ph type="title"/>
          </p:nvPr>
        </p:nvSpPr>
        <p:spPr>
          <a:xfrm>
            <a:off x="685800" y="609600"/>
            <a:ext cx="7772400" cy="1143000"/>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3-Tier Application Example:</a:t>
            </a:r>
            <a:br/>
            <a:r>
              <a:t>Insurance Claims</a:t>
            </a:r>
          </a:p>
        </p:txBody>
      </p:sp>
      <p:grpSp>
        <p:nvGrpSpPr>
          <p:cNvPr id="20486" name=""/>
          <p:cNvGrpSpPr/>
          <p:nvPr/>
        </p:nvGrpSpPr>
        <p:grpSpPr>
          <a:xfrm>
            <a:off x="3313113" y="3663950"/>
            <a:ext cx="3332162" cy="730250"/>
            <a:chOff x="2087" y="2308"/>
            <a:chExt cx="2099" cy="460"/>
          </a:xfrm>
        </p:grpSpPr>
        <p:sp>
          <p:nvSpPr>
            <p:cNvPr id="20487" name=""/>
            <p:cNvSpPr/>
            <p:nvPr/>
          </p:nvSpPr>
          <p:spPr>
            <a:xfrm>
              <a:off x="2087" y="2308"/>
              <a:ext cx="305" cy="460"/>
            </a:xfrm>
            <a:prstGeom prst="cube">
              <a:avLst>
                <a:gd name="adj" fmla="val 24995"/>
              </a:avLst>
            </a:prstGeom>
            <a:solidFill>
              <a:schemeClr val="folHlink"/>
            </a:solidFill>
            <a:ln w="12700">
              <a:solidFill>
                <a:schemeClr val="tx1"/>
              </a:solidFill>
              <a:miter lim="800000"/>
            </a:ln>
            <a:effectLst/>
          </p:spPr>
        </p:sp>
        <p:sp>
          <p:nvSpPr>
            <p:cNvPr id="20488" name=""/>
            <p:cNvSpPr/>
            <p:nvPr/>
          </p:nvSpPr>
          <p:spPr>
            <a:xfrm>
              <a:off x="2804" y="2308"/>
              <a:ext cx="305" cy="460"/>
            </a:xfrm>
            <a:prstGeom prst="cube">
              <a:avLst>
                <a:gd name="adj" fmla="val 24995"/>
              </a:avLst>
            </a:prstGeom>
            <a:solidFill>
              <a:schemeClr val="folHlink"/>
            </a:solidFill>
            <a:ln w="12700">
              <a:solidFill>
                <a:schemeClr val="tx1"/>
              </a:solidFill>
              <a:miter lim="800000"/>
            </a:ln>
            <a:effectLst/>
          </p:spPr>
        </p:sp>
        <p:sp>
          <p:nvSpPr>
            <p:cNvPr id="20489" name=""/>
            <p:cNvSpPr/>
            <p:nvPr/>
          </p:nvSpPr>
          <p:spPr>
            <a:xfrm>
              <a:off x="2446" y="2308"/>
              <a:ext cx="305" cy="460"/>
            </a:xfrm>
            <a:prstGeom prst="cube">
              <a:avLst>
                <a:gd name="adj" fmla="val 24995"/>
              </a:avLst>
            </a:prstGeom>
            <a:solidFill>
              <a:schemeClr val="folHlink"/>
            </a:solidFill>
            <a:ln w="12700">
              <a:solidFill>
                <a:schemeClr val="tx1"/>
              </a:solidFill>
              <a:miter lim="800000"/>
            </a:ln>
            <a:effectLst/>
          </p:spPr>
        </p:sp>
        <p:sp>
          <p:nvSpPr>
            <p:cNvPr id="20490" name=""/>
            <p:cNvSpPr/>
            <p:nvPr/>
          </p:nvSpPr>
          <p:spPr>
            <a:xfrm>
              <a:off x="3163" y="2308"/>
              <a:ext cx="305" cy="460"/>
            </a:xfrm>
            <a:prstGeom prst="cube">
              <a:avLst>
                <a:gd name="adj" fmla="val 24995"/>
              </a:avLst>
            </a:prstGeom>
            <a:solidFill>
              <a:schemeClr val="folHlink"/>
            </a:solidFill>
            <a:ln w="12700">
              <a:solidFill>
                <a:schemeClr val="tx1"/>
              </a:solidFill>
              <a:miter lim="800000"/>
            </a:ln>
            <a:effectLst/>
          </p:spPr>
        </p:sp>
        <p:sp>
          <p:nvSpPr>
            <p:cNvPr id="20491" name=""/>
            <p:cNvSpPr/>
            <p:nvPr/>
          </p:nvSpPr>
          <p:spPr>
            <a:xfrm>
              <a:off x="3521" y="2308"/>
              <a:ext cx="306" cy="460"/>
            </a:xfrm>
            <a:prstGeom prst="cube">
              <a:avLst>
                <a:gd name="adj" fmla="val 24995"/>
              </a:avLst>
            </a:prstGeom>
            <a:solidFill>
              <a:schemeClr val="folHlink"/>
            </a:solidFill>
            <a:ln w="12700">
              <a:solidFill>
                <a:schemeClr val="tx1"/>
              </a:solidFill>
              <a:miter lim="800000"/>
            </a:ln>
            <a:effectLst/>
          </p:spPr>
        </p:sp>
        <p:sp>
          <p:nvSpPr>
            <p:cNvPr id="20492" name=""/>
            <p:cNvSpPr/>
            <p:nvPr/>
          </p:nvSpPr>
          <p:spPr>
            <a:xfrm>
              <a:off x="3880" y="2308"/>
              <a:ext cx="306" cy="460"/>
            </a:xfrm>
            <a:prstGeom prst="cube">
              <a:avLst>
                <a:gd name="adj" fmla="val 24995"/>
              </a:avLst>
            </a:prstGeom>
            <a:solidFill>
              <a:schemeClr val="folHlink"/>
            </a:solidFill>
            <a:ln w="12700">
              <a:solidFill>
                <a:schemeClr val="tx1"/>
              </a:solidFill>
              <a:miter lim="800000"/>
            </a:ln>
            <a:effectLst/>
          </p:spPr>
        </p:sp>
        <p:grpSp>
          <p:nvGrpSpPr>
            <p:cNvPr id="20493" name=""/>
            <p:cNvGrpSpPr/>
            <p:nvPr/>
          </p:nvGrpSpPr>
          <p:grpSpPr>
            <a:xfrm>
              <a:off x="2173" y="2431"/>
              <a:ext cx="90" cy="127"/>
              <a:chOff x="2173" y="2431"/>
              <a:chExt cx="90" cy="127"/>
            </a:xfrm>
          </p:grpSpPr>
          <p:cxnSp>
            <p:nvCxnSpPr>
              <p:cNvPr id="20494" name=""/>
              <p:cNvCxnSpPr/>
              <p:nvPr/>
            </p:nvCxnSpPr>
            <p:spPr>
              <a:xfrm flipH="1">
                <a:off x="2173" y="2431"/>
                <a:ext cx="0" cy="127"/>
              </a:xfrm>
              <a:prstGeom prst="line">
                <a:avLst/>
              </a:prstGeom>
              <a:noFill/>
              <a:ln w="12700">
                <a:solidFill>
                  <a:schemeClr val="tx1"/>
                </a:solidFill>
                <a:miter lim="800000"/>
              </a:ln>
              <a:effectLst/>
            </p:spPr>
          </p:cxnSp>
          <p:cxnSp>
            <p:nvCxnSpPr>
              <p:cNvPr id="20495" name=""/>
              <p:cNvCxnSpPr/>
              <p:nvPr/>
            </p:nvCxnSpPr>
            <p:spPr>
              <a:xfrm flipH="1">
                <a:off x="2217" y="2431"/>
                <a:ext cx="0" cy="127"/>
              </a:xfrm>
              <a:prstGeom prst="line">
                <a:avLst/>
              </a:prstGeom>
              <a:noFill/>
              <a:ln w="12700">
                <a:solidFill>
                  <a:schemeClr val="tx1"/>
                </a:solidFill>
                <a:miter lim="800000"/>
              </a:ln>
              <a:effectLst/>
            </p:spPr>
          </p:cxnSp>
          <p:cxnSp>
            <p:nvCxnSpPr>
              <p:cNvPr id="20496" name=""/>
              <p:cNvCxnSpPr/>
              <p:nvPr/>
            </p:nvCxnSpPr>
            <p:spPr>
              <a:xfrm flipH="1">
                <a:off x="2263" y="2431"/>
                <a:ext cx="0" cy="127"/>
              </a:xfrm>
              <a:prstGeom prst="line">
                <a:avLst/>
              </a:prstGeom>
              <a:noFill/>
              <a:ln w="12700">
                <a:solidFill>
                  <a:schemeClr val="tx1"/>
                </a:solidFill>
                <a:miter lim="800000"/>
              </a:ln>
              <a:effectLst/>
            </p:spPr>
          </p:cxnSp>
        </p:grpSp>
        <p:grpSp>
          <p:nvGrpSpPr>
            <p:cNvPr id="20497" name=""/>
            <p:cNvGrpSpPr/>
            <p:nvPr/>
          </p:nvGrpSpPr>
          <p:grpSpPr>
            <a:xfrm>
              <a:off x="3966" y="2431"/>
              <a:ext cx="89" cy="127"/>
              <a:chOff x="3966" y="2431"/>
              <a:chExt cx="89" cy="127"/>
            </a:xfrm>
          </p:grpSpPr>
          <p:cxnSp>
            <p:nvCxnSpPr>
              <p:cNvPr id="20498" name=""/>
              <p:cNvCxnSpPr/>
              <p:nvPr/>
            </p:nvCxnSpPr>
            <p:spPr>
              <a:xfrm flipH="1">
                <a:off x="3966" y="2431"/>
                <a:ext cx="0" cy="127"/>
              </a:xfrm>
              <a:prstGeom prst="line">
                <a:avLst/>
              </a:prstGeom>
              <a:noFill/>
              <a:ln w="12700">
                <a:solidFill>
                  <a:schemeClr val="tx1"/>
                </a:solidFill>
                <a:miter lim="800000"/>
              </a:ln>
              <a:effectLst/>
            </p:spPr>
          </p:cxnSp>
          <p:cxnSp>
            <p:nvCxnSpPr>
              <p:cNvPr id="20499" name=""/>
              <p:cNvCxnSpPr/>
              <p:nvPr/>
            </p:nvCxnSpPr>
            <p:spPr>
              <a:xfrm flipH="1">
                <a:off x="4010" y="2431"/>
                <a:ext cx="0" cy="127"/>
              </a:xfrm>
              <a:prstGeom prst="line">
                <a:avLst/>
              </a:prstGeom>
              <a:noFill/>
              <a:ln w="12700">
                <a:solidFill>
                  <a:schemeClr val="tx1"/>
                </a:solidFill>
                <a:miter lim="800000"/>
              </a:ln>
              <a:effectLst/>
            </p:spPr>
          </p:cxnSp>
          <p:cxnSp>
            <p:nvCxnSpPr>
              <p:cNvPr id="20500" name=""/>
              <p:cNvCxnSpPr/>
              <p:nvPr/>
            </p:nvCxnSpPr>
            <p:spPr>
              <a:xfrm flipH="1">
                <a:off x="4055" y="2431"/>
                <a:ext cx="0" cy="127"/>
              </a:xfrm>
              <a:prstGeom prst="line">
                <a:avLst/>
              </a:prstGeom>
              <a:noFill/>
              <a:ln w="12700">
                <a:solidFill>
                  <a:schemeClr val="tx1"/>
                </a:solidFill>
                <a:miter lim="800000"/>
              </a:ln>
              <a:effectLst/>
            </p:spPr>
          </p:cxnSp>
          <p:cxnSp>
            <p:nvCxnSpPr>
              <p:cNvPr id="20501" name=""/>
              <p:cNvCxnSpPr/>
              <p:nvPr/>
            </p:nvCxnSpPr>
            <p:spPr>
              <a:xfrm flipH="1">
                <a:off x="4055" y="2431"/>
                <a:ext cx="0" cy="127"/>
              </a:xfrm>
              <a:prstGeom prst="line">
                <a:avLst/>
              </a:prstGeom>
              <a:noFill/>
              <a:ln w="12700">
                <a:solidFill>
                  <a:schemeClr val="tx1"/>
                </a:solidFill>
                <a:miter lim="800000"/>
              </a:ln>
              <a:effectLst/>
            </p:spPr>
          </p:cxnSp>
        </p:grpSp>
        <p:cxnSp>
          <p:nvCxnSpPr>
            <p:cNvPr id="20502" name=""/>
            <p:cNvCxnSpPr/>
            <p:nvPr/>
          </p:nvCxnSpPr>
          <p:spPr>
            <a:xfrm flipH="1">
              <a:off x="2532" y="2431"/>
              <a:ext cx="0" cy="127"/>
            </a:xfrm>
            <a:prstGeom prst="line">
              <a:avLst/>
            </a:prstGeom>
            <a:noFill/>
            <a:ln w="12700">
              <a:solidFill>
                <a:schemeClr val="tx1"/>
              </a:solidFill>
              <a:miter lim="800000"/>
            </a:ln>
            <a:effectLst/>
          </p:spPr>
        </p:cxnSp>
        <p:cxnSp>
          <p:nvCxnSpPr>
            <p:cNvPr id="20503" name=""/>
            <p:cNvCxnSpPr/>
            <p:nvPr/>
          </p:nvCxnSpPr>
          <p:spPr>
            <a:xfrm flipH="1">
              <a:off x="2532" y="2431"/>
              <a:ext cx="0" cy="127"/>
            </a:xfrm>
            <a:prstGeom prst="line">
              <a:avLst/>
            </a:prstGeom>
            <a:noFill/>
            <a:ln w="12700">
              <a:solidFill>
                <a:schemeClr val="tx1"/>
              </a:solidFill>
              <a:miter lim="800000"/>
            </a:ln>
            <a:effectLst/>
          </p:spPr>
        </p:cxnSp>
        <p:cxnSp>
          <p:nvCxnSpPr>
            <p:cNvPr id="20504" name=""/>
            <p:cNvCxnSpPr/>
            <p:nvPr/>
          </p:nvCxnSpPr>
          <p:spPr>
            <a:xfrm flipH="1">
              <a:off x="2575" y="2431"/>
              <a:ext cx="0" cy="127"/>
            </a:xfrm>
            <a:prstGeom prst="line">
              <a:avLst/>
            </a:prstGeom>
            <a:noFill/>
            <a:ln w="12700">
              <a:solidFill>
                <a:schemeClr val="tx1"/>
              </a:solidFill>
              <a:miter lim="800000"/>
            </a:ln>
            <a:effectLst/>
          </p:spPr>
        </p:cxnSp>
        <p:cxnSp>
          <p:nvCxnSpPr>
            <p:cNvPr id="20505" name=""/>
            <p:cNvCxnSpPr/>
            <p:nvPr/>
          </p:nvCxnSpPr>
          <p:spPr>
            <a:xfrm flipH="1">
              <a:off x="2621" y="2431"/>
              <a:ext cx="0" cy="127"/>
            </a:xfrm>
            <a:prstGeom prst="line">
              <a:avLst/>
            </a:prstGeom>
            <a:noFill/>
            <a:ln w="12700">
              <a:solidFill>
                <a:schemeClr val="tx1"/>
              </a:solidFill>
              <a:miter lim="800000"/>
            </a:ln>
            <a:effectLst/>
          </p:spPr>
        </p:cxnSp>
        <p:cxnSp>
          <p:nvCxnSpPr>
            <p:cNvPr id="20506" name=""/>
            <p:cNvCxnSpPr/>
            <p:nvPr/>
          </p:nvCxnSpPr>
          <p:spPr>
            <a:xfrm flipH="1">
              <a:off x="2890" y="2431"/>
              <a:ext cx="0" cy="127"/>
            </a:xfrm>
            <a:prstGeom prst="line">
              <a:avLst/>
            </a:prstGeom>
            <a:noFill/>
            <a:ln w="12700">
              <a:solidFill>
                <a:schemeClr val="tx1"/>
              </a:solidFill>
              <a:miter lim="800000"/>
            </a:ln>
            <a:effectLst/>
          </p:spPr>
        </p:cxnSp>
        <p:cxnSp>
          <p:nvCxnSpPr>
            <p:cNvPr id="20507" name=""/>
            <p:cNvCxnSpPr/>
            <p:nvPr/>
          </p:nvCxnSpPr>
          <p:spPr>
            <a:xfrm flipH="1">
              <a:off x="2890" y="2431"/>
              <a:ext cx="0" cy="127"/>
            </a:xfrm>
            <a:prstGeom prst="line">
              <a:avLst/>
            </a:prstGeom>
            <a:noFill/>
            <a:ln w="12700">
              <a:solidFill>
                <a:schemeClr val="tx1"/>
              </a:solidFill>
              <a:miter lim="800000"/>
            </a:ln>
            <a:effectLst/>
          </p:spPr>
        </p:cxnSp>
        <p:cxnSp>
          <p:nvCxnSpPr>
            <p:cNvPr id="20508" name=""/>
            <p:cNvCxnSpPr/>
            <p:nvPr/>
          </p:nvCxnSpPr>
          <p:spPr>
            <a:xfrm flipH="1">
              <a:off x="2934" y="2431"/>
              <a:ext cx="0" cy="127"/>
            </a:xfrm>
            <a:prstGeom prst="line">
              <a:avLst/>
            </a:prstGeom>
            <a:noFill/>
            <a:ln w="12700">
              <a:solidFill>
                <a:schemeClr val="tx1"/>
              </a:solidFill>
              <a:miter lim="800000"/>
            </a:ln>
            <a:effectLst/>
          </p:spPr>
        </p:cxnSp>
        <p:cxnSp>
          <p:nvCxnSpPr>
            <p:cNvPr id="20509" name=""/>
            <p:cNvCxnSpPr/>
            <p:nvPr/>
          </p:nvCxnSpPr>
          <p:spPr>
            <a:xfrm flipH="1">
              <a:off x="2980" y="2431"/>
              <a:ext cx="0" cy="127"/>
            </a:xfrm>
            <a:prstGeom prst="line">
              <a:avLst/>
            </a:prstGeom>
            <a:noFill/>
            <a:ln w="12700">
              <a:solidFill>
                <a:schemeClr val="tx1"/>
              </a:solidFill>
              <a:miter lim="800000"/>
            </a:ln>
            <a:effectLst/>
          </p:spPr>
        </p:cxnSp>
        <p:cxnSp>
          <p:nvCxnSpPr>
            <p:cNvPr id="20510" name=""/>
            <p:cNvCxnSpPr/>
            <p:nvPr/>
          </p:nvCxnSpPr>
          <p:spPr>
            <a:xfrm flipH="1">
              <a:off x="3249" y="2431"/>
              <a:ext cx="0" cy="127"/>
            </a:xfrm>
            <a:prstGeom prst="line">
              <a:avLst/>
            </a:prstGeom>
            <a:noFill/>
            <a:ln w="12700">
              <a:solidFill>
                <a:schemeClr val="tx1"/>
              </a:solidFill>
              <a:miter lim="800000"/>
            </a:ln>
            <a:effectLst/>
          </p:spPr>
        </p:cxnSp>
        <p:cxnSp>
          <p:nvCxnSpPr>
            <p:cNvPr id="20511" name=""/>
            <p:cNvCxnSpPr/>
            <p:nvPr/>
          </p:nvCxnSpPr>
          <p:spPr>
            <a:xfrm flipH="1">
              <a:off x="3249" y="2431"/>
              <a:ext cx="0" cy="127"/>
            </a:xfrm>
            <a:prstGeom prst="line">
              <a:avLst/>
            </a:prstGeom>
            <a:noFill/>
            <a:ln w="12700">
              <a:solidFill>
                <a:schemeClr val="tx1"/>
              </a:solidFill>
              <a:miter lim="800000"/>
            </a:ln>
            <a:effectLst/>
          </p:spPr>
        </p:cxnSp>
        <p:cxnSp>
          <p:nvCxnSpPr>
            <p:cNvPr id="20512" name=""/>
            <p:cNvCxnSpPr/>
            <p:nvPr/>
          </p:nvCxnSpPr>
          <p:spPr>
            <a:xfrm flipH="1">
              <a:off x="3292" y="2431"/>
              <a:ext cx="0" cy="127"/>
            </a:xfrm>
            <a:prstGeom prst="line">
              <a:avLst/>
            </a:prstGeom>
            <a:noFill/>
            <a:ln w="12700">
              <a:solidFill>
                <a:schemeClr val="tx1"/>
              </a:solidFill>
              <a:miter lim="800000"/>
            </a:ln>
            <a:effectLst/>
          </p:spPr>
        </p:cxnSp>
        <p:cxnSp>
          <p:nvCxnSpPr>
            <p:cNvPr id="20513" name=""/>
            <p:cNvCxnSpPr/>
            <p:nvPr/>
          </p:nvCxnSpPr>
          <p:spPr>
            <a:xfrm flipH="1">
              <a:off x="3338" y="2431"/>
              <a:ext cx="0" cy="127"/>
            </a:xfrm>
            <a:prstGeom prst="line">
              <a:avLst/>
            </a:prstGeom>
            <a:noFill/>
            <a:ln w="12700">
              <a:solidFill>
                <a:schemeClr val="tx1"/>
              </a:solidFill>
              <a:miter lim="800000"/>
            </a:ln>
            <a:effectLst/>
          </p:spPr>
        </p:cxnSp>
        <p:grpSp>
          <p:nvGrpSpPr>
            <p:cNvPr id="20514" name=""/>
            <p:cNvGrpSpPr/>
            <p:nvPr/>
          </p:nvGrpSpPr>
          <p:grpSpPr>
            <a:xfrm>
              <a:off x="3607" y="2431"/>
              <a:ext cx="90" cy="127"/>
              <a:chOff x="3607" y="2431"/>
              <a:chExt cx="90" cy="127"/>
            </a:xfrm>
          </p:grpSpPr>
          <p:cxnSp>
            <p:nvCxnSpPr>
              <p:cNvPr id="20515" name=""/>
              <p:cNvCxnSpPr/>
              <p:nvPr/>
            </p:nvCxnSpPr>
            <p:spPr>
              <a:xfrm flipH="1">
                <a:off x="3607" y="2431"/>
                <a:ext cx="0" cy="127"/>
              </a:xfrm>
              <a:prstGeom prst="line">
                <a:avLst/>
              </a:prstGeom>
              <a:noFill/>
              <a:ln w="12700">
                <a:solidFill>
                  <a:schemeClr val="tx1"/>
                </a:solidFill>
                <a:miter lim="800000"/>
              </a:ln>
              <a:effectLst/>
            </p:spPr>
          </p:cxnSp>
          <p:cxnSp>
            <p:nvCxnSpPr>
              <p:cNvPr id="20516" name=""/>
              <p:cNvCxnSpPr/>
              <p:nvPr/>
            </p:nvCxnSpPr>
            <p:spPr>
              <a:xfrm flipH="1">
                <a:off x="3651" y="2431"/>
                <a:ext cx="0" cy="127"/>
              </a:xfrm>
              <a:prstGeom prst="line">
                <a:avLst/>
              </a:prstGeom>
              <a:noFill/>
              <a:ln w="12700">
                <a:solidFill>
                  <a:schemeClr val="tx1"/>
                </a:solidFill>
                <a:miter lim="800000"/>
              </a:ln>
              <a:effectLst/>
            </p:spPr>
          </p:cxnSp>
          <p:cxnSp>
            <p:nvCxnSpPr>
              <p:cNvPr id="20517" name=""/>
              <p:cNvCxnSpPr/>
              <p:nvPr/>
            </p:nvCxnSpPr>
            <p:spPr>
              <a:xfrm flipH="1">
                <a:off x="3697" y="2431"/>
                <a:ext cx="0" cy="127"/>
              </a:xfrm>
              <a:prstGeom prst="line">
                <a:avLst/>
              </a:prstGeom>
              <a:noFill/>
              <a:ln w="12700">
                <a:solidFill>
                  <a:schemeClr val="tx1"/>
                </a:solidFill>
                <a:miter lim="800000"/>
              </a:ln>
              <a:effectLst/>
            </p:spPr>
          </p:cxnSp>
          <p:cxnSp>
            <p:nvCxnSpPr>
              <p:cNvPr id="20518" name=""/>
              <p:cNvCxnSpPr/>
              <p:nvPr/>
            </p:nvCxnSpPr>
            <p:spPr>
              <a:xfrm flipH="1">
                <a:off x="3697" y="2431"/>
                <a:ext cx="0" cy="127"/>
              </a:xfrm>
              <a:prstGeom prst="line">
                <a:avLst/>
              </a:prstGeom>
              <a:noFill/>
              <a:ln w="12700">
                <a:solidFill>
                  <a:schemeClr val="tx1"/>
                </a:solidFill>
                <a:miter lim="800000"/>
              </a:ln>
              <a:effectLst/>
            </p:spPr>
          </p:cxnSp>
        </p:grpSp>
        <p:sp>
          <p:nvSpPr>
            <p:cNvPr id="20519" name=""/>
            <p:cNvSpPr/>
            <p:nvPr/>
          </p:nvSpPr>
          <p:spPr>
            <a:xfrm>
              <a:off x="2131" y="2649"/>
              <a:ext cx="82" cy="34"/>
            </a:xfrm>
            <a:prstGeom prst="rect">
              <a:avLst/>
            </a:prstGeom>
            <a:solidFill>
              <a:schemeClr val="folHlink"/>
            </a:solidFill>
            <a:ln w="12700">
              <a:solidFill>
                <a:schemeClr val="tx1"/>
              </a:solidFill>
              <a:miter lim="800000"/>
            </a:ln>
            <a:effectLst/>
          </p:spPr>
        </p:sp>
        <p:sp>
          <p:nvSpPr>
            <p:cNvPr id="20520" name=""/>
            <p:cNvSpPr/>
            <p:nvPr/>
          </p:nvSpPr>
          <p:spPr>
            <a:xfrm>
              <a:off x="2490" y="2649"/>
              <a:ext cx="81" cy="34"/>
            </a:xfrm>
            <a:prstGeom prst="rect">
              <a:avLst/>
            </a:prstGeom>
            <a:solidFill>
              <a:schemeClr val="folHlink"/>
            </a:solidFill>
            <a:ln w="12700">
              <a:solidFill>
                <a:schemeClr val="tx1"/>
              </a:solidFill>
              <a:miter lim="800000"/>
            </a:ln>
            <a:effectLst/>
          </p:spPr>
        </p:sp>
        <p:sp>
          <p:nvSpPr>
            <p:cNvPr id="20521" name=""/>
            <p:cNvSpPr/>
            <p:nvPr/>
          </p:nvSpPr>
          <p:spPr>
            <a:xfrm>
              <a:off x="2848" y="2649"/>
              <a:ext cx="82" cy="34"/>
            </a:xfrm>
            <a:prstGeom prst="rect">
              <a:avLst/>
            </a:prstGeom>
            <a:solidFill>
              <a:schemeClr val="folHlink"/>
            </a:solidFill>
            <a:ln w="12700">
              <a:solidFill>
                <a:schemeClr val="tx1"/>
              </a:solidFill>
              <a:miter lim="800000"/>
            </a:ln>
            <a:effectLst/>
          </p:spPr>
        </p:sp>
        <p:sp>
          <p:nvSpPr>
            <p:cNvPr id="20522" name=""/>
            <p:cNvSpPr/>
            <p:nvPr/>
          </p:nvSpPr>
          <p:spPr>
            <a:xfrm>
              <a:off x="3207" y="2649"/>
              <a:ext cx="81" cy="34"/>
            </a:xfrm>
            <a:prstGeom prst="rect">
              <a:avLst/>
            </a:prstGeom>
            <a:solidFill>
              <a:schemeClr val="folHlink"/>
            </a:solidFill>
            <a:ln w="12700">
              <a:solidFill>
                <a:schemeClr val="tx1"/>
              </a:solidFill>
              <a:miter lim="800000"/>
            </a:ln>
            <a:effectLst/>
          </p:spPr>
        </p:sp>
        <p:sp>
          <p:nvSpPr>
            <p:cNvPr id="20523" name=""/>
            <p:cNvSpPr/>
            <p:nvPr/>
          </p:nvSpPr>
          <p:spPr>
            <a:xfrm>
              <a:off x="3565" y="2649"/>
              <a:ext cx="82" cy="34"/>
            </a:xfrm>
            <a:prstGeom prst="rect">
              <a:avLst/>
            </a:prstGeom>
            <a:solidFill>
              <a:schemeClr val="folHlink"/>
            </a:solidFill>
            <a:ln w="12700">
              <a:solidFill>
                <a:schemeClr val="tx1"/>
              </a:solidFill>
              <a:miter lim="800000"/>
            </a:ln>
            <a:effectLst/>
          </p:spPr>
        </p:sp>
        <p:sp>
          <p:nvSpPr>
            <p:cNvPr id="20524" name=""/>
            <p:cNvSpPr/>
            <p:nvPr/>
          </p:nvSpPr>
          <p:spPr>
            <a:xfrm>
              <a:off x="3925" y="2649"/>
              <a:ext cx="81" cy="34"/>
            </a:xfrm>
            <a:prstGeom prst="rect">
              <a:avLst/>
            </a:prstGeom>
            <a:solidFill>
              <a:schemeClr val="folHlink"/>
            </a:solidFill>
            <a:ln w="12700">
              <a:solidFill>
                <a:schemeClr val="tx1"/>
              </a:solidFill>
              <a:miter lim="800000"/>
            </a:ln>
            <a:effectLst/>
          </p:spPr>
        </p:sp>
      </p:grpSp>
      <p:grpSp>
        <p:nvGrpSpPr>
          <p:cNvPr id="20525" name=""/>
          <p:cNvGrpSpPr/>
          <p:nvPr/>
        </p:nvGrpSpPr>
        <p:grpSpPr>
          <a:xfrm>
            <a:off x="1385888" y="5006975"/>
            <a:ext cx="4340225" cy="931863"/>
            <a:chOff x="873" y="3154"/>
            <a:chExt cx="2734" cy="587"/>
          </a:xfrm>
        </p:grpSpPr>
        <p:grpSp>
          <p:nvGrpSpPr>
            <p:cNvPr id="20526" name=""/>
            <p:cNvGrpSpPr/>
            <p:nvPr/>
          </p:nvGrpSpPr>
          <p:grpSpPr>
            <a:xfrm>
              <a:off x="873" y="3197"/>
              <a:ext cx="942" cy="544"/>
              <a:chOff x="873" y="3197"/>
              <a:chExt cx="942" cy="544"/>
            </a:xfrm>
          </p:grpSpPr>
          <p:pic>
            <p:nvPicPr>
              <p:cNvPr id="20527" name=""/>
              <p:cNvPicPr/>
              <p:nvPr/>
            </p:nvPicPr>
            <p:blipFill>
              <a:blip r:embed="rId3"/>
              <a:stretch>
                <a:fillRect/>
              </a:stretch>
            </p:blipFill>
            <p:spPr>
              <a:xfrm>
                <a:off x="873" y="3197"/>
                <a:ext cx="537" cy="373"/>
              </a:xfrm>
              <a:prstGeom prst="rect">
                <a:avLst/>
              </a:prstGeom>
              <a:noFill/>
              <a:ln>
                <a:noFill/>
                <a:miter lim="800000"/>
              </a:ln>
              <a:effectLst/>
            </p:spPr>
          </p:pic>
          <p:pic>
            <p:nvPicPr>
              <p:cNvPr id="20528" name=""/>
              <p:cNvPicPr/>
              <p:nvPr/>
            </p:nvPicPr>
            <p:blipFill>
              <a:blip r:embed="rId3"/>
              <a:stretch>
                <a:fillRect/>
              </a:stretch>
            </p:blipFill>
            <p:spPr>
              <a:xfrm>
                <a:off x="1052" y="3282"/>
                <a:ext cx="538" cy="373"/>
              </a:xfrm>
              <a:prstGeom prst="rect">
                <a:avLst/>
              </a:prstGeom>
              <a:noFill/>
              <a:ln>
                <a:noFill/>
                <a:miter lim="800000"/>
              </a:ln>
              <a:effectLst/>
            </p:spPr>
          </p:pic>
          <p:pic>
            <p:nvPicPr>
              <p:cNvPr id="20529" name=""/>
              <p:cNvPicPr/>
              <p:nvPr/>
            </p:nvPicPr>
            <p:blipFill>
              <a:blip r:embed="rId3"/>
              <a:stretch>
                <a:fillRect/>
              </a:stretch>
            </p:blipFill>
            <p:spPr>
              <a:xfrm>
                <a:off x="1277" y="3368"/>
                <a:ext cx="538" cy="373"/>
              </a:xfrm>
              <a:prstGeom prst="rect">
                <a:avLst/>
              </a:prstGeom>
              <a:noFill/>
              <a:ln>
                <a:noFill/>
                <a:miter lim="800000"/>
              </a:ln>
              <a:effectLst/>
            </p:spPr>
          </p:pic>
        </p:grpSp>
        <p:grpSp>
          <p:nvGrpSpPr>
            <p:cNvPr id="20530" name=""/>
            <p:cNvGrpSpPr/>
            <p:nvPr/>
          </p:nvGrpSpPr>
          <p:grpSpPr>
            <a:xfrm>
              <a:off x="2755" y="3154"/>
              <a:ext cx="852" cy="587"/>
              <a:chOff x="2755" y="3154"/>
              <a:chExt cx="852" cy="587"/>
            </a:xfrm>
          </p:grpSpPr>
          <p:pic>
            <p:nvPicPr>
              <p:cNvPr id="20531" name=""/>
              <p:cNvPicPr/>
              <p:nvPr/>
            </p:nvPicPr>
            <p:blipFill>
              <a:blip r:embed="rId3"/>
              <a:stretch>
                <a:fillRect/>
              </a:stretch>
            </p:blipFill>
            <p:spPr>
              <a:xfrm>
                <a:off x="3069" y="3154"/>
                <a:ext cx="538" cy="373"/>
              </a:xfrm>
              <a:prstGeom prst="rect">
                <a:avLst/>
              </a:prstGeom>
              <a:noFill/>
              <a:ln>
                <a:noFill/>
                <a:miter lim="800000"/>
              </a:ln>
              <a:effectLst/>
            </p:spPr>
          </p:pic>
          <p:pic>
            <p:nvPicPr>
              <p:cNvPr id="20532" name=""/>
              <p:cNvPicPr/>
              <p:nvPr/>
            </p:nvPicPr>
            <p:blipFill>
              <a:blip r:embed="rId3"/>
              <a:stretch>
                <a:fillRect/>
              </a:stretch>
            </p:blipFill>
            <p:spPr>
              <a:xfrm>
                <a:off x="2934" y="3282"/>
                <a:ext cx="538" cy="373"/>
              </a:xfrm>
              <a:prstGeom prst="rect">
                <a:avLst/>
              </a:prstGeom>
              <a:noFill/>
              <a:ln>
                <a:noFill/>
                <a:miter lim="800000"/>
              </a:ln>
              <a:effectLst/>
            </p:spPr>
          </p:pic>
          <p:pic>
            <p:nvPicPr>
              <p:cNvPr id="20533" name=""/>
              <p:cNvPicPr/>
              <p:nvPr/>
            </p:nvPicPr>
            <p:blipFill>
              <a:blip r:embed="rId3"/>
              <a:stretch>
                <a:fillRect/>
              </a:stretch>
            </p:blipFill>
            <p:spPr>
              <a:xfrm>
                <a:off x="2755" y="3368"/>
                <a:ext cx="537" cy="373"/>
              </a:xfrm>
              <a:prstGeom prst="rect">
                <a:avLst/>
              </a:prstGeom>
              <a:noFill/>
              <a:ln>
                <a:noFill/>
                <a:miter lim="800000"/>
              </a:ln>
              <a:effectLst/>
            </p:spPr>
          </p:pic>
        </p:grpSp>
        <p:grpSp>
          <p:nvGrpSpPr>
            <p:cNvPr id="20534" name=""/>
            <p:cNvGrpSpPr/>
            <p:nvPr/>
          </p:nvGrpSpPr>
          <p:grpSpPr>
            <a:xfrm>
              <a:off x="2127" y="3197"/>
              <a:ext cx="225" cy="383"/>
              <a:chOff x="2127" y="3197"/>
              <a:chExt cx="225" cy="383"/>
            </a:xfrm>
          </p:grpSpPr>
          <p:sp>
            <p:nvSpPr>
              <p:cNvPr id="20535" name=""/>
              <p:cNvSpPr/>
              <p:nvPr/>
            </p:nvSpPr>
            <p:spPr>
              <a:xfrm>
                <a:off x="2131" y="3250"/>
                <a:ext cx="164" cy="326"/>
              </a:xfrm>
              <a:prstGeom prst="rect">
                <a:avLst/>
              </a:prstGeom>
              <a:solidFill>
                <a:schemeClr val="bg1"/>
              </a:solidFill>
              <a:ln w="12700">
                <a:solidFill>
                  <a:schemeClr val="tx1"/>
                </a:solidFill>
                <a:miter lim="800000"/>
              </a:ln>
              <a:effectLst/>
            </p:spPr>
          </p:sp>
          <p:cxnSp>
            <p:nvCxnSpPr>
              <p:cNvPr id="20536" name=""/>
              <p:cNvCxnSpPr/>
              <p:nvPr/>
            </p:nvCxnSpPr>
            <p:spPr>
              <a:xfrm flipV="1">
                <a:off x="2127" y="3197"/>
                <a:ext cx="105" cy="49"/>
              </a:xfrm>
              <a:prstGeom prst="line">
                <a:avLst/>
              </a:prstGeom>
              <a:noFill/>
              <a:ln w="12700">
                <a:solidFill>
                  <a:schemeClr val="tx1"/>
                </a:solidFill>
                <a:miter lim="800000"/>
              </a:ln>
              <a:effectLst/>
            </p:spPr>
          </p:cxnSp>
          <p:cxnSp>
            <p:nvCxnSpPr>
              <p:cNvPr id="20537" name=""/>
              <p:cNvCxnSpPr/>
              <p:nvPr/>
            </p:nvCxnSpPr>
            <p:spPr>
              <a:xfrm>
                <a:off x="2232" y="3197"/>
                <a:ext cx="120" cy="0"/>
              </a:xfrm>
              <a:prstGeom prst="line">
                <a:avLst/>
              </a:prstGeom>
              <a:noFill/>
              <a:ln w="12700">
                <a:solidFill>
                  <a:schemeClr val="tx1"/>
                </a:solidFill>
                <a:miter lim="800000"/>
              </a:ln>
              <a:effectLst/>
            </p:spPr>
          </p:cxnSp>
          <p:cxnSp>
            <p:nvCxnSpPr>
              <p:cNvPr id="20538" name=""/>
              <p:cNvCxnSpPr/>
              <p:nvPr/>
            </p:nvCxnSpPr>
            <p:spPr>
              <a:xfrm flipH="1">
                <a:off x="2352" y="3197"/>
                <a:ext cx="0" cy="288"/>
              </a:xfrm>
              <a:prstGeom prst="line">
                <a:avLst/>
              </a:prstGeom>
              <a:noFill/>
              <a:ln w="12700">
                <a:solidFill>
                  <a:schemeClr val="tx1"/>
                </a:solidFill>
                <a:miter lim="800000"/>
              </a:ln>
              <a:effectLst/>
            </p:spPr>
          </p:cxnSp>
          <p:cxnSp>
            <p:nvCxnSpPr>
              <p:cNvPr id="20539" name=""/>
              <p:cNvCxnSpPr/>
              <p:nvPr/>
            </p:nvCxnSpPr>
            <p:spPr>
              <a:xfrm flipV="1">
                <a:off x="2299" y="3485"/>
                <a:ext cx="53" cy="95"/>
              </a:xfrm>
              <a:prstGeom prst="line">
                <a:avLst/>
              </a:prstGeom>
              <a:noFill/>
              <a:ln w="12700">
                <a:solidFill>
                  <a:schemeClr val="tx1"/>
                </a:solidFill>
                <a:miter lim="800000"/>
              </a:ln>
              <a:effectLst/>
            </p:spPr>
          </p:cxnSp>
          <p:cxnSp>
            <p:nvCxnSpPr>
              <p:cNvPr id="20540" name=""/>
              <p:cNvCxnSpPr/>
              <p:nvPr/>
            </p:nvCxnSpPr>
            <p:spPr>
              <a:xfrm flipH="1">
                <a:off x="2299" y="3197"/>
                <a:ext cx="53" cy="49"/>
              </a:xfrm>
              <a:prstGeom prst="line">
                <a:avLst/>
              </a:prstGeom>
              <a:noFill/>
              <a:ln w="12700">
                <a:solidFill>
                  <a:schemeClr val="tx1"/>
                </a:solidFill>
                <a:miter lim="800000"/>
              </a:ln>
              <a:effectLst/>
            </p:spPr>
          </p:cxnSp>
          <p:grpSp>
            <p:nvGrpSpPr>
              <p:cNvPr id="20541" name=""/>
              <p:cNvGrpSpPr/>
              <p:nvPr/>
            </p:nvGrpSpPr>
            <p:grpSpPr>
              <a:xfrm>
                <a:off x="2213" y="3294"/>
                <a:ext cx="54" cy="118"/>
                <a:chOff x="2213" y="3294"/>
                <a:chExt cx="54" cy="118"/>
              </a:xfrm>
            </p:grpSpPr>
            <p:cxnSp>
              <p:nvCxnSpPr>
                <p:cNvPr id="20542" name=""/>
                <p:cNvCxnSpPr/>
                <p:nvPr/>
              </p:nvCxnSpPr>
              <p:spPr>
                <a:xfrm flipH="1">
                  <a:off x="2213" y="3294"/>
                  <a:ext cx="0" cy="118"/>
                </a:xfrm>
                <a:prstGeom prst="line">
                  <a:avLst/>
                </a:prstGeom>
                <a:noFill/>
                <a:ln w="12700">
                  <a:solidFill>
                    <a:schemeClr val="tx1"/>
                  </a:solidFill>
                  <a:miter lim="800000"/>
                </a:ln>
                <a:effectLst/>
              </p:spPr>
            </p:cxnSp>
            <p:cxnSp>
              <p:nvCxnSpPr>
                <p:cNvPr id="20543" name=""/>
                <p:cNvCxnSpPr/>
                <p:nvPr/>
              </p:nvCxnSpPr>
              <p:spPr>
                <a:xfrm flipH="1">
                  <a:off x="2232" y="3294"/>
                  <a:ext cx="0" cy="118"/>
                </a:xfrm>
                <a:prstGeom prst="line">
                  <a:avLst/>
                </a:prstGeom>
                <a:noFill/>
                <a:ln w="12700">
                  <a:solidFill>
                    <a:schemeClr val="tx1"/>
                  </a:solidFill>
                  <a:miter lim="800000"/>
                </a:ln>
                <a:effectLst/>
              </p:spPr>
            </p:cxnSp>
            <p:cxnSp>
              <p:nvCxnSpPr>
                <p:cNvPr id="20544" name=""/>
                <p:cNvCxnSpPr/>
                <p:nvPr/>
              </p:nvCxnSpPr>
              <p:spPr>
                <a:xfrm flipH="1">
                  <a:off x="2248" y="3294"/>
                  <a:ext cx="0" cy="118"/>
                </a:xfrm>
                <a:prstGeom prst="line">
                  <a:avLst/>
                </a:prstGeom>
                <a:noFill/>
                <a:ln w="12700">
                  <a:solidFill>
                    <a:schemeClr val="tx1"/>
                  </a:solidFill>
                  <a:miter lim="800000"/>
                </a:ln>
                <a:effectLst/>
              </p:spPr>
            </p:cxnSp>
            <p:cxnSp>
              <p:nvCxnSpPr>
                <p:cNvPr id="20545" name=""/>
                <p:cNvCxnSpPr/>
                <p:nvPr/>
              </p:nvCxnSpPr>
              <p:spPr>
                <a:xfrm flipH="1">
                  <a:off x="2267" y="3294"/>
                  <a:ext cx="0" cy="118"/>
                </a:xfrm>
                <a:prstGeom prst="line">
                  <a:avLst/>
                </a:prstGeom>
                <a:noFill/>
                <a:ln w="12700">
                  <a:solidFill>
                    <a:schemeClr val="tx1"/>
                  </a:solidFill>
                  <a:miter lim="800000"/>
                </a:ln>
                <a:effectLst/>
              </p:spPr>
            </p:cxnSp>
          </p:grpSp>
          <p:sp>
            <p:nvSpPr>
              <p:cNvPr id="20546" name=""/>
              <p:cNvSpPr/>
              <p:nvPr/>
            </p:nvSpPr>
            <p:spPr>
              <a:xfrm>
                <a:off x="2166" y="3489"/>
                <a:ext cx="62" cy="15"/>
              </a:xfrm>
              <a:prstGeom prst="rect">
                <a:avLst/>
              </a:prstGeom>
              <a:solidFill>
                <a:schemeClr val="bg1"/>
              </a:solidFill>
              <a:ln w="12700">
                <a:solidFill>
                  <a:schemeClr val="tx1"/>
                </a:solidFill>
                <a:miter lim="800000"/>
              </a:ln>
              <a:effectLst/>
            </p:spPr>
          </p:sp>
        </p:grpSp>
      </p:grpSp>
      <p:grpSp>
        <p:nvGrpSpPr>
          <p:cNvPr id="20547" name=""/>
          <p:cNvGrpSpPr/>
          <p:nvPr/>
        </p:nvGrpSpPr>
        <p:grpSpPr>
          <a:xfrm>
            <a:off x="5875338" y="2024063"/>
            <a:ext cx="982662" cy="814387"/>
            <a:chOff x="3701" y="1275"/>
            <a:chExt cx="619" cy="513"/>
          </a:xfrm>
        </p:grpSpPr>
        <p:sp>
          <p:nvSpPr>
            <p:cNvPr id="20548" name=""/>
            <p:cNvSpPr/>
            <p:nvPr/>
          </p:nvSpPr>
          <p:spPr>
            <a:xfrm>
              <a:off x="3701" y="1275"/>
              <a:ext cx="619" cy="513"/>
            </a:xfrm>
            <a:prstGeom prst="cube">
              <a:avLst>
                <a:gd name="adj" fmla="val 24995"/>
              </a:avLst>
            </a:prstGeom>
            <a:solidFill>
              <a:schemeClr val="folHlink"/>
            </a:solidFill>
            <a:ln w="12700">
              <a:solidFill>
                <a:schemeClr val="tx1"/>
              </a:solidFill>
              <a:miter lim="800000"/>
            </a:ln>
            <a:effectLst/>
          </p:spPr>
        </p:sp>
        <p:grpSp>
          <p:nvGrpSpPr>
            <p:cNvPr id="20549" name=""/>
            <p:cNvGrpSpPr/>
            <p:nvPr/>
          </p:nvGrpSpPr>
          <p:grpSpPr>
            <a:xfrm>
              <a:off x="3853" y="1420"/>
              <a:ext cx="235" cy="198"/>
              <a:chOff x="3853" y="1420"/>
              <a:chExt cx="235" cy="198"/>
            </a:xfrm>
          </p:grpSpPr>
          <p:cxnSp>
            <p:nvCxnSpPr>
              <p:cNvPr id="20550" name=""/>
              <p:cNvCxnSpPr/>
              <p:nvPr/>
            </p:nvCxnSpPr>
            <p:spPr>
              <a:xfrm flipH="1">
                <a:off x="3853" y="1420"/>
                <a:ext cx="0" cy="198"/>
              </a:xfrm>
              <a:prstGeom prst="line">
                <a:avLst/>
              </a:prstGeom>
              <a:noFill/>
              <a:ln w="12700">
                <a:solidFill>
                  <a:schemeClr val="tx1"/>
                </a:solidFill>
                <a:miter lim="800000"/>
              </a:ln>
              <a:effectLst/>
            </p:spPr>
          </p:cxnSp>
          <p:cxnSp>
            <p:nvCxnSpPr>
              <p:cNvPr id="20551" name=""/>
              <p:cNvCxnSpPr/>
              <p:nvPr/>
            </p:nvCxnSpPr>
            <p:spPr>
              <a:xfrm flipH="1">
                <a:off x="3931" y="1420"/>
                <a:ext cx="0" cy="198"/>
              </a:xfrm>
              <a:prstGeom prst="line">
                <a:avLst/>
              </a:prstGeom>
              <a:noFill/>
              <a:ln w="12700">
                <a:solidFill>
                  <a:schemeClr val="tx1"/>
                </a:solidFill>
                <a:miter lim="800000"/>
              </a:ln>
              <a:effectLst/>
            </p:spPr>
          </p:cxnSp>
          <p:cxnSp>
            <p:nvCxnSpPr>
              <p:cNvPr id="20552" name=""/>
              <p:cNvCxnSpPr/>
              <p:nvPr/>
            </p:nvCxnSpPr>
            <p:spPr>
              <a:xfrm flipH="1">
                <a:off x="4010" y="1420"/>
                <a:ext cx="0" cy="198"/>
              </a:xfrm>
              <a:prstGeom prst="line">
                <a:avLst/>
              </a:prstGeom>
              <a:noFill/>
              <a:ln w="12700">
                <a:solidFill>
                  <a:schemeClr val="tx1"/>
                </a:solidFill>
                <a:miter lim="800000"/>
              </a:ln>
              <a:effectLst/>
            </p:spPr>
          </p:cxnSp>
          <p:cxnSp>
            <p:nvCxnSpPr>
              <p:cNvPr id="20553" name=""/>
              <p:cNvCxnSpPr/>
              <p:nvPr/>
            </p:nvCxnSpPr>
            <p:spPr>
              <a:xfrm flipH="1">
                <a:off x="4088" y="1420"/>
                <a:ext cx="0" cy="198"/>
              </a:xfrm>
              <a:prstGeom prst="line">
                <a:avLst/>
              </a:prstGeom>
              <a:noFill/>
              <a:ln w="12700">
                <a:solidFill>
                  <a:schemeClr val="tx1"/>
                </a:solidFill>
                <a:miter lim="800000"/>
              </a:ln>
              <a:effectLst/>
            </p:spPr>
          </p:cxnSp>
        </p:grpSp>
        <p:sp>
          <p:nvSpPr>
            <p:cNvPr id="20554" name=""/>
            <p:cNvSpPr/>
            <p:nvPr/>
          </p:nvSpPr>
          <p:spPr>
            <a:xfrm>
              <a:off x="3741" y="1673"/>
              <a:ext cx="265" cy="40"/>
            </a:xfrm>
            <a:prstGeom prst="rect">
              <a:avLst/>
            </a:prstGeom>
            <a:solidFill>
              <a:schemeClr val="folHlink"/>
            </a:solidFill>
            <a:ln w="12700">
              <a:solidFill>
                <a:schemeClr val="tx1"/>
              </a:solidFill>
              <a:miter lim="800000"/>
            </a:ln>
            <a:effectLst/>
          </p:spPr>
        </p:sp>
      </p:grpSp>
      <p:grpSp>
        <p:nvGrpSpPr>
          <p:cNvPr id="20555" name=""/>
          <p:cNvGrpSpPr/>
          <p:nvPr/>
        </p:nvGrpSpPr>
        <p:grpSpPr>
          <a:xfrm>
            <a:off x="1700213" y="1987550"/>
            <a:ext cx="1074737" cy="1320800"/>
            <a:chOff x="1071" y="1252"/>
            <a:chExt cx="677" cy="832"/>
          </a:xfrm>
        </p:grpSpPr>
        <p:sp>
          <p:nvSpPr>
            <p:cNvPr id="20556" name=""/>
            <p:cNvSpPr/>
            <p:nvPr/>
          </p:nvSpPr>
          <p:spPr>
            <a:xfrm>
              <a:off x="1071" y="1252"/>
              <a:ext cx="677" cy="832"/>
            </a:xfrm>
            <a:prstGeom prst="cube">
              <a:avLst>
                <a:gd name="adj" fmla="val 24995"/>
              </a:avLst>
            </a:prstGeom>
            <a:solidFill>
              <a:schemeClr val="folHlink"/>
            </a:solidFill>
            <a:ln w="12700">
              <a:solidFill>
                <a:schemeClr val="tx1"/>
              </a:solidFill>
              <a:miter lim="800000"/>
            </a:ln>
            <a:effectLst/>
          </p:spPr>
        </p:sp>
        <p:grpSp>
          <p:nvGrpSpPr>
            <p:cNvPr id="20557" name=""/>
            <p:cNvGrpSpPr/>
            <p:nvPr/>
          </p:nvGrpSpPr>
          <p:grpSpPr>
            <a:xfrm>
              <a:off x="1238" y="1489"/>
              <a:ext cx="255" cy="319"/>
              <a:chOff x="1238" y="1489"/>
              <a:chExt cx="255" cy="319"/>
            </a:xfrm>
          </p:grpSpPr>
          <p:cxnSp>
            <p:nvCxnSpPr>
              <p:cNvPr id="20558" name=""/>
              <p:cNvCxnSpPr/>
              <p:nvPr/>
            </p:nvCxnSpPr>
            <p:spPr>
              <a:xfrm flipH="1">
                <a:off x="1238" y="1489"/>
                <a:ext cx="0" cy="319"/>
              </a:xfrm>
              <a:prstGeom prst="line">
                <a:avLst/>
              </a:prstGeom>
              <a:noFill/>
              <a:ln w="12700">
                <a:solidFill>
                  <a:schemeClr val="tx1"/>
                </a:solidFill>
                <a:miter lim="800000"/>
              </a:ln>
              <a:effectLst/>
            </p:spPr>
          </p:cxnSp>
          <p:cxnSp>
            <p:nvCxnSpPr>
              <p:cNvPr id="20559" name=""/>
              <p:cNvCxnSpPr/>
              <p:nvPr/>
            </p:nvCxnSpPr>
            <p:spPr>
              <a:xfrm flipH="1">
                <a:off x="1325" y="1489"/>
                <a:ext cx="0" cy="319"/>
              </a:xfrm>
              <a:prstGeom prst="line">
                <a:avLst/>
              </a:prstGeom>
              <a:noFill/>
              <a:ln w="12700">
                <a:solidFill>
                  <a:schemeClr val="tx1"/>
                </a:solidFill>
                <a:miter lim="800000"/>
              </a:ln>
              <a:effectLst/>
            </p:spPr>
          </p:cxnSp>
          <p:cxnSp>
            <p:nvCxnSpPr>
              <p:cNvPr id="20560" name=""/>
              <p:cNvCxnSpPr/>
              <p:nvPr/>
            </p:nvCxnSpPr>
            <p:spPr>
              <a:xfrm flipH="1">
                <a:off x="1409" y="1489"/>
                <a:ext cx="0" cy="319"/>
              </a:xfrm>
              <a:prstGeom prst="line">
                <a:avLst/>
              </a:prstGeom>
              <a:noFill/>
              <a:ln w="12700">
                <a:solidFill>
                  <a:schemeClr val="tx1"/>
                </a:solidFill>
                <a:miter lim="800000"/>
              </a:ln>
              <a:effectLst/>
            </p:spPr>
          </p:cxnSp>
          <p:cxnSp>
            <p:nvCxnSpPr>
              <p:cNvPr id="20561" name=""/>
              <p:cNvCxnSpPr/>
              <p:nvPr/>
            </p:nvCxnSpPr>
            <p:spPr>
              <a:xfrm flipH="1">
                <a:off x="1493" y="1489"/>
                <a:ext cx="0" cy="319"/>
              </a:xfrm>
              <a:prstGeom prst="line">
                <a:avLst/>
              </a:prstGeom>
              <a:noFill/>
              <a:ln w="12700">
                <a:solidFill>
                  <a:schemeClr val="tx1"/>
                </a:solidFill>
                <a:miter lim="800000"/>
              </a:ln>
              <a:effectLst/>
            </p:spPr>
          </p:cxnSp>
        </p:grpSp>
        <p:sp>
          <p:nvSpPr>
            <p:cNvPr id="20562" name=""/>
            <p:cNvSpPr/>
            <p:nvPr/>
          </p:nvSpPr>
          <p:spPr>
            <a:xfrm>
              <a:off x="1114" y="1892"/>
              <a:ext cx="291" cy="73"/>
            </a:xfrm>
            <a:prstGeom prst="rect">
              <a:avLst/>
            </a:prstGeom>
            <a:solidFill>
              <a:schemeClr val="folHlink"/>
            </a:solidFill>
            <a:ln w="12700">
              <a:solidFill>
                <a:schemeClr val="tx1"/>
              </a:solidFill>
              <a:miter lim="800000"/>
            </a:ln>
            <a:effectLst/>
          </p:spPr>
        </p:sp>
      </p:grpSp>
      <p:sp>
        <p:nvSpPr>
          <p:cNvPr id="20563" name=""/>
          <p:cNvSpPr/>
          <p:nvPr/>
        </p:nvSpPr>
        <p:spPr>
          <a:xfrm>
            <a:off x="3025775" y="1758950"/>
            <a:ext cx="771525" cy="265113"/>
          </a:xfrm>
          <a:prstGeom prst="ellipse">
            <a:avLst/>
          </a:prstGeom>
          <a:solidFill>
            <a:schemeClr val="folHlink"/>
          </a:solidFill>
          <a:ln w="12700">
            <a:solidFill>
              <a:schemeClr val="tx1"/>
            </a:solidFill>
            <a:miter lim="800000"/>
          </a:ln>
          <a:effectLst/>
        </p:spPr>
      </p:sp>
      <p:grpSp>
        <p:nvGrpSpPr>
          <p:cNvPr id="20564" name=""/>
          <p:cNvGrpSpPr/>
          <p:nvPr/>
        </p:nvGrpSpPr>
        <p:grpSpPr>
          <a:xfrm>
            <a:off x="3021013" y="2309813"/>
            <a:ext cx="782637" cy="166687"/>
            <a:chOff x="1903" y="1455"/>
            <a:chExt cx="493" cy="105"/>
          </a:xfrm>
        </p:grpSpPr>
        <p:sp>
          <p:nvSpPr>
            <p:cNvPr id="20565" name=""/>
            <p:cNvSpPr/>
            <p:nvPr/>
          </p:nvSpPr>
          <p:spPr>
            <a:xfrm>
              <a:off x="2133" y="1455"/>
              <a:ext cx="263" cy="105"/>
            </a:xfrm>
            <a:custGeom>
              <a:avLst>
                <a:gd name="adj0" fmla="val 0"/>
                <a:gd name="adj1" fmla="val 27306667"/>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0"/>
                </a:cxn>
                <a:cxn ang="0">
                  <a:pos x="0" y="21600"/>
                </a:cxn>
                <a:cxn ang="0">
                  <a:pos x="0" y="0"/>
                </a:cxn>
              </a:cxnLst>
              <a:rect l="l" t="t" r="GT12" b="GT13"/>
              <a:pathLst>
                <a:path w="21600" h="21600" fill="none">
                  <a:moveTo>
                    <a:pt x="21600" y="0"/>
                  </a:moveTo>
                  <a:arcTo wR="21600" hR="21600" stAng="0" swAng="5400000"/>
                </a:path>
                <a:path w="21600" h="21600" stroke="0">
                  <a:moveTo>
                    <a:pt x="21600" y="0"/>
                  </a:moveTo>
                  <a:arcTo wR="21600" hR="21600" stAng="0" swAng="5400000"/>
                  <a:lnTo>
                    <a:pt x="0" y="0"/>
                  </a:lnTo>
                  <a:close/>
                </a:path>
              </a:pathLst>
            </a:custGeom>
            <a:noFill/>
            <a:ln w="12700" cap="rnd">
              <a:solidFill>
                <a:schemeClr val="tx1"/>
              </a:solidFill>
              <a:round/>
            </a:ln>
            <a:effectLst/>
          </p:spPr>
        </p:sp>
        <p:sp>
          <p:nvSpPr>
            <p:cNvPr id="20566" name=""/>
            <p:cNvSpPr/>
            <p:nvPr/>
          </p:nvSpPr>
          <p:spPr>
            <a:xfrm>
              <a:off x="1903" y="1455"/>
              <a:ext cx="264" cy="105"/>
            </a:xfrm>
            <a:custGeom>
              <a:avLst>
                <a:gd name="adj0" fmla="val 27306667"/>
                <a:gd name="adj1" fmla="val 54613333"/>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600"/>
                </a:cxn>
                <a:cxn ang="0">
                  <a:pos x="0" y="0"/>
                </a:cxn>
                <a:cxn ang="0">
                  <a:pos x="21600" y="0"/>
                </a:cxn>
              </a:cxnLst>
              <a:rect l="l" t="t" r="GT12" b="GT13"/>
              <a:pathLst>
                <a:path w="21600" h="21600" fill="none">
                  <a:moveTo>
                    <a:pt x="21600" y="21600"/>
                  </a:moveTo>
                  <a:arcTo wR="21600" hR="21600" stAng="5400000" swAng="5400000"/>
                </a:path>
                <a:path w="21600" h="21600" stroke="0">
                  <a:moveTo>
                    <a:pt x="21600" y="21600"/>
                  </a:moveTo>
                  <a:arcTo wR="21600" hR="21600" stAng="5400000" swAng="5400000"/>
                  <a:lnTo>
                    <a:pt x="21600" y="0"/>
                  </a:lnTo>
                  <a:close/>
                </a:path>
              </a:pathLst>
            </a:custGeom>
            <a:noFill/>
            <a:ln w="12700" cap="rnd">
              <a:solidFill>
                <a:schemeClr val="tx1"/>
              </a:solidFill>
              <a:round/>
            </a:ln>
            <a:effectLst/>
          </p:spPr>
        </p:sp>
      </p:grpSp>
      <p:cxnSp>
        <p:nvCxnSpPr>
          <p:cNvPr id="20567" name=""/>
          <p:cNvCxnSpPr/>
          <p:nvPr/>
        </p:nvCxnSpPr>
        <p:spPr>
          <a:xfrm flipH="1">
            <a:off x="3019425" y="1863725"/>
            <a:ext cx="0" cy="446088"/>
          </a:xfrm>
          <a:prstGeom prst="line">
            <a:avLst/>
          </a:prstGeom>
          <a:noFill/>
          <a:ln w="12700">
            <a:solidFill>
              <a:schemeClr val="tx1"/>
            </a:solidFill>
            <a:miter lim="800000"/>
          </a:ln>
          <a:effectLst/>
        </p:spPr>
      </p:cxnSp>
      <p:cxnSp>
        <p:nvCxnSpPr>
          <p:cNvPr id="20568" name=""/>
          <p:cNvCxnSpPr/>
          <p:nvPr/>
        </p:nvCxnSpPr>
        <p:spPr>
          <a:xfrm flipH="1">
            <a:off x="3803650" y="1863725"/>
            <a:ext cx="0" cy="446088"/>
          </a:xfrm>
          <a:prstGeom prst="line">
            <a:avLst/>
          </a:prstGeom>
          <a:noFill/>
          <a:ln w="12700">
            <a:solidFill>
              <a:schemeClr val="tx1"/>
            </a:solidFill>
            <a:miter lim="800000"/>
          </a:ln>
          <a:effectLst/>
        </p:spPr>
      </p:cxnSp>
      <p:grpSp>
        <p:nvGrpSpPr>
          <p:cNvPr id="20569" name=""/>
          <p:cNvGrpSpPr/>
          <p:nvPr/>
        </p:nvGrpSpPr>
        <p:grpSpPr>
          <a:xfrm>
            <a:off x="3021013" y="2141538"/>
            <a:ext cx="782637" cy="169862"/>
            <a:chOff x="1903" y="1349"/>
            <a:chExt cx="493" cy="107"/>
          </a:xfrm>
        </p:grpSpPr>
        <p:sp>
          <p:nvSpPr>
            <p:cNvPr id="20570" name=""/>
            <p:cNvSpPr/>
            <p:nvPr/>
          </p:nvSpPr>
          <p:spPr>
            <a:xfrm>
              <a:off x="2133" y="1349"/>
              <a:ext cx="263" cy="107"/>
            </a:xfrm>
            <a:custGeom>
              <a:avLst>
                <a:gd name="adj0" fmla="val 109061894"/>
                <a:gd name="adj1" fmla="val 27306667"/>
              </a:avLst>
              <a:gdLst>
                <a:gd name="GT10" fmla="*/ adj0 21600 100000"/>
                <a:gd name="GT11" fmla="*/ adj1 21600 100000"/>
                <a:gd name="GT12" fmla="+- l w 0"/>
                <a:gd name="GT13" fmla="*/ 21600 h 21805"/>
                <a:gd name="GT14" fmla="+- t GT13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599" y="0"/>
                </a:cxn>
                <a:cxn ang="0">
                  <a:pos x="0" y="21805"/>
                </a:cxn>
                <a:cxn ang="0">
                  <a:pos x="0" y="205"/>
                </a:cxn>
              </a:cxnLst>
              <a:rect l="l" t="t" r="GT12" b="GT14"/>
              <a:pathLst>
                <a:path w="21600" h="21805" fill="none">
                  <a:moveTo>
                    <a:pt x="21599" y="0"/>
                  </a:moveTo>
                  <a:arcTo wR="21600" hR="21600" stAng="-32627" swAng="5432627"/>
                </a:path>
                <a:path w="21600" h="21805" stroke="0">
                  <a:moveTo>
                    <a:pt x="21599" y="0"/>
                  </a:moveTo>
                  <a:arcTo wR="21600" hR="21600" stAng="-32627" swAng="5432627"/>
                  <a:lnTo>
                    <a:pt x="0" y="205"/>
                  </a:lnTo>
                  <a:close/>
                </a:path>
              </a:pathLst>
            </a:custGeom>
            <a:noFill/>
            <a:ln w="12700" cap="rnd">
              <a:solidFill>
                <a:schemeClr val="tx1"/>
              </a:solidFill>
              <a:round/>
            </a:ln>
            <a:effectLst/>
          </p:spPr>
        </p:sp>
        <p:sp>
          <p:nvSpPr>
            <p:cNvPr id="20571" name=""/>
            <p:cNvSpPr/>
            <p:nvPr/>
          </p:nvSpPr>
          <p:spPr>
            <a:xfrm>
              <a:off x="1903" y="1349"/>
              <a:ext cx="264" cy="107"/>
            </a:xfrm>
            <a:custGeom>
              <a:avLst>
                <a:gd name="adj0" fmla="val 27306667"/>
                <a:gd name="adj1" fmla="val 54778106"/>
              </a:avLst>
              <a:gdLst>
                <a:gd name="GT10" fmla="*/ adj0 21600 100000"/>
                <a:gd name="GT11" fmla="*/ adj1 21600 100000"/>
                <a:gd name="GT12" fmla="+- l w 0"/>
                <a:gd name="GT13" fmla="*/ 21600 h 21805"/>
                <a:gd name="GT14" fmla="+- t GT13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805"/>
                </a:cxn>
                <a:cxn ang="0">
                  <a:pos x="1" y="0"/>
                </a:cxn>
                <a:cxn ang="0">
                  <a:pos x="21600" y="205"/>
                </a:cxn>
              </a:cxnLst>
              <a:rect l="l" t="t" r="GT12" b="GT14"/>
              <a:pathLst>
                <a:path w="21600" h="21805" fill="none">
                  <a:moveTo>
                    <a:pt x="21600" y="21805"/>
                  </a:moveTo>
                  <a:arcTo wR="21600" hR="21600" stAng="5400000" swAng="5432627"/>
                </a:path>
                <a:path w="21600" h="21805" stroke="0">
                  <a:moveTo>
                    <a:pt x="21600" y="21805"/>
                  </a:moveTo>
                  <a:arcTo wR="21600" hR="21600" stAng="5400000" swAng="5432627"/>
                  <a:lnTo>
                    <a:pt x="21600" y="205"/>
                  </a:lnTo>
                  <a:close/>
                </a:path>
              </a:pathLst>
            </a:custGeom>
            <a:noFill/>
            <a:ln w="12700" cap="rnd">
              <a:solidFill>
                <a:schemeClr val="tx1"/>
              </a:solidFill>
              <a:round/>
            </a:ln>
            <a:effectLst/>
          </p:spPr>
        </p:sp>
      </p:grpSp>
      <p:grpSp>
        <p:nvGrpSpPr>
          <p:cNvPr id="20572" name=""/>
          <p:cNvGrpSpPr/>
          <p:nvPr/>
        </p:nvGrpSpPr>
        <p:grpSpPr>
          <a:xfrm>
            <a:off x="3021013" y="2030413"/>
            <a:ext cx="782637" cy="166687"/>
            <a:chOff x="1903" y="1279"/>
            <a:chExt cx="493" cy="105"/>
          </a:xfrm>
        </p:grpSpPr>
        <p:sp>
          <p:nvSpPr>
            <p:cNvPr id="20573" name=""/>
            <p:cNvSpPr/>
            <p:nvPr/>
          </p:nvSpPr>
          <p:spPr>
            <a:xfrm>
              <a:off x="2133" y="1279"/>
              <a:ext cx="263" cy="105"/>
            </a:xfrm>
            <a:custGeom>
              <a:avLst>
                <a:gd name="adj0" fmla="val 0"/>
                <a:gd name="adj1" fmla="val 27306667"/>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0"/>
                </a:cxn>
                <a:cxn ang="0">
                  <a:pos x="0" y="21600"/>
                </a:cxn>
                <a:cxn ang="0">
                  <a:pos x="0" y="0"/>
                </a:cxn>
              </a:cxnLst>
              <a:rect l="l" t="t" r="GT12" b="GT13"/>
              <a:pathLst>
                <a:path w="21600" h="21600" fill="none">
                  <a:moveTo>
                    <a:pt x="21600" y="0"/>
                  </a:moveTo>
                  <a:arcTo wR="21600" hR="21600" stAng="0" swAng="5400000"/>
                </a:path>
                <a:path w="21600" h="21600" stroke="0">
                  <a:moveTo>
                    <a:pt x="21600" y="0"/>
                  </a:moveTo>
                  <a:arcTo wR="21600" hR="21600" stAng="0" swAng="5400000"/>
                  <a:lnTo>
                    <a:pt x="0" y="0"/>
                  </a:lnTo>
                  <a:close/>
                </a:path>
              </a:pathLst>
            </a:custGeom>
            <a:noFill/>
            <a:ln w="12700" cap="rnd">
              <a:solidFill>
                <a:schemeClr val="tx1"/>
              </a:solidFill>
              <a:round/>
            </a:ln>
            <a:effectLst/>
          </p:spPr>
        </p:sp>
        <p:sp>
          <p:nvSpPr>
            <p:cNvPr id="20574" name=""/>
            <p:cNvSpPr/>
            <p:nvPr/>
          </p:nvSpPr>
          <p:spPr>
            <a:xfrm>
              <a:off x="1903" y="1279"/>
              <a:ext cx="264" cy="105"/>
            </a:xfrm>
            <a:custGeom>
              <a:avLst>
                <a:gd name="adj0" fmla="val 27306667"/>
                <a:gd name="adj1" fmla="val 54613333"/>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600"/>
                </a:cxn>
                <a:cxn ang="0">
                  <a:pos x="0" y="0"/>
                </a:cxn>
                <a:cxn ang="0">
                  <a:pos x="21600" y="0"/>
                </a:cxn>
              </a:cxnLst>
              <a:rect l="l" t="t" r="GT12" b="GT13"/>
              <a:pathLst>
                <a:path w="21600" h="21600" fill="none">
                  <a:moveTo>
                    <a:pt x="21600" y="21600"/>
                  </a:moveTo>
                  <a:arcTo wR="21600" hR="21600" stAng="5400000" swAng="5400000"/>
                </a:path>
                <a:path w="21600" h="21600" stroke="0">
                  <a:moveTo>
                    <a:pt x="21600" y="21600"/>
                  </a:moveTo>
                  <a:arcTo wR="21600" hR="21600" stAng="5400000" swAng="5400000"/>
                  <a:lnTo>
                    <a:pt x="21600" y="0"/>
                  </a:lnTo>
                  <a:close/>
                </a:path>
              </a:pathLst>
            </a:custGeom>
            <a:noFill/>
            <a:ln w="12700" cap="rnd">
              <a:solidFill>
                <a:schemeClr val="tx1"/>
              </a:solidFill>
              <a:round/>
            </a:ln>
            <a:effectLst/>
          </p:spPr>
        </p:sp>
      </p:grpSp>
      <p:cxnSp>
        <p:nvCxnSpPr>
          <p:cNvPr id="20575" name=""/>
          <p:cNvCxnSpPr/>
          <p:nvPr/>
        </p:nvCxnSpPr>
        <p:spPr>
          <a:xfrm>
            <a:off x="2781300" y="2085975"/>
            <a:ext cx="238125" cy="0"/>
          </a:xfrm>
          <a:prstGeom prst="line">
            <a:avLst/>
          </a:prstGeom>
          <a:noFill/>
          <a:ln w="127000">
            <a:solidFill>
              <a:schemeClr val="tx1"/>
            </a:solidFill>
            <a:miter lim="800000"/>
          </a:ln>
          <a:effectLst/>
        </p:spPr>
      </p:cxnSp>
      <p:sp>
        <p:nvSpPr>
          <p:cNvPr id="20576" name=""/>
          <p:cNvSpPr/>
          <p:nvPr/>
        </p:nvSpPr>
        <p:spPr>
          <a:xfrm>
            <a:off x="2846388" y="2574925"/>
            <a:ext cx="1701800" cy="64135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a:latin typeface="Arial" pitchFamily="34" charset="0"/>
              </a:rPr>
              <a:t>Unix or NT cluster</a:t>
            </a:r>
            <a:endParaRPr sz="1800" b="1">
              <a:latin typeface="Arial" pitchFamily="34" charset="0"/>
            </a:endParaRPr>
          </a:p>
        </p:txBody>
      </p:sp>
      <p:sp>
        <p:nvSpPr>
          <p:cNvPr id="20577" name=""/>
          <p:cNvSpPr/>
          <p:nvPr/>
        </p:nvSpPr>
        <p:spPr>
          <a:xfrm>
            <a:off x="5492750" y="2944813"/>
            <a:ext cx="3076575" cy="366712"/>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a:latin typeface="Arial" pitchFamily="34" charset="0"/>
              </a:rPr>
              <a:t>Highly Parallel, Scaleable</a:t>
            </a:r>
            <a:endParaRPr sz="1800" b="1">
              <a:latin typeface="Arial" pitchFamily="34" charset="0"/>
            </a:endParaRPr>
          </a:p>
        </p:txBody>
      </p:sp>
      <p:sp>
        <p:nvSpPr>
          <p:cNvPr id="20578" name=""/>
          <p:cNvSpPr/>
          <p:nvPr/>
        </p:nvSpPr>
        <p:spPr>
          <a:xfrm>
            <a:off x="3316288" y="4433888"/>
            <a:ext cx="3922712" cy="64135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i="1">
                <a:solidFill>
                  <a:srgbClr val="618FFD"/>
                </a:solidFill>
                <a:latin typeface="Arial" pitchFamily="34" charset="0"/>
              </a:rPr>
              <a:t>8,000 users at 500 offices and headquarters</a:t>
            </a:r>
            <a:endParaRPr sz="1800" b="1" i="1">
              <a:solidFill>
                <a:srgbClr val="618FFD"/>
              </a:solidFill>
              <a:latin typeface="Arial" pitchFamily="34" charset="0"/>
            </a:endParaRPr>
          </a:p>
        </p:txBody>
      </p:sp>
      <p:cxnSp>
        <p:nvCxnSpPr>
          <p:cNvPr id="20579" name=""/>
          <p:cNvCxnSpPr/>
          <p:nvPr/>
        </p:nvCxnSpPr>
        <p:spPr>
          <a:xfrm flipV="1">
            <a:off x="2881313" y="5616575"/>
            <a:ext cx="354012" cy="133350"/>
          </a:xfrm>
          <a:prstGeom prst="line">
            <a:avLst/>
          </a:prstGeom>
          <a:noFill/>
          <a:ln w="25400">
            <a:solidFill>
              <a:schemeClr val="tx1"/>
            </a:solidFill>
            <a:miter lim="800000"/>
          </a:ln>
          <a:effectLst/>
        </p:spPr>
      </p:cxnSp>
      <p:cxnSp>
        <p:nvCxnSpPr>
          <p:cNvPr id="20580" name=""/>
          <p:cNvCxnSpPr/>
          <p:nvPr/>
        </p:nvCxnSpPr>
        <p:spPr>
          <a:xfrm>
            <a:off x="3876675" y="5480050"/>
            <a:ext cx="568325" cy="136525"/>
          </a:xfrm>
          <a:prstGeom prst="line">
            <a:avLst/>
          </a:prstGeom>
          <a:noFill/>
          <a:ln w="25400">
            <a:solidFill>
              <a:schemeClr val="tx1"/>
            </a:solidFill>
            <a:miter lim="800000"/>
          </a:ln>
          <a:effectLst/>
        </p:spPr>
      </p:cxnSp>
      <p:cxnSp>
        <p:nvCxnSpPr>
          <p:cNvPr id="20581" name=""/>
          <p:cNvCxnSpPr/>
          <p:nvPr/>
        </p:nvCxnSpPr>
        <p:spPr>
          <a:xfrm flipH="1">
            <a:off x="2808288" y="5346700"/>
            <a:ext cx="427037" cy="133350"/>
          </a:xfrm>
          <a:prstGeom prst="line">
            <a:avLst/>
          </a:prstGeom>
          <a:noFill/>
          <a:ln w="25400">
            <a:solidFill>
              <a:schemeClr val="tx1"/>
            </a:solidFill>
            <a:miter lim="800000"/>
          </a:ln>
          <a:effectLst/>
        </p:spPr>
      </p:cxnSp>
      <p:cxnSp>
        <p:nvCxnSpPr>
          <p:cNvPr id="20582" name=""/>
          <p:cNvCxnSpPr/>
          <p:nvPr/>
        </p:nvCxnSpPr>
        <p:spPr>
          <a:xfrm flipV="1">
            <a:off x="2881313" y="5480050"/>
            <a:ext cx="354012" cy="136525"/>
          </a:xfrm>
          <a:prstGeom prst="line">
            <a:avLst/>
          </a:prstGeom>
          <a:noFill/>
          <a:ln w="25400">
            <a:solidFill>
              <a:schemeClr val="tx1"/>
            </a:solidFill>
            <a:miter lim="800000"/>
          </a:ln>
          <a:effectLst/>
        </p:spPr>
      </p:cxnSp>
      <p:cxnSp>
        <p:nvCxnSpPr>
          <p:cNvPr id="20583" name=""/>
          <p:cNvCxnSpPr/>
          <p:nvPr/>
        </p:nvCxnSpPr>
        <p:spPr>
          <a:xfrm>
            <a:off x="3946525" y="5346700"/>
            <a:ext cx="568325" cy="133350"/>
          </a:xfrm>
          <a:prstGeom prst="line">
            <a:avLst/>
          </a:prstGeom>
          <a:noFill/>
          <a:ln w="25400">
            <a:solidFill>
              <a:schemeClr val="tx1"/>
            </a:solidFill>
            <a:miter lim="800000"/>
          </a:ln>
          <a:effectLst/>
        </p:spPr>
      </p:cxnSp>
      <p:cxnSp>
        <p:nvCxnSpPr>
          <p:cNvPr id="20584" name=""/>
          <p:cNvCxnSpPr/>
          <p:nvPr/>
        </p:nvCxnSpPr>
        <p:spPr>
          <a:xfrm>
            <a:off x="3876675" y="5616575"/>
            <a:ext cx="496888" cy="133350"/>
          </a:xfrm>
          <a:prstGeom prst="line">
            <a:avLst/>
          </a:prstGeom>
          <a:noFill/>
          <a:ln w="25400">
            <a:solidFill>
              <a:schemeClr val="tx1"/>
            </a:solidFill>
            <a:miter lim="800000"/>
          </a:ln>
          <a:effectLst/>
        </p:spPr>
      </p:cxnSp>
      <p:sp>
        <p:nvSpPr>
          <p:cNvPr id="20585" name=""/>
          <p:cNvSpPr/>
          <p:nvPr/>
        </p:nvSpPr>
        <p:spPr>
          <a:xfrm>
            <a:off x="5718175" y="5132388"/>
            <a:ext cx="3114675" cy="119062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i="1">
                <a:latin typeface="Arial" pitchFamily="34" charset="0"/>
              </a:rPr>
              <a:t>Local transaction processing </a:t>
            </a:r>
            <a:br>
              <a:rPr sz="1800" b="1" i="1">
                <a:latin typeface="Arial" pitchFamily="34" charset="0"/>
              </a:rPr>
            </a:br>
            <a:r>
              <a:rPr sz="1800" b="1" i="1">
                <a:latin typeface="Arial" pitchFamily="34" charset="0"/>
              </a:rPr>
              <a:t>against a replicated database</a:t>
            </a:r>
            <a:endParaRPr sz="1800" b="1" i="1">
              <a:latin typeface="Arial" pitchFamily="34" charset="0"/>
            </a:endParaRPr>
          </a:p>
        </p:txBody>
      </p:sp>
      <p:sp>
        <p:nvSpPr>
          <p:cNvPr id="20586" name=""/>
          <p:cNvSpPr/>
          <p:nvPr/>
        </p:nvSpPr>
        <p:spPr>
          <a:xfrm>
            <a:off x="7004050" y="2309813"/>
            <a:ext cx="1884363" cy="3968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i="1">
                <a:latin typeface="Book Antiqua" pitchFamily="18" charset="0"/>
              </a:rPr>
              <a:t>Data Warehouse</a:t>
            </a:r>
            <a:endParaRPr sz="2000" i="1">
              <a:latin typeface="Book Antiqua" pitchFamily="18" charset="0"/>
            </a:endParaRPr>
          </a:p>
        </p:txBody>
      </p:sp>
      <p:sp>
        <p:nvSpPr>
          <p:cNvPr id="20587" name=""/>
          <p:cNvSpPr/>
          <p:nvPr/>
        </p:nvSpPr>
        <p:spPr>
          <a:xfrm>
            <a:off x="1919288" y="6229350"/>
            <a:ext cx="4340225" cy="3968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i="1">
                <a:latin typeface="Book Antiqua" pitchFamily="18" charset="0"/>
              </a:rPr>
              <a:t>PC desktops and Intel/</a:t>
            </a:r>
            <a:r>
              <a:rPr sz="2000" i="1">
                <a:latin typeface="Book Antiqua" pitchFamily="18" charset="0"/>
              </a:rPr>
              <a:t>Risc</a:t>
            </a:r>
            <a:r>
              <a:rPr sz="2000" i="1">
                <a:latin typeface="Book Antiqua" pitchFamily="18" charset="0"/>
              </a:rPr>
              <a:t> Office Server</a:t>
            </a:r>
            <a:endParaRPr sz="2000" i="1">
              <a:latin typeface="Book Antiqua" pitchFamily="18" charset="0"/>
            </a:endParaRPr>
          </a:p>
        </p:txBody>
      </p:sp>
      <p:cxnSp>
        <p:nvCxnSpPr>
          <p:cNvPr id="20588" name=""/>
          <p:cNvCxnSpPr/>
          <p:nvPr/>
        </p:nvCxnSpPr>
        <p:spPr>
          <a:xfrm>
            <a:off x="2844800" y="3486150"/>
            <a:ext cx="3636963" cy="0"/>
          </a:xfrm>
          <a:prstGeom prst="line">
            <a:avLst/>
          </a:prstGeom>
          <a:noFill/>
          <a:ln w="50800">
            <a:solidFill>
              <a:schemeClr val="accent2"/>
            </a:solidFill>
            <a:miter lim="800000"/>
          </a:ln>
          <a:effectLst/>
        </p:spPr>
      </p:cxnSp>
      <p:cxnSp>
        <p:nvCxnSpPr>
          <p:cNvPr id="20589" name=""/>
          <p:cNvCxnSpPr/>
          <p:nvPr/>
        </p:nvCxnSpPr>
        <p:spPr>
          <a:xfrm>
            <a:off x="2622550" y="3201988"/>
            <a:ext cx="222250" cy="284162"/>
          </a:xfrm>
          <a:prstGeom prst="line">
            <a:avLst/>
          </a:prstGeom>
          <a:noFill/>
          <a:ln w="50800">
            <a:solidFill>
              <a:schemeClr val="accent2"/>
            </a:solidFill>
            <a:miter lim="800000"/>
          </a:ln>
          <a:effectLst/>
        </p:spPr>
      </p:cxnSp>
      <p:cxnSp>
        <p:nvCxnSpPr>
          <p:cNvPr id="20590" name=""/>
          <p:cNvCxnSpPr/>
          <p:nvPr/>
        </p:nvCxnSpPr>
        <p:spPr>
          <a:xfrm flipV="1">
            <a:off x="6481763" y="3273425"/>
            <a:ext cx="149225" cy="212725"/>
          </a:xfrm>
          <a:prstGeom prst="line">
            <a:avLst/>
          </a:prstGeom>
          <a:noFill/>
          <a:ln w="50800">
            <a:solidFill>
              <a:schemeClr val="accent2"/>
            </a:solidFill>
            <a:miter lim="800000"/>
          </a:ln>
          <a:effectLst/>
        </p:spPr>
      </p:cxnSp>
      <p:sp>
        <p:nvSpPr>
          <p:cNvPr id="20591" name=""/>
          <p:cNvSpPr/>
          <p:nvPr/>
        </p:nvSpPr>
        <p:spPr>
          <a:xfrm>
            <a:off x="939800" y="3868738"/>
            <a:ext cx="2351088" cy="915987"/>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spcBef>
                <a:spcPct val="50000"/>
              </a:spcBef>
            </a:pPr>
            <a:r>
              <a:rPr sz="1800" b="1">
                <a:latin typeface="Arial" pitchFamily="34" charset="0"/>
              </a:rPr>
              <a:t>Economical, Scaleable</a:t>
            </a:r>
            <a:br>
              <a:rPr sz="1800" b="1">
                <a:latin typeface="Arial" pitchFamily="34" charset="0"/>
              </a:rPr>
            </a:br>
            <a:r>
              <a:rPr sz="1800" b="1">
                <a:latin typeface="Arial" pitchFamily="34" charset="0"/>
              </a:rPr>
              <a:t>15-500 Users</a:t>
            </a:r>
            <a:endParaRPr sz="1800" b="1">
              <a:latin typeface="Arial" pitchFamily="34" charset="0"/>
            </a:endParaRPr>
          </a:p>
        </p:txBody>
      </p:sp>
      <p:sp>
        <p:nvSpPr>
          <p:cNvPr id="20592" name=""/>
          <p:cNvSpPr/>
          <p:nvPr/>
        </p:nvSpPr>
        <p:spPr>
          <a:xfrm>
            <a:off x="1296988" y="1452563"/>
            <a:ext cx="1260475" cy="64135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i="1">
                <a:solidFill>
                  <a:srgbClr val="618FFD"/>
                </a:solidFill>
                <a:latin typeface="Arial" pitchFamily="34" charset="0"/>
              </a:rPr>
              <a:t>5,000 Users</a:t>
            </a:r>
            <a:endParaRPr sz="1800" b="1" i="1">
              <a:solidFill>
                <a:srgbClr val="618FFD"/>
              </a:solidFill>
              <a:latin typeface="Arial" pitchFamily="34" charset="0"/>
            </a:endParaRPr>
          </a:p>
        </p:txBody>
      </p:sp>
      <p:sp>
        <p:nvSpPr>
          <p:cNvPr id="20485" name=""/>
          <p:cNvSpPr/>
          <p:nvPr/>
        </p:nvSpPr>
        <p:spPr>
          <a:xfrm>
            <a:off x="61913" y="2393950"/>
            <a:ext cx="1538287" cy="131127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i="1">
                <a:latin typeface="Book Antiqua" pitchFamily="18" charset="0"/>
              </a:rPr>
              <a:t>OLTP Production</a:t>
            </a:r>
            <a:br>
              <a:rPr sz="2000" i="1">
                <a:latin typeface="Book Antiqua" pitchFamily="18" charset="0"/>
              </a:rPr>
            </a:br>
            <a:r>
              <a:rPr sz="2000" i="1">
                <a:latin typeface="Book Antiqua" pitchFamily="18" charset="0"/>
              </a:rPr>
              <a:t>System &amp;</a:t>
            </a:r>
            <a:br>
              <a:rPr sz="2000" i="1">
                <a:latin typeface="Book Antiqua" pitchFamily="18" charset="0"/>
              </a:rPr>
            </a:br>
            <a:r>
              <a:rPr sz="2000" i="1">
                <a:latin typeface="Book Antiqua" pitchFamily="18" charset="0"/>
              </a:rPr>
              <a:t>Admin.</a:t>
            </a:r>
            <a:endParaRPr sz="2000" i="1">
              <a:latin typeface="Book Antiqua" pitchFamily="18" charset="0"/>
            </a:endParaRPr>
          </a:p>
        </p:txBody>
      </p:sp>
      <p:sp>
        <p:nvSpPr>
          <p:cNvPr id="20593" name="Date Placeholder 2"/>
          <p:cNvSpPr>
            <a:spLocks noGrp="1"/>
          </p:cNvSpPr>
          <p:nvPr>
            <p:ph type="dt" sz="half" idx="10"/>
          </p:nvPr>
        </p:nvSpPr>
        <p:spPr/>
        <p:txBody>
          <a:bodyPr/>
          <a:lstStyle/>
          <a:p>
            <a:pPr lvl="0"/>
            <a:endParaRPr sz="1400"/>
          </a:p>
        </p:txBody>
      </p:sp>
      <p:sp>
        <p:nvSpPr>
          <p:cNvPr id="20594" name="Footer Placeholder 3"/>
          <p:cNvSpPr>
            <a:spLocks noGrp="1"/>
          </p:cNvSpPr>
          <p:nvPr>
            <p:ph type="ftr" sz="quarter" idx="11"/>
          </p:nvPr>
        </p:nvSpPr>
        <p:spPr/>
        <p:txBody>
          <a:bodyPr/>
          <a:lstStyle/>
          <a:p>
            <a:pPr lvl="0" algn="ctr"/>
            <a:fld id="{1094CF04-769A-4E44-8A26-32AABD4A97CC}" type="footer">
              <a:rPr sz="1400"/>
              <a:t/>
            </a:fld>
            <a:endParaRPr sz="1400"/>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2530" name=""/>
          <p:cNvSpPr/>
          <p:nvPr/>
        </p:nvSpPr>
        <p:spPr>
          <a:xfrm>
            <a:off x="711200" y="6248400"/>
            <a:ext cx="1897063" cy="457200"/>
          </a:xfrm>
          <a:prstGeom prst="rect">
            <a:avLst/>
          </a:prstGeom>
          <a:noFill/>
          <a:ln>
            <a:noFill/>
            <a:miter lim="800000"/>
          </a:ln>
          <a:effectLst/>
        </p:spPr>
      </p:sp>
      <p:sp>
        <p:nvSpPr>
          <p:cNvPr id="22531" name=""/>
          <p:cNvSpPr/>
          <p:nvPr/>
        </p:nvSpPr>
        <p:spPr>
          <a:xfrm>
            <a:off x="3149600" y="6248400"/>
            <a:ext cx="2844800" cy="457200"/>
          </a:xfrm>
          <a:prstGeom prst="rect">
            <a:avLst/>
          </a:prstGeom>
          <a:noFill/>
          <a:ln>
            <a:noFill/>
            <a:miter lim="800000"/>
          </a:ln>
          <a:effectLst/>
        </p:spPr>
      </p:sp>
      <p:sp>
        <p:nvSpPr>
          <p:cNvPr id="22532" name=""/>
          <p:cNvSpPr/>
          <p:nvPr>
            <p:ph type="title"/>
          </p:nvPr>
        </p:nvSpPr>
        <p:spPr>
          <a:xfrm>
            <a:off x="685800" y="609600"/>
            <a:ext cx="7772400" cy="1143000"/>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3-Tier Application Example:</a:t>
            </a:r>
            <a:br/>
            <a:r>
              <a:rPr i="1"/>
              <a:t>Information Flow</a:t>
            </a:r>
            <a:endParaRPr i="1"/>
          </a:p>
        </p:txBody>
      </p:sp>
      <p:grpSp>
        <p:nvGrpSpPr>
          <p:cNvPr id="22533" name=""/>
          <p:cNvGrpSpPr/>
          <p:nvPr/>
        </p:nvGrpSpPr>
        <p:grpSpPr>
          <a:xfrm>
            <a:off x="1244600" y="5591175"/>
            <a:ext cx="4456113" cy="996950"/>
            <a:chOff x="784" y="3522"/>
            <a:chExt cx="2807" cy="628"/>
          </a:xfrm>
        </p:grpSpPr>
        <p:grpSp>
          <p:nvGrpSpPr>
            <p:cNvPr id="22534" name=""/>
            <p:cNvGrpSpPr/>
            <p:nvPr/>
          </p:nvGrpSpPr>
          <p:grpSpPr>
            <a:xfrm>
              <a:off x="784" y="3568"/>
              <a:ext cx="967" cy="582"/>
              <a:chOff x="784" y="3568"/>
              <a:chExt cx="967" cy="582"/>
            </a:xfrm>
          </p:grpSpPr>
          <p:pic>
            <p:nvPicPr>
              <p:cNvPr id="22535" name=""/>
              <p:cNvPicPr/>
              <p:nvPr/>
            </p:nvPicPr>
            <p:blipFill>
              <a:blip r:embed="rId3"/>
              <a:stretch>
                <a:fillRect/>
              </a:stretch>
            </p:blipFill>
            <p:spPr>
              <a:xfrm>
                <a:off x="784" y="3568"/>
                <a:ext cx="552" cy="399"/>
              </a:xfrm>
              <a:prstGeom prst="rect">
                <a:avLst/>
              </a:prstGeom>
              <a:noFill/>
              <a:ln>
                <a:noFill/>
                <a:miter lim="800000"/>
              </a:ln>
              <a:effectLst/>
            </p:spPr>
          </p:pic>
          <p:pic>
            <p:nvPicPr>
              <p:cNvPr id="22536" name=""/>
              <p:cNvPicPr/>
              <p:nvPr/>
            </p:nvPicPr>
            <p:blipFill>
              <a:blip r:embed="rId3"/>
              <a:stretch>
                <a:fillRect/>
              </a:stretch>
            </p:blipFill>
            <p:spPr>
              <a:xfrm>
                <a:off x="968" y="3659"/>
                <a:ext cx="552" cy="399"/>
              </a:xfrm>
              <a:prstGeom prst="rect">
                <a:avLst/>
              </a:prstGeom>
              <a:noFill/>
              <a:ln>
                <a:noFill/>
                <a:miter lim="800000"/>
              </a:ln>
              <a:effectLst/>
            </p:spPr>
          </p:pic>
          <p:pic>
            <p:nvPicPr>
              <p:cNvPr id="22537" name=""/>
              <p:cNvPicPr/>
              <p:nvPr/>
            </p:nvPicPr>
            <p:blipFill>
              <a:blip r:embed="rId3"/>
              <a:stretch>
                <a:fillRect/>
              </a:stretch>
            </p:blipFill>
            <p:spPr>
              <a:xfrm>
                <a:off x="1199" y="3751"/>
                <a:ext cx="552" cy="399"/>
              </a:xfrm>
              <a:prstGeom prst="rect">
                <a:avLst/>
              </a:prstGeom>
              <a:noFill/>
              <a:ln>
                <a:noFill/>
                <a:miter lim="800000"/>
              </a:ln>
              <a:effectLst/>
            </p:spPr>
          </p:pic>
        </p:grpSp>
        <p:grpSp>
          <p:nvGrpSpPr>
            <p:cNvPr id="22538" name=""/>
            <p:cNvGrpSpPr/>
            <p:nvPr/>
          </p:nvGrpSpPr>
          <p:grpSpPr>
            <a:xfrm>
              <a:off x="2716" y="3522"/>
              <a:ext cx="875" cy="628"/>
              <a:chOff x="2716" y="3522"/>
              <a:chExt cx="875" cy="628"/>
            </a:xfrm>
          </p:grpSpPr>
          <p:pic>
            <p:nvPicPr>
              <p:cNvPr id="22539" name=""/>
              <p:cNvPicPr/>
              <p:nvPr/>
            </p:nvPicPr>
            <p:blipFill>
              <a:blip r:embed="rId3"/>
              <a:stretch>
                <a:fillRect/>
              </a:stretch>
            </p:blipFill>
            <p:spPr>
              <a:xfrm>
                <a:off x="3039" y="3522"/>
                <a:ext cx="552" cy="399"/>
              </a:xfrm>
              <a:prstGeom prst="rect">
                <a:avLst/>
              </a:prstGeom>
              <a:noFill/>
              <a:ln>
                <a:noFill/>
                <a:miter lim="800000"/>
              </a:ln>
              <a:effectLst/>
            </p:spPr>
          </p:pic>
          <p:pic>
            <p:nvPicPr>
              <p:cNvPr id="22540" name=""/>
              <p:cNvPicPr/>
              <p:nvPr/>
            </p:nvPicPr>
            <p:blipFill>
              <a:blip r:embed="rId3"/>
              <a:stretch>
                <a:fillRect/>
              </a:stretch>
            </p:blipFill>
            <p:spPr>
              <a:xfrm>
                <a:off x="2900" y="3659"/>
                <a:ext cx="552" cy="399"/>
              </a:xfrm>
              <a:prstGeom prst="rect">
                <a:avLst/>
              </a:prstGeom>
              <a:noFill/>
              <a:ln>
                <a:noFill/>
                <a:miter lim="800000"/>
              </a:ln>
              <a:effectLst/>
            </p:spPr>
          </p:pic>
          <p:pic>
            <p:nvPicPr>
              <p:cNvPr id="22541" name=""/>
              <p:cNvPicPr/>
              <p:nvPr/>
            </p:nvPicPr>
            <p:blipFill>
              <a:blip r:embed="rId3"/>
              <a:stretch>
                <a:fillRect/>
              </a:stretch>
            </p:blipFill>
            <p:spPr>
              <a:xfrm>
                <a:off x="2716" y="3751"/>
                <a:ext cx="552" cy="399"/>
              </a:xfrm>
              <a:prstGeom prst="rect">
                <a:avLst/>
              </a:prstGeom>
              <a:noFill/>
              <a:ln>
                <a:noFill/>
                <a:miter lim="800000"/>
              </a:ln>
              <a:effectLst/>
            </p:spPr>
          </p:pic>
        </p:grpSp>
        <p:grpSp>
          <p:nvGrpSpPr>
            <p:cNvPr id="22542" name=""/>
            <p:cNvGrpSpPr/>
            <p:nvPr/>
          </p:nvGrpSpPr>
          <p:grpSpPr>
            <a:xfrm>
              <a:off x="2072" y="3568"/>
              <a:ext cx="231" cy="410"/>
              <a:chOff x="2072" y="3568"/>
              <a:chExt cx="231" cy="410"/>
            </a:xfrm>
          </p:grpSpPr>
          <p:sp>
            <p:nvSpPr>
              <p:cNvPr id="22543" name=""/>
              <p:cNvSpPr/>
              <p:nvPr/>
            </p:nvSpPr>
            <p:spPr>
              <a:xfrm>
                <a:off x="2076" y="3624"/>
                <a:ext cx="168" cy="350"/>
              </a:xfrm>
              <a:prstGeom prst="rect">
                <a:avLst/>
              </a:prstGeom>
              <a:solidFill>
                <a:schemeClr val="bg1"/>
              </a:solidFill>
              <a:ln w="12700">
                <a:solidFill>
                  <a:schemeClr val="tx1"/>
                </a:solidFill>
                <a:miter lim="800000"/>
              </a:ln>
              <a:effectLst/>
            </p:spPr>
          </p:sp>
          <p:cxnSp>
            <p:nvCxnSpPr>
              <p:cNvPr id="22544" name=""/>
              <p:cNvCxnSpPr/>
              <p:nvPr/>
            </p:nvCxnSpPr>
            <p:spPr>
              <a:xfrm flipV="1">
                <a:off x="2072" y="3568"/>
                <a:ext cx="107" cy="52"/>
              </a:xfrm>
              <a:prstGeom prst="line">
                <a:avLst/>
              </a:prstGeom>
              <a:noFill/>
              <a:ln w="12700">
                <a:solidFill>
                  <a:schemeClr val="tx1"/>
                </a:solidFill>
                <a:miter lim="800000"/>
              </a:ln>
              <a:effectLst/>
            </p:spPr>
          </p:cxnSp>
          <p:cxnSp>
            <p:nvCxnSpPr>
              <p:cNvPr id="22545" name=""/>
              <p:cNvCxnSpPr/>
              <p:nvPr/>
            </p:nvCxnSpPr>
            <p:spPr>
              <a:xfrm>
                <a:off x="2179" y="3568"/>
                <a:ext cx="124" cy="0"/>
              </a:xfrm>
              <a:prstGeom prst="line">
                <a:avLst/>
              </a:prstGeom>
              <a:noFill/>
              <a:ln w="12700">
                <a:solidFill>
                  <a:schemeClr val="tx1"/>
                </a:solidFill>
                <a:miter lim="800000"/>
              </a:ln>
              <a:effectLst/>
            </p:spPr>
          </p:cxnSp>
          <p:cxnSp>
            <p:nvCxnSpPr>
              <p:cNvPr id="22546" name=""/>
              <p:cNvCxnSpPr/>
              <p:nvPr/>
            </p:nvCxnSpPr>
            <p:spPr>
              <a:xfrm flipH="1">
                <a:off x="2303" y="3568"/>
                <a:ext cx="0" cy="308"/>
              </a:xfrm>
              <a:prstGeom prst="line">
                <a:avLst/>
              </a:prstGeom>
              <a:noFill/>
              <a:ln w="12700">
                <a:solidFill>
                  <a:schemeClr val="tx1"/>
                </a:solidFill>
                <a:miter lim="800000"/>
              </a:ln>
              <a:effectLst/>
            </p:spPr>
          </p:cxnSp>
          <p:cxnSp>
            <p:nvCxnSpPr>
              <p:cNvPr id="22547" name=""/>
              <p:cNvCxnSpPr/>
              <p:nvPr/>
            </p:nvCxnSpPr>
            <p:spPr>
              <a:xfrm flipV="1">
                <a:off x="2248" y="3876"/>
                <a:ext cx="55" cy="102"/>
              </a:xfrm>
              <a:prstGeom prst="line">
                <a:avLst/>
              </a:prstGeom>
              <a:noFill/>
              <a:ln w="12700">
                <a:solidFill>
                  <a:schemeClr val="tx1"/>
                </a:solidFill>
                <a:miter lim="800000"/>
              </a:ln>
              <a:effectLst/>
            </p:spPr>
          </p:cxnSp>
          <p:cxnSp>
            <p:nvCxnSpPr>
              <p:cNvPr id="22548" name=""/>
              <p:cNvCxnSpPr/>
              <p:nvPr/>
            </p:nvCxnSpPr>
            <p:spPr>
              <a:xfrm flipH="1">
                <a:off x="2248" y="3568"/>
                <a:ext cx="55" cy="52"/>
              </a:xfrm>
              <a:prstGeom prst="line">
                <a:avLst/>
              </a:prstGeom>
              <a:noFill/>
              <a:ln w="12700">
                <a:solidFill>
                  <a:schemeClr val="tx1"/>
                </a:solidFill>
                <a:miter lim="800000"/>
              </a:ln>
              <a:effectLst/>
            </p:spPr>
          </p:cxnSp>
          <p:grpSp>
            <p:nvGrpSpPr>
              <p:cNvPr id="22549" name=""/>
              <p:cNvGrpSpPr/>
              <p:nvPr/>
            </p:nvGrpSpPr>
            <p:grpSpPr>
              <a:xfrm>
                <a:off x="2160" y="3671"/>
                <a:ext cx="55" cy="127"/>
                <a:chOff x="2160" y="3671"/>
                <a:chExt cx="55" cy="127"/>
              </a:xfrm>
            </p:grpSpPr>
            <p:cxnSp>
              <p:nvCxnSpPr>
                <p:cNvPr id="22550" name=""/>
                <p:cNvCxnSpPr/>
                <p:nvPr/>
              </p:nvCxnSpPr>
              <p:spPr>
                <a:xfrm flipH="1">
                  <a:off x="2160" y="3671"/>
                  <a:ext cx="0" cy="127"/>
                </a:xfrm>
                <a:prstGeom prst="line">
                  <a:avLst/>
                </a:prstGeom>
                <a:noFill/>
                <a:ln w="12700">
                  <a:solidFill>
                    <a:schemeClr val="tx1"/>
                  </a:solidFill>
                  <a:miter lim="800000"/>
                </a:ln>
                <a:effectLst/>
              </p:spPr>
            </p:cxnSp>
            <p:cxnSp>
              <p:nvCxnSpPr>
                <p:cNvPr id="22551" name=""/>
                <p:cNvCxnSpPr/>
                <p:nvPr/>
              </p:nvCxnSpPr>
              <p:spPr>
                <a:xfrm flipH="1">
                  <a:off x="2179" y="3671"/>
                  <a:ext cx="0" cy="127"/>
                </a:xfrm>
                <a:prstGeom prst="line">
                  <a:avLst/>
                </a:prstGeom>
                <a:noFill/>
                <a:ln w="12700">
                  <a:solidFill>
                    <a:schemeClr val="tx1"/>
                  </a:solidFill>
                  <a:miter lim="800000"/>
                </a:ln>
                <a:effectLst/>
              </p:spPr>
            </p:cxnSp>
            <p:cxnSp>
              <p:nvCxnSpPr>
                <p:cNvPr id="22552" name=""/>
                <p:cNvCxnSpPr/>
                <p:nvPr/>
              </p:nvCxnSpPr>
              <p:spPr>
                <a:xfrm flipH="1">
                  <a:off x="2196" y="3671"/>
                  <a:ext cx="0" cy="127"/>
                </a:xfrm>
                <a:prstGeom prst="line">
                  <a:avLst/>
                </a:prstGeom>
                <a:noFill/>
                <a:ln w="12700">
                  <a:solidFill>
                    <a:schemeClr val="tx1"/>
                  </a:solidFill>
                  <a:miter lim="800000"/>
                </a:ln>
                <a:effectLst/>
              </p:spPr>
            </p:cxnSp>
            <p:cxnSp>
              <p:nvCxnSpPr>
                <p:cNvPr id="22553" name=""/>
                <p:cNvCxnSpPr/>
                <p:nvPr/>
              </p:nvCxnSpPr>
              <p:spPr>
                <a:xfrm flipH="1">
                  <a:off x="2215" y="3671"/>
                  <a:ext cx="0" cy="127"/>
                </a:xfrm>
                <a:prstGeom prst="line">
                  <a:avLst/>
                </a:prstGeom>
                <a:noFill/>
                <a:ln w="12700">
                  <a:solidFill>
                    <a:schemeClr val="tx1"/>
                  </a:solidFill>
                  <a:miter lim="800000"/>
                </a:ln>
                <a:effectLst/>
              </p:spPr>
            </p:cxnSp>
          </p:grpSp>
          <p:sp>
            <p:nvSpPr>
              <p:cNvPr id="22554" name=""/>
              <p:cNvSpPr/>
              <p:nvPr/>
            </p:nvSpPr>
            <p:spPr>
              <a:xfrm>
                <a:off x="2112" y="3880"/>
                <a:ext cx="63" cy="17"/>
              </a:xfrm>
              <a:prstGeom prst="rect">
                <a:avLst/>
              </a:prstGeom>
              <a:solidFill>
                <a:schemeClr val="bg1"/>
              </a:solidFill>
              <a:ln w="12700">
                <a:solidFill>
                  <a:schemeClr val="tx1"/>
                </a:solidFill>
                <a:miter lim="800000"/>
              </a:ln>
              <a:effectLst/>
            </p:spPr>
          </p:sp>
        </p:grpSp>
      </p:grpSp>
      <p:cxnSp>
        <p:nvCxnSpPr>
          <p:cNvPr id="22555" name=""/>
          <p:cNvCxnSpPr/>
          <p:nvPr/>
        </p:nvCxnSpPr>
        <p:spPr>
          <a:xfrm>
            <a:off x="2678113" y="2462213"/>
            <a:ext cx="244475" cy="0"/>
          </a:xfrm>
          <a:prstGeom prst="line">
            <a:avLst/>
          </a:prstGeom>
          <a:noFill/>
          <a:ln w="127000">
            <a:solidFill>
              <a:schemeClr val="tx1"/>
            </a:solidFill>
            <a:miter lim="800000"/>
          </a:ln>
          <a:effectLst/>
        </p:spPr>
      </p:cxnSp>
      <p:sp>
        <p:nvSpPr>
          <p:cNvPr id="22556" name=""/>
          <p:cNvSpPr/>
          <p:nvPr/>
        </p:nvSpPr>
        <p:spPr>
          <a:xfrm>
            <a:off x="5672138" y="2057400"/>
            <a:ext cx="2100262" cy="915988"/>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i="1">
                <a:solidFill>
                  <a:srgbClr val="D0BD6E"/>
                </a:solidFill>
                <a:effectLst>
                  <a:outerShdw blurRad="38100" dist="38100" dir="2700000" algn="tl">
                    <a:srgbClr val="000000"/>
                  </a:outerShdw>
                </a:effectLst>
                <a:latin typeface="Arial" pitchFamily="34" charset="0"/>
              </a:rPr>
              <a:t>Data Warehouse Transformation &amp; Replication</a:t>
            </a:r>
            <a:endParaRPr sz="1800" b="1" i="1">
              <a:solidFill>
                <a:srgbClr val="D0BD6E"/>
              </a:solidFill>
              <a:effectLst>
                <a:outerShdw blurRad="38100" dist="38100" dir="2700000" algn="tl">
                  <a:srgbClr val="000000"/>
                </a:outerShdw>
              </a:effectLst>
              <a:latin typeface="Arial" pitchFamily="34" charset="0"/>
            </a:endParaRPr>
          </a:p>
        </p:txBody>
      </p:sp>
      <p:cxnSp>
        <p:nvCxnSpPr>
          <p:cNvPr id="22557" name=""/>
          <p:cNvCxnSpPr/>
          <p:nvPr/>
        </p:nvCxnSpPr>
        <p:spPr>
          <a:xfrm flipV="1">
            <a:off x="2779713" y="6243638"/>
            <a:ext cx="363537" cy="142875"/>
          </a:xfrm>
          <a:prstGeom prst="line">
            <a:avLst/>
          </a:prstGeom>
          <a:noFill/>
          <a:ln w="25400">
            <a:solidFill>
              <a:schemeClr val="tx1"/>
            </a:solidFill>
            <a:miter lim="800000"/>
          </a:ln>
          <a:effectLst/>
        </p:spPr>
      </p:cxnSp>
      <p:cxnSp>
        <p:nvCxnSpPr>
          <p:cNvPr id="22558" name=""/>
          <p:cNvCxnSpPr/>
          <p:nvPr/>
        </p:nvCxnSpPr>
        <p:spPr>
          <a:xfrm>
            <a:off x="3802063" y="6097588"/>
            <a:ext cx="584200" cy="146050"/>
          </a:xfrm>
          <a:prstGeom prst="line">
            <a:avLst/>
          </a:prstGeom>
          <a:noFill/>
          <a:ln w="25400">
            <a:solidFill>
              <a:schemeClr val="tx1"/>
            </a:solidFill>
            <a:miter lim="800000"/>
          </a:ln>
          <a:effectLst/>
        </p:spPr>
      </p:cxnSp>
      <p:cxnSp>
        <p:nvCxnSpPr>
          <p:cNvPr id="22559" name=""/>
          <p:cNvCxnSpPr/>
          <p:nvPr/>
        </p:nvCxnSpPr>
        <p:spPr>
          <a:xfrm flipH="1">
            <a:off x="2705100" y="5954713"/>
            <a:ext cx="438150" cy="142875"/>
          </a:xfrm>
          <a:prstGeom prst="line">
            <a:avLst/>
          </a:prstGeom>
          <a:noFill/>
          <a:ln w="25400">
            <a:solidFill>
              <a:schemeClr val="tx1"/>
            </a:solidFill>
            <a:miter lim="800000"/>
          </a:ln>
          <a:effectLst/>
        </p:spPr>
      </p:cxnSp>
      <p:cxnSp>
        <p:nvCxnSpPr>
          <p:cNvPr id="22560" name=""/>
          <p:cNvCxnSpPr/>
          <p:nvPr/>
        </p:nvCxnSpPr>
        <p:spPr>
          <a:xfrm flipV="1">
            <a:off x="2779713" y="6097588"/>
            <a:ext cx="363537" cy="146050"/>
          </a:xfrm>
          <a:prstGeom prst="line">
            <a:avLst/>
          </a:prstGeom>
          <a:noFill/>
          <a:ln w="25400">
            <a:solidFill>
              <a:schemeClr val="tx1"/>
            </a:solidFill>
            <a:miter lim="800000"/>
          </a:ln>
          <a:effectLst/>
        </p:spPr>
      </p:cxnSp>
      <p:cxnSp>
        <p:nvCxnSpPr>
          <p:cNvPr id="22561" name=""/>
          <p:cNvCxnSpPr/>
          <p:nvPr/>
        </p:nvCxnSpPr>
        <p:spPr>
          <a:xfrm>
            <a:off x="3873500" y="5954713"/>
            <a:ext cx="584200" cy="142875"/>
          </a:xfrm>
          <a:prstGeom prst="line">
            <a:avLst/>
          </a:prstGeom>
          <a:noFill/>
          <a:ln w="25400">
            <a:solidFill>
              <a:schemeClr val="tx1"/>
            </a:solidFill>
            <a:miter lim="800000"/>
          </a:ln>
          <a:effectLst/>
        </p:spPr>
      </p:cxnSp>
      <p:cxnSp>
        <p:nvCxnSpPr>
          <p:cNvPr id="22562" name=""/>
          <p:cNvCxnSpPr/>
          <p:nvPr/>
        </p:nvCxnSpPr>
        <p:spPr>
          <a:xfrm>
            <a:off x="3802063" y="6243638"/>
            <a:ext cx="509587" cy="142875"/>
          </a:xfrm>
          <a:prstGeom prst="line">
            <a:avLst/>
          </a:prstGeom>
          <a:noFill/>
          <a:ln w="25400">
            <a:solidFill>
              <a:schemeClr val="tx1"/>
            </a:solidFill>
            <a:miter lim="800000"/>
          </a:ln>
          <a:effectLst/>
        </p:spPr>
      </p:cxnSp>
      <p:cxnSp>
        <p:nvCxnSpPr>
          <p:cNvPr id="22563" name=""/>
          <p:cNvCxnSpPr/>
          <p:nvPr/>
        </p:nvCxnSpPr>
        <p:spPr>
          <a:xfrm flipV="1">
            <a:off x="1828800" y="4724400"/>
            <a:ext cx="1447800" cy="990600"/>
          </a:xfrm>
          <a:prstGeom prst="line">
            <a:avLst/>
          </a:prstGeom>
          <a:noFill/>
          <a:ln w="127000">
            <a:solidFill>
              <a:schemeClr val="hlink"/>
            </a:solidFill>
            <a:miter lim="800000"/>
            <a:headEnd type="stealth" len="lg"/>
            <a:tailEnd type="stealth" len="lg"/>
          </a:ln>
          <a:effectLst/>
        </p:spPr>
      </p:cxnSp>
      <p:cxnSp>
        <p:nvCxnSpPr>
          <p:cNvPr id="22564" name=""/>
          <p:cNvCxnSpPr/>
          <p:nvPr/>
        </p:nvCxnSpPr>
        <p:spPr>
          <a:xfrm flipH="1" flipV="1">
            <a:off x="2387600" y="3886200"/>
            <a:ext cx="744538" cy="609600"/>
          </a:xfrm>
          <a:prstGeom prst="line">
            <a:avLst/>
          </a:prstGeom>
          <a:noFill/>
          <a:ln w="101600">
            <a:solidFill>
              <a:srgbClr val="FC0128"/>
            </a:solidFill>
            <a:miter lim="800000"/>
            <a:tailEnd type="stealth" len="lg"/>
          </a:ln>
          <a:effectLst/>
        </p:spPr>
      </p:cxnSp>
      <p:cxnSp>
        <p:nvCxnSpPr>
          <p:cNvPr id="22565" name=""/>
          <p:cNvCxnSpPr/>
          <p:nvPr/>
        </p:nvCxnSpPr>
        <p:spPr>
          <a:xfrm>
            <a:off x="2659063" y="3581400"/>
            <a:ext cx="812800" cy="533400"/>
          </a:xfrm>
          <a:prstGeom prst="line">
            <a:avLst/>
          </a:prstGeom>
          <a:noFill/>
          <a:ln w="101600">
            <a:solidFill>
              <a:srgbClr val="618FFD"/>
            </a:solidFill>
            <a:miter lim="800000"/>
            <a:tailEnd type="stealth" len="lg"/>
          </a:ln>
          <a:effectLst/>
        </p:spPr>
      </p:cxnSp>
      <p:cxnSp>
        <p:nvCxnSpPr>
          <p:cNvPr id="22566" name=""/>
          <p:cNvCxnSpPr/>
          <p:nvPr/>
        </p:nvCxnSpPr>
        <p:spPr>
          <a:xfrm>
            <a:off x="4106863" y="2438400"/>
            <a:ext cx="1625600" cy="0"/>
          </a:xfrm>
          <a:prstGeom prst="line">
            <a:avLst/>
          </a:prstGeom>
          <a:noFill/>
          <a:ln w="127000">
            <a:solidFill>
              <a:srgbClr val="D0BD6E"/>
            </a:solidFill>
            <a:miter lim="800000"/>
            <a:tailEnd type="stealth" len="lg"/>
          </a:ln>
          <a:effectLst>
            <a:outerShdw dist="45791" dir="2021404" algn="ctr">
              <a:schemeClr val="hlink"/>
            </a:outerShdw>
          </a:effectLst>
        </p:spPr>
      </p:cxnSp>
      <p:cxnSp>
        <p:nvCxnSpPr>
          <p:cNvPr id="22567" name=""/>
          <p:cNvCxnSpPr/>
          <p:nvPr/>
        </p:nvCxnSpPr>
        <p:spPr>
          <a:xfrm>
            <a:off x="2725738" y="3505200"/>
            <a:ext cx="1355725" cy="609600"/>
          </a:xfrm>
          <a:prstGeom prst="line">
            <a:avLst/>
          </a:prstGeom>
          <a:noFill/>
          <a:ln w="101600">
            <a:solidFill>
              <a:srgbClr val="618FFD"/>
            </a:solidFill>
            <a:miter lim="800000"/>
            <a:tailEnd type="stealth" len="lg"/>
          </a:ln>
          <a:effectLst/>
        </p:spPr>
      </p:cxnSp>
      <p:cxnSp>
        <p:nvCxnSpPr>
          <p:cNvPr id="22568" name=""/>
          <p:cNvCxnSpPr/>
          <p:nvPr/>
        </p:nvCxnSpPr>
        <p:spPr>
          <a:xfrm>
            <a:off x="2725738" y="3429000"/>
            <a:ext cx="1965325" cy="685800"/>
          </a:xfrm>
          <a:prstGeom prst="line">
            <a:avLst/>
          </a:prstGeom>
          <a:noFill/>
          <a:ln w="101600">
            <a:solidFill>
              <a:srgbClr val="618FFD"/>
            </a:solidFill>
            <a:miter lim="800000"/>
            <a:tailEnd type="stealth" len="lg"/>
          </a:ln>
          <a:effectLst/>
        </p:spPr>
      </p:cxnSp>
      <p:cxnSp>
        <p:nvCxnSpPr>
          <p:cNvPr id="22569" name=""/>
          <p:cNvCxnSpPr/>
          <p:nvPr/>
        </p:nvCxnSpPr>
        <p:spPr>
          <a:xfrm>
            <a:off x="2725738" y="3352800"/>
            <a:ext cx="2506662" cy="762000"/>
          </a:xfrm>
          <a:prstGeom prst="line">
            <a:avLst/>
          </a:prstGeom>
          <a:noFill/>
          <a:ln w="101600">
            <a:solidFill>
              <a:srgbClr val="618FFD"/>
            </a:solidFill>
            <a:miter lim="800000"/>
            <a:tailEnd type="stealth" len="lg"/>
          </a:ln>
          <a:effectLst/>
        </p:spPr>
      </p:cxnSp>
      <p:cxnSp>
        <p:nvCxnSpPr>
          <p:cNvPr id="22570" name=""/>
          <p:cNvCxnSpPr/>
          <p:nvPr/>
        </p:nvCxnSpPr>
        <p:spPr>
          <a:xfrm>
            <a:off x="2725738" y="3200400"/>
            <a:ext cx="3184525" cy="914400"/>
          </a:xfrm>
          <a:prstGeom prst="line">
            <a:avLst/>
          </a:prstGeom>
          <a:noFill/>
          <a:ln w="101600">
            <a:solidFill>
              <a:srgbClr val="618FFD"/>
            </a:solidFill>
            <a:miter lim="800000"/>
            <a:tailEnd type="stealth" len="lg"/>
          </a:ln>
          <a:effectLst/>
        </p:spPr>
      </p:cxnSp>
      <p:cxnSp>
        <p:nvCxnSpPr>
          <p:cNvPr id="22571" name=""/>
          <p:cNvCxnSpPr/>
          <p:nvPr/>
        </p:nvCxnSpPr>
        <p:spPr>
          <a:xfrm>
            <a:off x="2725738" y="3124200"/>
            <a:ext cx="3794125" cy="990600"/>
          </a:xfrm>
          <a:prstGeom prst="line">
            <a:avLst/>
          </a:prstGeom>
          <a:noFill/>
          <a:ln w="101600">
            <a:solidFill>
              <a:srgbClr val="618FFD"/>
            </a:solidFill>
            <a:miter lim="800000"/>
            <a:tailEnd type="stealth" len="lg"/>
          </a:ln>
          <a:effectLst/>
        </p:spPr>
      </p:cxnSp>
      <p:sp>
        <p:nvSpPr>
          <p:cNvPr id="22572" name=""/>
          <p:cNvSpPr/>
          <p:nvPr/>
        </p:nvSpPr>
        <p:spPr>
          <a:xfrm>
            <a:off x="1036638" y="4265613"/>
            <a:ext cx="1765300"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FC0128"/>
                </a:solidFill>
                <a:latin typeface="Arial" pitchFamily="34" charset="0"/>
              </a:rPr>
              <a:t>Transaction Pull</a:t>
            </a:r>
            <a:endParaRPr sz="1600" b="1" i="1">
              <a:solidFill>
                <a:srgbClr val="FC0128"/>
              </a:solidFill>
              <a:latin typeface="Arial" pitchFamily="34" charset="0"/>
            </a:endParaRPr>
          </a:p>
        </p:txBody>
      </p:sp>
      <p:sp>
        <p:nvSpPr>
          <p:cNvPr id="22573" name=""/>
          <p:cNvSpPr/>
          <p:nvPr/>
        </p:nvSpPr>
        <p:spPr>
          <a:xfrm>
            <a:off x="5375275" y="3427413"/>
            <a:ext cx="2713038"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618FFD"/>
                </a:solidFill>
                <a:latin typeface="Arial" pitchFamily="34" charset="0"/>
              </a:rPr>
              <a:t>Replication to every office</a:t>
            </a:r>
            <a:endParaRPr sz="1600" b="1" i="1">
              <a:solidFill>
                <a:srgbClr val="618FFD"/>
              </a:solidFill>
              <a:latin typeface="Arial" pitchFamily="34" charset="0"/>
            </a:endParaRPr>
          </a:p>
        </p:txBody>
      </p:sp>
      <p:sp>
        <p:nvSpPr>
          <p:cNvPr id="22574" name=""/>
          <p:cNvSpPr/>
          <p:nvPr/>
        </p:nvSpPr>
        <p:spPr>
          <a:xfrm>
            <a:off x="6392863" y="3808413"/>
            <a:ext cx="1889125"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FC0128"/>
                </a:solidFill>
                <a:latin typeface="Arial" pitchFamily="34" charset="0"/>
              </a:rPr>
              <a:t>Transaction Push</a:t>
            </a:r>
            <a:endParaRPr sz="1600" b="1" i="1">
              <a:solidFill>
                <a:srgbClr val="FC0128"/>
              </a:solidFill>
              <a:latin typeface="Arial" pitchFamily="34" charset="0"/>
            </a:endParaRPr>
          </a:p>
        </p:txBody>
      </p:sp>
      <p:sp>
        <p:nvSpPr>
          <p:cNvPr id="22575" name=""/>
          <p:cNvSpPr/>
          <p:nvPr/>
        </p:nvSpPr>
        <p:spPr>
          <a:xfrm>
            <a:off x="123825" y="2284413"/>
            <a:ext cx="1392238" cy="13144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chemeClr val="tx2"/>
                </a:solidFill>
                <a:latin typeface="Arial" pitchFamily="34" charset="0"/>
              </a:rPr>
              <a:t>Database of </a:t>
            </a:r>
            <a:br>
              <a:rPr sz="1600" b="1" i="1">
                <a:solidFill>
                  <a:schemeClr val="tx2"/>
                </a:solidFill>
                <a:latin typeface="Arial" pitchFamily="34" charset="0"/>
              </a:rPr>
            </a:br>
            <a:r>
              <a:rPr sz="1600" b="1" i="1">
                <a:solidFill>
                  <a:schemeClr val="tx2"/>
                </a:solidFill>
                <a:latin typeface="Arial" pitchFamily="34" charset="0"/>
              </a:rPr>
              <a:t>Record</a:t>
            </a:r>
            <a:br>
              <a:rPr sz="1600" b="1" i="1">
                <a:latin typeface="Arial" pitchFamily="34" charset="0"/>
              </a:rPr>
            </a:br>
            <a:br>
              <a:rPr sz="1600" b="1" i="1">
                <a:latin typeface="Arial" pitchFamily="34" charset="0"/>
              </a:rPr>
            </a:br>
            <a:r>
              <a:rPr sz="1600" b="1" i="1">
                <a:solidFill>
                  <a:schemeClr val="hlink"/>
                </a:solidFill>
                <a:latin typeface="Arial" pitchFamily="34" charset="0"/>
              </a:rPr>
              <a:t>Enterprise</a:t>
            </a:r>
            <a:r>
              <a:rPr sz="1600" b="1" i="1">
                <a:solidFill>
                  <a:schemeClr val="hlink"/>
                </a:solidFill>
                <a:latin typeface="Arial" pitchFamily="34" charset="0"/>
              </a:rPr>
              <a:t> </a:t>
            </a:r>
            <a:br>
              <a:rPr sz="1600" b="1" i="1">
                <a:solidFill>
                  <a:schemeClr val="hlink"/>
                </a:solidFill>
                <a:latin typeface="Arial" pitchFamily="34" charset="0"/>
              </a:rPr>
            </a:br>
            <a:r>
              <a:rPr sz="1600" b="1" i="1">
                <a:solidFill>
                  <a:schemeClr val="hlink"/>
                </a:solidFill>
                <a:latin typeface="Arial" pitchFamily="34" charset="0"/>
              </a:rPr>
              <a:t>Superserver</a:t>
            </a:r>
            <a:endParaRPr sz="1600" b="1" i="1">
              <a:solidFill>
                <a:schemeClr val="hlink"/>
              </a:solidFill>
              <a:latin typeface="Arial" pitchFamily="34" charset="0"/>
            </a:endParaRPr>
          </a:p>
        </p:txBody>
      </p:sp>
      <p:pic>
        <p:nvPicPr>
          <p:cNvPr id="22576" name=""/>
          <p:cNvPicPr/>
          <p:nvPr/>
        </p:nvPicPr>
        <p:blipFill>
          <a:blip r:embed="rId4"/>
          <a:stretch>
            <a:fillRect/>
          </a:stretch>
        </p:blipFill>
        <p:spPr>
          <a:xfrm>
            <a:off x="7727950" y="5700713"/>
            <a:ext cx="869950" cy="800100"/>
          </a:xfrm>
          <a:prstGeom prst="rect">
            <a:avLst/>
          </a:prstGeom>
          <a:noFill/>
          <a:ln>
            <a:noFill/>
            <a:miter lim="800000"/>
          </a:ln>
          <a:effectLst/>
        </p:spPr>
      </p:pic>
      <p:sp>
        <p:nvSpPr>
          <p:cNvPr id="22577" name=""/>
          <p:cNvSpPr/>
          <p:nvPr/>
        </p:nvSpPr>
        <p:spPr>
          <a:xfrm>
            <a:off x="7351713" y="4951413"/>
            <a:ext cx="1516062" cy="58102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7B00E4"/>
                </a:solidFill>
                <a:latin typeface="Arial" pitchFamily="34" charset="0"/>
              </a:rPr>
              <a:t>Java &amp; HTML </a:t>
            </a:r>
            <a:br>
              <a:rPr sz="1600" b="1" i="1">
                <a:solidFill>
                  <a:srgbClr val="7B00E4"/>
                </a:solidFill>
                <a:latin typeface="Arial" pitchFamily="34" charset="0"/>
              </a:rPr>
            </a:br>
            <a:r>
              <a:rPr sz="1600" b="1" i="1">
                <a:solidFill>
                  <a:srgbClr val="7B00E4"/>
                </a:solidFill>
                <a:latin typeface="Arial" pitchFamily="34" charset="0"/>
              </a:rPr>
              <a:t>to Suppliers</a:t>
            </a:r>
            <a:endParaRPr sz="1600" b="1" i="1">
              <a:solidFill>
                <a:srgbClr val="7B00E4"/>
              </a:solidFill>
              <a:latin typeface="Arial" pitchFamily="34" charset="0"/>
            </a:endParaRPr>
          </a:p>
        </p:txBody>
      </p:sp>
      <p:cxnSp>
        <p:nvCxnSpPr>
          <p:cNvPr id="22578" name=""/>
          <p:cNvCxnSpPr/>
          <p:nvPr/>
        </p:nvCxnSpPr>
        <p:spPr>
          <a:xfrm>
            <a:off x="6172200" y="4953000"/>
            <a:ext cx="1465263" cy="1295400"/>
          </a:xfrm>
          <a:prstGeom prst="line">
            <a:avLst/>
          </a:prstGeom>
          <a:noFill/>
          <a:ln w="76200">
            <a:solidFill>
              <a:srgbClr val="9900FF"/>
            </a:solidFill>
            <a:miter lim="800000"/>
            <a:headEnd type="stealth" len="lg"/>
            <a:tailEnd type="stealth" len="lg"/>
          </a:ln>
          <a:effectLst/>
        </p:spPr>
      </p:cxnSp>
      <p:grpSp>
        <p:nvGrpSpPr>
          <p:cNvPr id="22579" name=""/>
          <p:cNvGrpSpPr/>
          <p:nvPr/>
        </p:nvGrpSpPr>
        <p:grpSpPr>
          <a:xfrm>
            <a:off x="2914650" y="2132013"/>
            <a:ext cx="1125538" cy="592137"/>
            <a:chOff x="1836" y="1343"/>
            <a:chExt cx="709" cy="373"/>
          </a:xfrm>
        </p:grpSpPr>
        <p:sp>
          <p:nvSpPr>
            <p:cNvPr id="22580" name=""/>
            <p:cNvSpPr/>
            <p:nvPr/>
          </p:nvSpPr>
          <p:spPr>
            <a:xfrm>
              <a:off x="1836" y="1411"/>
              <a:ext cx="709" cy="238"/>
            </a:xfrm>
            <a:custGeom>
              <a:pathLst>
                <a:path w="709" h="238">
                  <a:moveTo>
                    <a:pt x="0" y="0"/>
                  </a:moveTo>
                  <a:lnTo>
                    <a:pt x="708" y="0"/>
                  </a:lnTo>
                  <a:lnTo>
                    <a:pt x="708" y="237"/>
                  </a:lnTo>
                  <a:lnTo>
                    <a:pt x="0" y="237"/>
                  </a:lnTo>
                  <a:lnTo>
                    <a:pt x="0" y="0"/>
                  </a:lnTo>
                </a:path>
              </a:pathLst>
            </a:custGeom>
            <a:gradFill rotWithShape="0">
              <a:gsLst>
                <a:gs pos="0">
                  <a:srgbClr val="FFC62A">
                    <a:gamma/>
                    <a:shade val="49804"/>
                    <a:invGamma/>
                  </a:srgbClr>
                </a:gs>
                <a:gs pos="50000">
                  <a:srgbClr val="FFC62A"/>
                </a:gs>
                <a:gs pos="100000">
                  <a:srgbClr val="FFC62A">
                    <a:gamma/>
                    <a:shade val="49804"/>
                    <a:invGamma/>
                  </a:srgbClr>
                </a:gs>
              </a:gsLst>
              <a:lin ang="0" scaled="1"/>
            </a:gradFill>
            <a:ln cap="rnd">
              <a:noFill/>
              <a:round/>
            </a:ln>
            <a:effectLst/>
          </p:spPr>
        </p:sp>
        <p:sp>
          <p:nvSpPr>
            <p:cNvPr id="22581" name=""/>
            <p:cNvSpPr/>
            <p:nvPr/>
          </p:nvSpPr>
          <p:spPr>
            <a:xfrm>
              <a:off x="1836" y="1343"/>
              <a:ext cx="708" cy="127"/>
            </a:xfrm>
            <a:prstGeom prst="ellipse">
              <a:avLst/>
            </a:prstGeom>
            <a:solidFill>
              <a:schemeClr val="accent1"/>
            </a:solidFill>
            <a:ln>
              <a:noFill/>
              <a:miter lim="800000"/>
            </a:ln>
            <a:effectLst/>
          </p:spPr>
        </p:sp>
        <p:sp>
          <p:nvSpPr>
            <p:cNvPr id="22582" name=""/>
            <p:cNvSpPr/>
            <p:nvPr/>
          </p:nvSpPr>
          <p:spPr>
            <a:xfrm>
              <a:off x="1836" y="1589"/>
              <a:ext cx="708" cy="127"/>
            </a:xfrm>
            <a:prstGeom prst="ellipse">
              <a:avLst/>
            </a:prstGeom>
            <a:gradFill rotWithShape="0">
              <a:gsLst>
                <a:gs pos="0">
                  <a:srgbClr val="FFC62A">
                    <a:gamma/>
                    <a:shade val="49804"/>
                    <a:invGamma/>
                  </a:srgbClr>
                </a:gs>
                <a:gs pos="50000">
                  <a:srgbClr val="FFC62A"/>
                </a:gs>
                <a:gs pos="100000">
                  <a:srgbClr val="FFC62A">
                    <a:gamma/>
                    <a:shade val="49804"/>
                    <a:invGamma/>
                  </a:srgbClr>
                </a:gs>
              </a:gsLst>
              <a:lin ang="0" scaled="1"/>
            </a:gradFill>
            <a:ln>
              <a:noFill/>
              <a:miter lim="800000"/>
            </a:ln>
            <a:effectLst/>
          </p:spPr>
        </p:sp>
      </p:grpSp>
      <p:pic>
        <p:nvPicPr>
          <p:cNvPr id="22583" name=""/>
          <p:cNvPicPr/>
          <p:nvPr/>
        </p:nvPicPr>
        <p:blipFill>
          <a:blip r:embed="rId4"/>
          <a:stretch>
            <a:fillRect/>
          </a:stretch>
        </p:blipFill>
        <p:spPr>
          <a:xfrm>
            <a:off x="7799388" y="1885950"/>
            <a:ext cx="701675" cy="933450"/>
          </a:xfrm>
          <a:prstGeom prst="rect">
            <a:avLst/>
          </a:prstGeom>
          <a:noFill/>
          <a:ln>
            <a:noFill/>
            <a:miter lim="800000"/>
          </a:ln>
          <a:effectLst/>
        </p:spPr>
      </p:pic>
      <p:grpSp>
        <p:nvGrpSpPr>
          <p:cNvPr id="22584" name=""/>
          <p:cNvGrpSpPr/>
          <p:nvPr/>
        </p:nvGrpSpPr>
        <p:grpSpPr>
          <a:xfrm>
            <a:off x="3303588" y="4248150"/>
            <a:ext cx="854075" cy="1085850"/>
            <a:chOff x="2081" y="2676"/>
            <a:chExt cx="538" cy="684"/>
          </a:xfrm>
        </p:grpSpPr>
        <p:pic>
          <p:nvPicPr>
            <p:cNvPr id="22585" name=""/>
            <p:cNvPicPr/>
            <p:nvPr/>
          </p:nvPicPr>
          <p:blipFill>
            <a:blip r:embed="rId4"/>
            <a:stretch>
              <a:fillRect/>
            </a:stretch>
          </p:blipFill>
          <p:spPr>
            <a:xfrm>
              <a:off x="2081" y="2676"/>
              <a:ext cx="442" cy="588"/>
            </a:xfrm>
            <a:prstGeom prst="rect">
              <a:avLst/>
            </a:prstGeom>
            <a:noFill/>
            <a:ln>
              <a:noFill/>
              <a:miter lim="800000"/>
            </a:ln>
            <a:effectLst/>
          </p:spPr>
        </p:pic>
        <p:pic>
          <p:nvPicPr>
            <p:cNvPr id="22586" name=""/>
            <p:cNvPicPr/>
            <p:nvPr/>
          </p:nvPicPr>
          <p:blipFill>
            <a:blip r:embed="rId4"/>
            <a:stretch>
              <a:fillRect/>
            </a:stretch>
          </p:blipFill>
          <p:spPr>
            <a:xfrm>
              <a:off x="2177" y="2772"/>
              <a:ext cx="442" cy="588"/>
            </a:xfrm>
            <a:prstGeom prst="rect">
              <a:avLst/>
            </a:prstGeom>
            <a:noFill/>
            <a:ln>
              <a:noFill/>
              <a:miter lim="800000"/>
            </a:ln>
            <a:effectLst/>
          </p:spPr>
        </p:pic>
      </p:grpSp>
      <p:grpSp>
        <p:nvGrpSpPr>
          <p:cNvPr id="22587" name=""/>
          <p:cNvGrpSpPr/>
          <p:nvPr/>
        </p:nvGrpSpPr>
        <p:grpSpPr>
          <a:xfrm>
            <a:off x="4370388" y="4248150"/>
            <a:ext cx="854075" cy="1085850"/>
            <a:chOff x="2753" y="2676"/>
            <a:chExt cx="538" cy="684"/>
          </a:xfrm>
        </p:grpSpPr>
        <p:pic>
          <p:nvPicPr>
            <p:cNvPr id="22588" name=""/>
            <p:cNvPicPr/>
            <p:nvPr/>
          </p:nvPicPr>
          <p:blipFill>
            <a:blip r:embed="rId4"/>
            <a:stretch>
              <a:fillRect/>
            </a:stretch>
          </p:blipFill>
          <p:spPr>
            <a:xfrm>
              <a:off x="2753" y="2676"/>
              <a:ext cx="442" cy="588"/>
            </a:xfrm>
            <a:prstGeom prst="rect">
              <a:avLst/>
            </a:prstGeom>
            <a:noFill/>
            <a:ln>
              <a:noFill/>
              <a:miter lim="800000"/>
            </a:ln>
            <a:effectLst/>
          </p:spPr>
        </p:pic>
        <p:pic>
          <p:nvPicPr>
            <p:cNvPr id="22589" name=""/>
            <p:cNvPicPr/>
            <p:nvPr/>
          </p:nvPicPr>
          <p:blipFill>
            <a:blip r:embed="rId4"/>
            <a:stretch>
              <a:fillRect/>
            </a:stretch>
          </p:blipFill>
          <p:spPr>
            <a:xfrm>
              <a:off x="2849" y="2772"/>
              <a:ext cx="442" cy="588"/>
            </a:xfrm>
            <a:prstGeom prst="rect">
              <a:avLst/>
            </a:prstGeom>
            <a:noFill/>
            <a:ln>
              <a:noFill/>
              <a:miter lim="800000"/>
            </a:ln>
            <a:effectLst/>
          </p:spPr>
        </p:pic>
      </p:grpSp>
      <p:grpSp>
        <p:nvGrpSpPr>
          <p:cNvPr id="22590" name=""/>
          <p:cNvGrpSpPr/>
          <p:nvPr/>
        </p:nvGrpSpPr>
        <p:grpSpPr>
          <a:xfrm>
            <a:off x="5360988" y="4248150"/>
            <a:ext cx="854075" cy="1085850"/>
            <a:chOff x="3377" y="2676"/>
            <a:chExt cx="538" cy="684"/>
          </a:xfrm>
        </p:grpSpPr>
        <p:pic>
          <p:nvPicPr>
            <p:cNvPr id="22591" name=""/>
            <p:cNvPicPr/>
            <p:nvPr/>
          </p:nvPicPr>
          <p:blipFill>
            <a:blip r:embed="rId4"/>
            <a:stretch>
              <a:fillRect/>
            </a:stretch>
          </p:blipFill>
          <p:spPr>
            <a:xfrm>
              <a:off x="3377" y="2676"/>
              <a:ext cx="442" cy="588"/>
            </a:xfrm>
            <a:prstGeom prst="rect">
              <a:avLst/>
            </a:prstGeom>
            <a:noFill/>
            <a:ln>
              <a:noFill/>
              <a:miter lim="800000"/>
            </a:ln>
            <a:effectLst/>
          </p:spPr>
        </p:pic>
        <p:pic>
          <p:nvPicPr>
            <p:cNvPr id="22592" name=""/>
            <p:cNvPicPr/>
            <p:nvPr/>
          </p:nvPicPr>
          <p:blipFill>
            <a:blip r:embed="rId4"/>
            <a:stretch>
              <a:fillRect/>
            </a:stretch>
          </p:blipFill>
          <p:spPr>
            <a:xfrm>
              <a:off x="3473" y="2772"/>
              <a:ext cx="442" cy="588"/>
            </a:xfrm>
            <a:prstGeom prst="rect">
              <a:avLst/>
            </a:prstGeom>
            <a:noFill/>
            <a:ln>
              <a:noFill/>
              <a:miter lim="800000"/>
            </a:ln>
            <a:effectLst/>
          </p:spPr>
        </p:pic>
      </p:grpSp>
      <p:sp>
        <p:nvSpPr>
          <p:cNvPr id="22593" name=""/>
          <p:cNvSpPr/>
          <p:nvPr/>
        </p:nvSpPr>
        <p:spPr>
          <a:xfrm>
            <a:off x="3444875" y="5241925"/>
            <a:ext cx="1690688" cy="45720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800" b="1">
                <a:solidFill>
                  <a:schemeClr val="hlink"/>
                </a:solidFill>
                <a:latin typeface="Arial" pitchFamily="34" charset="0"/>
              </a:rPr>
              <a:t>Classic 2-Tier Client-Server</a:t>
            </a:r>
            <a:endParaRPr sz="1800" b="1">
              <a:solidFill>
                <a:schemeClr val="hlink"/>
              </a:solidFill>
              <a:latin typeface="Arial" pitchFamily="34" charset="0"/>
            </a:endParaRPr>
          </a:p>
        </p:txBody>
      </p:sp>
      <p:grpSp>
        <p:nvGrpSpPr>
          <p:cNvPr id="22594" name=""/>
          <p:cNvGrpSpPr/>
          <p:nvPr/>
        </p:nvGrpSpPr>
        <p:grpSpPr>
          <a:xfrm>
            <a:off x="6503988" y="4171950"/>
            <a:ext cx="854075" cy="1085850"/>
            <a:chOff x="4097" y="2628"/>
            <a:chExt cx="538" cy="684"/>
          </a:xfrm>
        </p:grpSpPr>
        <p:pic>
          <p:nvPicPr>
            <p:cNvPr id="22595" name=""/>
            <p:cNvPicPr/>
            <p:nvPr/>
          </p:nvPicPr>
          <p:blipFill>
            <a:blip r:embed="rId4"/>
            <a:stretch>
              <a:fillRect/>
            </a:stretch>
          </p:blipFill>
          <p:spPr>
            <a:xfrm>
              <a:off x="4097" y="2628"/>
              <a:ext cx="442" cy="588"/>
            </a:xfrm>
            <a:prstGeom prst="rect">
              <a:avLst/>
            </a:prstGeom>
            <a:noFill/>
            <a:ln>
              <a:noFill/>
              <a:miter lim="800000"/>
            </a:ln>
            <a:effectLst/>
          </p:spPr>
        </p:pic>
        <p:pic>
          <p:nvPicPr>
            <p:cNvPr id="22596" name=""/>
            <p:cNvPicPr/>
            <p:nvPr/>
          </p:nvPicPr>
          <p:blipFill>
            <a:blip r:embed="rId4"/>
            <a:stretch>
              <a:fillRect/>
            </a:stretch>
          </p:blipFill>
          <p:spPr>
            <a:xfrm>
              <a:off x="4193" y="2724"/>
              <a:ext cx="442" cy="588"/>
            </a:xfrm>
            <a:prstGeom prst="rect">
              <a:avLst/>
            </a:prstGeom>
            <a:noFill/>
            <a:ln>
              <a:noFill/>
              <a:miter lim="800000"/>
            </a:ln>
            <a:effectLst/>
          </p:spPr>
        </p:pic>
      </p:grpSp>
      <p:grpSp>
        <p:nvGrpSpPr>
          <p:cNvPr id="22597" name=""/>
          <p:cNvGrpSpPr/>
          <p:nvPr/>
        </p:nvGrpSpPr>
        <p:grpSpPr>
          <a:xfrm>
            <a:off x="1538288" y="1981200"/>
            <a:ext cx="1282700" cy="1754188"/>
            <a:chOff x="969" y="1248"/>
            <a:chExt cx="808" cy="1105"/>
          </a:xfrm>
        </p:grpSpPr>
        <p:sp>
          <p:nvSpPr>
            <p:cNvPr id="22598" name=""/>
            <p:cNvSpPr/>
            <p:nvPr/>
          </p:nvSpPr>
          <p:spPr>
            <a:xfrm>
              <a:off x="969" y="1327"/>
              <a:ext cx="227" cy="1026"/>
            </a:xfrm>
            <a:custGeom>
              <a:pathLst>
                <a:path w="227" h="1026">
                  <a:moveTo>
                    <a:pt x="0" y="0"/>
                  </a:moveTo>
                  <a:lnTo>
                    <a:pt x="226" y="45"/>
                  </a:lnTo>
                  <a:lnTo>
                    <a:pt x="226" y="1025"/>
                  </a:lnTo>
                  <a:lnTo>
                    <a:pt x="0" y="933"/>
                  </a:lnTo>
                  <a:lnTo>
                    <a:pt x="0" y="0"/>
                  </a:lnTo>
                </a:path>
              </a:pathLst>
            </a:custGeom>
            <a:solidFill>
              <a:srgbClr val="C0C0C0"/>
            </a:solidFill>
            <a:ln w="12700" cap="rnd" cmpd="sng">
              <a:solidFill>
                <a:srgbClr val="000000"/>
              </a:solidFill>
              <a:prstDash val="solid"/>
              <a:round/>
            </a:ln>
            <a:effectLst/>
          </p:spPr>
        </p:sp>
        <p:sp>
          <p:nvSpPr>
            <p:cNvPr id="22599" name=""/>
            <p:cNvSpPr/>
            <p:nvPr/>
          </p:nvSpPr>
          <p:spPr>
            <a:xfrm>
              <a:off x="1195" y="1280"/>
              <a:ext cx="582" cy="1073"/>
            </a:xfrm>
            <a:custGeom>
              <a:pathLst>
                <a:path w="582" h="1073">
                  <a:moveTo>
                    <a:pt x="0" y="91"/>
                  </a:moveTo>
                  <a:lnTo>
                    <a:pt x="581" y="0"/>
                  </a:lnTo>
                  <a:lnTo>
                    <a:pt x="581" y="916"/>
                  </a:lnTo>
                  <a:lnTo>
                    <a:pt x="0" y="1072"/>
                  </a:lnTo>
                  <a:lnTo>
                    <a:pt x="0" y="91"/>
                  </a:lnTo>
                </a:path>
              </a:pathLst>
            </a:custGeom>
            <a:solidFill>
              <a:srgbClr val="2A6BFF"/>
            </a:solidFill>
            <a:ln w="12700" cap="rnd" cmpd="sng">
              <a:solidFill>
                <a:srgbClr val="000000"/>
              </a:solidFill>
              <a:prstDash val="solid"/>
              <a:round/>
            </a:ln>
            <a:effectLst/>
          </p:spPr>
        </p:sp>
        <p:sp>
          <p:nvSpPr>
            <p:cNvPr id="22600" name=""/>
            <p:cNvSpPr/>
            <p:nvPr/>
          </p:nvSpPr>
          <p:spPr>
            <a:xfrm>
              <a:off x="969" y="1248"/>
              <a:ext cx="808" cy="125"/>
            </a:xfrm>
            <a:custGeom>
              <a:pathLst>
                <a:path w="808" h="125">
                  <a:moveTo>
                    <a:pt x="0" y="78"/>
                  </a:moveTo>
                  <a:lnTo>
                    <a:pt x="582" y="0"/>
                  </a:lnTo>
                  <a:lnTo>
                    <a:pt x="807" y="32"/>
                  </a:lnTo>
                  <a:lnTo>
                    <a:pt x="225" y="124"/>
                  </a:lnTo>
                  <a:lnTo>
                    <a:pt x="0" y="78"/>
                  </a:lnTo>
                </a:path>
              </a:pathLst>
            </a:custGeom>
            <a:solidFill>
              <a:srgbClr val="404040"/>
            </a:solidFill>
            <a:ln w="12700" cap="rnd" cmpd="sng">
              <a:solidFill>
                <a:srgbClr val="000000"/>
              </a:solidFill>
              <a:prstDash val="solid"/>
              <a:round/>
            </a:ln>
            <a:effectLst/>
          </p:spPr>
        </p:sp>
        <p:sp>
          <p:nvSpPr>
            <p:cNvPr id="22601" name=""/>
            <p:cNvSpPr/>
            <p:nvPr/>
          </p:nvSpPr>
          <p:spPr>
            <a:xfrm>
              <a:off x="1195" y="1372"/>
              <a:ext cx="24" cy="981"/>
            </a:xfrm>
            <a:custGeom>
              <a:pathLst>
                <a:path w="24" h="981">
                  <a:moveTo>
                    <a:pt x="0" y="0"/>
                  </a:moveTo>
                  <a:lnTo>
                    <a:pt x="23" y="0"/>
                  </a:lnTo>
                  <a:lnTo>
                    <a:pt x="23" y="980"/>
                  </a:lnTo>
                  <a:lnTo>
                    <a:pt x="0" y="980"/>
                  </a:lnTo>
                  <a:lnTo>
                    <a:pt x="0" y="0"/>
                  </a:lnTo>
                </a:path>
              </a:pathLst>
            </a:custGeom>
            <a:solidFill>
              <a:srgbClr val="E3E3E3"/>
            </a:solidFill>
            <a:ln w="12700" cap="rnd" cmpd="sng">
              <a:solidFill>
                <a:srgbClr val="000000"/>
              </a:solidFill>
              <a:prstDash val="solid"/>
              <a:round/>
            </a:ln>
            <a:effectLst/>
          </p:spPr>
        </p:sp>
        <p:cxnSp>
          <p:nvCxnSpPr>
            <p:cNvPr id="22602" name=""/>
            <p:cNvCxnSpPr/>
            <p:nvPr/>
          </p:nvCxnSpPr>
          <p:spPr>
            <a:xfrm>
              <a:off x="990" y="1692"/>
              <a:ext cx="67" cy="16"/>
            </a:xfrm>
            <a:prstGeom prst="line">
              <a:avLst/>
            </a:prstGeom>
            <a:noFill/>
            <a:ln>
              <a:noFill/>
              <a:miter lim="800000"/>
            </a:ln>
            <a:effectLst/>
          </p:spPr>
        </p:cxnSp>
        <p:cxnSp>
          <p:nvCxnSpPr>
            <p:cNvPr id="22603" name=""/>
            <p:cNvCxnSpPr/>
            <p:nvPr/>
          </p:nvCxnSpPr>
          <p:spPr>
            <a:xfrm>
              <a:off x="990" y="1692"/>
              <a:ext cx="67" cy="16"/>
            </a:xfrm>
            <a:prstGeom prst="line">
              <a:avLst/>
            </a:prstGeom>
            <a:noFill/>
            <a:ln w="12700">
              <a:solidFill>
                <a:prstClr val="black"/>
              </a:solidFill>
              <a:miter lim="800000"/>
            </a:ln>
            <a:effectLst/>
          </p:spPr>
        </p:cxnSp>
        <p:cxnSp>
          <p:nvCxnSpPr>
            <p:cNvPr id="22604" name=""/>
            <p:cNvCxnSpPr/>
            <p:nvPr/>
          </p:nvCxnSpPr>
          <p:spPr>
            <a:xfrm>
              <a:off x="990" y="1372"/>
              <a:ext cx="67" cy="14"/>
            </a:xfrm>
            <a:prstGeom prst="line">
              <a:avLst/>
            </a:prstGeom>
            <a:noFill/>
            <a:ln>
              <a:noFill/>
              <a:miter lim="800000"/>
            </a:ln>
            <a:effectLst/>
          </p:spPr>
        </p:cxnSp>
        <p:cxnSp>
          <p:nvCxnSpPr>
            <p:cNvPr id="22605" name=""/>
            <p:cNvCxnSpPr/>
            <p:nvPr/>
          </p:nvCxnSpPr>
          <p:spPr>
            <a:xfrm>
              <a:off x="990" y="1372"/>
              <a:ext cx="67" cy="14"/>
            </a:xfrm>
            <a:prstGeom prst="line">
              <a:avLst/>
            </a:prstGeom>
            <a:noFill/>
            <a:ln w="12700">
              <a:solidFill>
                <a:prstClr val="black"/>
              </a:solidFill>
              <a:miter lim="800000"/>
            </a:ln>
            <a:effectLst/>
          </p:spPr>
        </p:cxnSp>
        <p:sp>
          <p:nvSpPr>
            <p:cNvPr id="22606" name=""/>
            <p:cNvSpPr/>
            <p:nvPr/>
          </p:nvSpPr>
          <p:spPr>
            <a:xfrm>
              <a:off x="990" y="1372"/>
              <a:ext cx="50" cy="312"/>
            </a:xfrm>
            <a:custGeom>
              <a:pathLst>
                <a:path w="50" h="312">
                  <a:moveTo>
                    <a:pt x="0" y="0"/>
                  </a:moveTo>
                  <a:lnTo>
                    <a:pt x="49" y="13"/>
                  </a:lnTo>
                  <a:lnTo>
                    <a:pt x="49" y="311"/>
                  </a:lnTo>
                  <a:lnTo>
                    <a:pt x="0" y="295"/>
                  </a:lnTo>
                  <a:lnTo>
                    <a:pt x="0" y="0"/>
                  </a:lnTo>
                </a:path>
              </a:pathLst>
            </a:custGeom>
            <a:noFill/>
            <a:ln cap="rnd">
              <a:noFill/>
              <a:round/>
            </a:ln>
            <a:effectLst/>
          </p:spPr>
        </p:sp>
        <p:sp>
          <p:nvSpPr>
            <p:cNvPr id="22607" name=""/>
            <p:cNvSpPr/>
            <p:nvPr/>
          </p:nvSpPr>
          <p:spPr>
            <a:xfrm>
              <a:off x="990" y="1372"/>
              <a:ext cx="68" cy="337"/>
            </a:xfrm>
            <a:custGeom>
              <a:pathLst>
                <a:path w="68" h="337">
                  <a:moveTo>
                    <a:pt x="0" y="0"/>
                  </a:moveTo>
                  <a:lnTo>
                    <a:pt x="67" y="13"/>
                  </a:lnTo>
                  <a:lnTo>
                    <a:pt x="67" y="336"/>
                  </a:lnTo>
                  <a:lnTo>
                    <a:pt x="0" y="318"/>
                  </a:lnTo>
                  <a:lnTo>
                    <a:pt x="0" y="0"/>
                  </a:lnTo>
                </a:path>
              </a:pathLst>
            </a:custGeom>
            <a:noFill/>
            <a:ln w="12700" cap="rnd" cmpd="sng">
              <a:solidFill>
                <a:srgbClr val="000000"/>
              </a:solidFill>
              <a:prstDash val="solid"/>
              <a:round/>
            </a:ln>
            <a:effectLst/>
          </p:spPr>
        </p:sp>
        <p:cxnSp>
          <p:nvCxnSpPr>
            <p:cNvPr id="22608" name=""/>
            <p:cNvCxnSpPr/>
            <p:nvPr/>
          </p:nvCxnSpPr>
          <p:spPr>
            <a:xfrm>
              <a:off x="990" y="1386"/>
              <a:ext cx="67" cy="14"/>
            </a:xfrm>
            <a:prstGeom prst="line">
              <a:avLst/>
            </a:prstGeom>
            <a:noFill/>
            <a:ln>
              <a:noFill/>
              <a:miter lim="800000"/>
            </a:ln>
            <a:effectLst/>
          </p:spPr>
        </p:cxnSp>
        <p:cxnSp>
          <p:nvCxnSpPr>
            <p:cNvPr id="22609" name=""/>
            <p:cNvCxnSpPr/>
            <p:nvPr/>
          </p:nvCxnSpPr>
          <p:spPr>
            <a:xfrm>
              <a:off x="990" y="1386"/>
              <a:ext cx="67" cy="14"/>
            </a:xfrm>
            <a:prstGeom prst="line">
              <a:avLst/>
            </a:prstGeom>
            <a:noFill/>
            <a:ln w="12700">
              <a:solidFill>
                <a:prstClr val="black"/>
              </a:solidFill>
              <a:miter lim="800000"/>
            </a:ln>
            <a:effectLst/>
          </p:spPr>
        </p:cxnSp>
        <p:cxnSp>
          <p:nvCxnSpPr>
            <p:cNvPr id="22610" name=""/>
            <p:cNvCxnSpPr/>
            <p:nvPr/>
          </p:nvCxnSpPr>
          <p:spPr>
            <a:xfrm>
              <a:off x="990" y="1400"/>
              <a:ext cx="67" cy="18"/>
            </a:xfrm>
            <a:prstGeom prst="line">
              <a:avLst/>
            </a:prstGeom>
            <a:noFill/>
            <a:ln>
              <a:noFill/>
              <a:miter lim="800000"/>
            </a:ln>
            <a:effectLst/>
          </p:spPr>
        </p:cxnSp>
        <p:cxnSp>
          <p:nvCxnSpPr>
            <p:cNvPr id="22611" name=""/>
            <p:cNvCxnSpPr/>
            <p:nvPr/>
          </p:nvCxnSpPr>
          <p:spPr>
            <a:xfrm>
              <a:off x="990" y="1400"/>
              <a:ext cx="67" cy="18"/>
            </a:xfrm>
            <a:prstGeom prst="line">
              <a:avLst/>
            </a:prstGeom>
            <a:noFill/>
            <a:ln w="12700">
              <a:solidFill>
                <a:prstClr val="black"/>
              </a:solidFill>
              <a:miter lim="800000"/>
            </a:ln>
            <a:effectLst/>
          </p:spPr>
        </p:cxnSp>
        <p:cxnSp>
          <p:nvCxnSpPr>
            <p:cNvPr id="22612" name=""/>
            <p:cNvCxnSpPr/>
            <p:nvPr/>
          </p:nvCxnSpPr>
          <p:spPr>
            <a:xfrm>
              <a:off x="990" y="1418"/>
              <a:ext cx="67" cy="12"/>
            </a:xfrm>
            <a:prstGeom prst="line">
              <a:avLst/>
            </a:prstGeom>
            <a:noFill/>
            <a:ln>
              <a:noFill/>
              <a:miter lim="800000"/>
            </a:ln>
            <a:effectLst/>
          </p:spPr>
        </p:cxnSp>
        <p:cxnSp>
          <p:nvCxnSpPr>
            <p:cNvPr id="22613" name=""/>
            <p:cNvCxnSpPr/>
            <p:nvPr/>
          </p:nvCxnSpPr>
          <p:spPr>
            <a:xfrm>
              <a:off x="990" y="1418"/>
              <a:ext cx="67" cy="12"/>
            </a:xfrm>
            <a:prstGeom prst="line">
              <a:avLst/>
            </a:prstGeom>
            <a:noFill/>
            <a:ln w="12700">
              <a:solidFill>
                <a:prstClr val="black"/>
              </a:solidFill>
              <a:miter lim="800000"/>
            </a:ln>
            <a:effectLst/>
          </p:spPr>
        </p:cxnSp>
        <p:cxnSp>
          <p:nvCxnSpPr>
            <p:cNvPr id="22614" name=""/>
            <p:cNvCxnSpPr/>
            <p:nvPr/>
          </p:nvCxnSpPr>
          <p:spPr>
            <a:xfrm>
              <a:off x="990" y="1430"/>
              <a:ext cx="67" cy="15"/>
            </a:xfrm>
            <a:prstGeom prst="line">
              <a:avLst/>
            </a:prstGeom>
            <a:noFill/>
            <a:ln>
              <a:noFill/>
              <a:miter lim="800000"/>
            </a:ln>
            <a:effectLst/>
          </p:spPr>
        </p:cxnSp>
        <p:cxnSp>
          <p:nvCxnSpPr>
            <p:cNvPr id="22615" name=""/>
            <p:cNvCxnSpPr/>
            <p:nvPr/>
          </p:nvCxnSpPr>
          <p:spPr>
            <a:xfrm>
              <a:off x="990" y="1430"/>
              <a:ext cx="67" cy="15"/>
            </a:xfrm>
            <a:prstGeom prst="line">
              <a:avLst/>
            </a:prstGeom>
            <a:noFill/>
            <a:ln w="12700">
              <a:solidFill>
                <a:prstClr val="black"/>
              </a:solidFill>
              <a:miter lim="800000"/>
            </a:ln>
            <a:effectLst/>
          </p:spPr>
        </p:cxnSp>
        <p:cxnSp>
          <p:nvCxnSpPr>
            <p:cNvPr id="22616" name=""/>
            <p:cNvCxnSpPr/>
            <p:nvPr/>
          </p:nvCxnSpPr>
          <p:spPr>
            <a:xfrm>
              <a:off x="990" y="1445"/>
              <a:ext cx="67" cy="0"/>
            </a:xfrm>
            <a:prstGeom prst="line">
              <a:avLst/>
            </a:prstGeom>
            <a:noFill/>
            <a:ln>
              <a:noFill/>
              <a:miter lim="800000"/>
            </a:ln>
            <a:effectLst/>
          </p:spPr>
        </p:cxnSp>
        <p:cxnSp>
          <p:nvCxnSpPr>
            <p:cNvPr id="22617" name=""/>
            <p:cNvCxnSpPr/>
            <p:nvPr/>
          </p:nvCxnSpPr>
          <p:spPr>
            <a:xfrm>
              <a:off x="990" y="1445"/>
              <a:ext cx="67" cy="0"/>
            </a:xfrm>
            <a:prstGeom prst="line">
              <a:avLst/>
            </a:prstGeom>
            <a:noFill/>
            <a:ln w="12700">
              <a:solidFill>
                <a:prstClr val="black"/>
              </a:solidFill>
              <a:miter lim="800000"/>
            </a:ln>
            <a:effectLst/>
          </p:spPr>
        </p:cxnSp>
        <p:cxnSp>
          <p:nvCxnSpPr>
            <p:cNvPr id="22618" name=""/>
            <p:cNvCxnSpPr/>
            <p:nvPr/>
          </p:nvCxnSpPr>
          <p:spPr>
            <a:xfrm>
              <a:off x="990" y="1464"/>
              <a:ext cx="67" cy="0"/>
            </a:xfrm>
            <a:prstGeom prst="line">
              <a:avLst/>
            </a:prstGeom>
            <a:noFill/>
            <a:ln>
              <a:noFill/>
              <a:miter lim="800000"/>
            </a:ln>
            <a:effectLst/>
          </p:spPr>
        </p:cxnSp>
        <p:cxnSp>
          <p:nvCxnSpPr>
            <p:cNvPr id="22619" name=""/>
            <p:cNvCxnSpPr/>
            <p:nvPr/>
          </p:nvCxnSpPr>
          <p:spPr>
            <a:xfrm>
              <a:off x="990" y="1464"/>
              <a:ext cx="67" cy="0"/>
            </a:xfrm>
            <a:prstGeom prst="line">
              <a:avLst/>
            </a:prstGeom>
            <a:noFill/>
            <a:ln w="12700">
              <a:solidFill>
                <a:prstClr val="black"/>
              </a:solidFill>
              <a:miter lim="800000"/>
            </a:ln>
            <a:effectLst/>
          </p:spPr>
        </p:cxnSp>
        <p:cxnSp>
          <p:nvCxnSpPr>
            <p:cNvPr id="22620" name=""/>
            <p:cNvCxnSpPr/>
            <p:nvPr/>
          </p:nvCxnSpPr>
          <p:spPr>
            <a:xfrm>
              <a:off x="990" y="1464"/>
              <a:ext cx="67" cy="14"/>
            </a:xfrm>
            <a:prstGeom prst="line">
              <a:avLst/>
            </a:prstGeom>
            <a:noFill/>
            <a:ln>
              <a:noFill/>
              <a:miter lim="800000"/>
            </a:ln>
            <a:effectLst/>
          </p:spPr>
        </p:cxnSp>
        <p:cxnSp>
          <p:nvCxnSpPr>
            <p:cNvPr id="22621" name=""/>
            <p:cNvCxnSpPr/>
            <p:nvPr/>
          </p:nvCxnSpPr>
          <p:spPr>
            <a:xfrm>
              <a:off x="990" y="1464"/>
              <a:ext cx="67" cy="14"/>
            </a:xfrm>
            <a:prstGeom prst="line">
              <a:avLst/>
            </a:prstGeom>
            <a:noFill/>
            <a:ln w="12700">
              <a:solidFill>
                <a:prstClr val="black"/>
              </a:solidFill>
              <a:miter lim="800000"/>
            </a:ln>
            <a:effectLst/>
          </p:spPr>
        </p:cxnSp>
        <p:cxnSp>
          <p:nvCxnSpPr>
            <p:cNvPr id="22622" name=""/>
            <p:cNvCxnSpPr/>
            <p:nvPr/>
          </p:nvCxnSpPr>
          <p:spPr>
            <a:xfrm>
              <a:off x="990" y="1478"/>
              <a:ext cx="67" cy="14"/>
            </a:xfrm>
            <a:prstGeom prst="line">
              <a:avLst/>
            </a:prstGeom>
            <a:noFill/>
            <a:ln>
              <a:noFill/>
              <a:miter lim="800000"/>
            </a:ln>
            <a:effectLst/>
          </p:spPr>
        </p:cxnSp>
        <p:cxnSp>
          <p:nvCxnSpPr>
            <p:cNvPr id="22623" name=""/>
            <p:cNvCxnSpPr/>
            <p:nvPr/>
          </p:nvCxnSpPr>
          <p:spPr>
            <a:xfrm>
              <a:off x="990" y="1478"/>
              <a:ext cx="67" cy="14"/>
            </a:xfrm>
            <a:prstGeom prst="line">
              <a:avLst/>
            </a:prstGeom>
            <a:noFill/>
            <a:ln w="12700">
              <a:solidFill>
                <a:prstClr val="black"/>
              </a:solidFill>
              <a:miter lim="800000"/>
            </a:ln>
            <a:effectLst/>
          </p:spPr>
        </p:cxnSp>
        <p:cxnSp>
          <p:nvCxnSpPr>
            <p:cNvPr id="22624" name=""/>
            <p:cNvCxnSpPr/>
            <p:nvPr/>
          </p:nvCxnSpPr>
          <p:spPr>
            <a:xfrm>
              <a:off x="990" y="1492"/>
              <a:ext cx="67" cy="16"/>
            </a:xfrm>
            <a:prstGeom prst="line">
              <a:avLst/>
            </a:prstGeom>
            <a:noFill/>
            <a:ln>
              <a:noFill/>
              <a:miter lim="800000"/>
            </a:ln>
            <a:effectLst/>
          </p:spPr>
        </p:cxnSp>
        <p:cxnSp>
          <p:nvCxnSpPr>
            <p:cNvPr id="22625" name=""/>
            <p:cNvCxnSpPr/>
            <p:nvPr/>
          </p:nvCxnSpPr>
          <p:spPr>
            <a:xfrm>
              <a:off x="990" y="1492"/>
              <a:ext cx="67" cy="16"/>
            </a:xfrm>
            <a:prstGeom prst="line">
              <a:avLst/>
            </a:prstGeom>
            <a:noFill/>
            <a:ln w="12700">
              <a:solidFill>
                <a:prstClr val="black"/>
              </a:solidFill>
              <a:miter lim="800000"/>
            </a:ln>
            <a:effectLst/>
          </p:spPr>
        </p:cxnSp>
        <p:cxnSp>
          <p:nvCxnSpPr>
            <p:cNvPr id="22626" name=""/>
            <p:cNvCxnSpPr/>
            <p:nvPr/>
          </p:nvCxnSpPr>
          <p:spPr>
            <a:xfrm>
              <a:off x="990" y="1508"/>
              <a:ext cx="67" cy="16"/>
            </a:xfrm>
            <a:prstGeom prst="line">
              <a:avLst/>
            </a:prstGeom>
            <a:noFill/>
            <a:ln>
              <a:noFill/>
              <a:miter lim="800000"/>
            </a:ln>
            <a:effectLst/>
          </p:spPr>
        </p:cxnSp>
        <p:cxnSp>
          <p:nvCxnSpPr>
            <p:cNvPr id="22627" name=""/>
            <p:cNvCxnSpPr/>
            <p:nvPr/>
          </p:nvCxnSpPr>
          <p:spPr>
            <a:xfrm>
              <a:off x="990" y="1508"/>
              <a:ext cx="67" cy="16"/>
            </a:xfrm>
            <a:prstGeom prst="line">
              <a:avLst/>
            </a:prstGeom>
            <a:noFill/>
            <a:ln w="12700">
              <a:solidFill>
                <a:prstClr val="black"/>
              </a:solidFill>
              <a:miter lim="800000"/>
            </a:ln>
            <a:effectLst/>
          </p:spPr>
        </p:cxnSp>
        <p:cxnSp>
          <p:nvCxnSpPr>
            <p:cNvPr id="22628" name=""/>
            <p:cNvCxnSpPr/>
            <p:nvPr/>
          </p:nvCxnSpPr>
          <p:spPr>
            <a:xfrm>
              <a:off x="990" y="1524"/>
              <a:ext cx="67" cy="13"/>
            </a:xfrm>
            <a:prstGeom prst="line">
              <a:avLst/>
            </a:prstGeom>
            <a:noFill/>
            <a:ln>
              <a:noFill/>
              <a:miter lim="800000"/>
            </a:ln>
            <a:effectLst/>
          </p:spPr>
        </p:cxnSp>
        <p:cxnSp>
          <p:nvCxnSpPr>
            <p:cNvPr id="22629" name=""/>
            <p:cNvCxnSpPr/>
            <p:nvPr/>
          </p:nvCxnSpPr>
          <p:spPr>
            <a:xfrm>
              <a:off x="990" y="1524"/>
              <a:ext cx="67" cy="13"/>
            </a:xfrm>
            <a:prstGeom prst="line">
              <a:avLst/>
            </a:prstGeom>
            <a:noFill/>
            <a:ln w="12700">
              <a:solidFill>
                <a:prstClr val="black"/>
              </a:solidFill>
              <a:miter lim="800000"/>
            </a:ln>
            <a:effectLst/>
          </p:spPr>
        </p:cxnSp>
        <p:cxnSp>
          <p:nvCxnSpPr>
            <p:cNvPr id="22630" name=""/>
            <p:cNvCxnSpPr/>
            <p:nvPr/>
          </p:nvCxnSpPr>
          <p:spPr>
            <a:xfrm>
              <a:off x="990" y="1537"/>
              <a:ext cx="67" cy="15"/>
            </a:xfrm>
            <a:prstGeom prst="line">
              <a:avLst/>
            </a:prstGeom>
            <a:noFill/>
            <a:ln>
              <a:noFill/>
              <a:miter lim="800000"/>
            </a:ln>
            <a:effectLst/>
          </p:spPr>
        </p:cxnSp>
        <p:cxnSp>
          <p:nvCxnSpPr>
            <p:cNvPr id="22631" name=""/>
            <p:cNvCxnSpPr/>
            <p:nvPr/>
          </p:nvCxnSpPr>
          <p:spPr>
            <a:xfrm>
              <a:off x="990" y="1537"/>
              <a:ext cx="67" cy="15"/>
            </a:xfrm>
            <a:prstGeom prst="line">
              <a:avLst/>
            </a:prstGeom>
            <a:noFill/>
            <a:ln w="12700">
              <a:solidFill>
                <a:prstClr val="black"/>
              </a:solidFill>
              <a:miter lim="800000"/>
            </a:ln>
            <a:effectLst/>
          </p:spPr>
        </p:cxnSp>
        <p:cxnSp>
          <p:nvCxnSpPr>
            <p:cNvPr id="22632" name=""/>
            <p:cNvCxnSpPr/>
            <p:nvPr/>
          </p:nvCxnSpPr>
          <p:spPr>
            <a:xfrm>
              <a:off x="990" y="1552"/>
              <a:ext cx="67" cy="20"/>
            </a:xfrm>
            <a:prstGeom prst="line">
              <a:avLst/>
            </a:prstGeom>
            <a:noFill/>
            <a:ln>
              <a:noFill/>
              <a:miter lim="800000"/>
            </a:ln>
            <a:effectLst/>
          </p:spPr>
        </p:cxnSp>
        <p:cxnSp>
          <p:nvCxnSpPr>
            <p:cNvPr id="22633" name=""/>
            <p:cNvCxnSpPr/>
            <p:nvPr/>
          </p:nvCxnSpPr>
          <p:spPr>
            <a:xfrm>
              <a:off x="990" y="1552"/>
              <a:ext cx="67" cy="20"/>
            </a:xfrm>
            <a:prstGeom prst="line">
              <a:avLst/>
            </a:prstGeom>
            <a:noFill/>
            <a:ln w="12700">
              <a:solidFill>
                <a:prstClr val="black"/>
              </a:solidFill>
              <a:miter lim="800000"/>
            </a:ln>
            <a:effectLst/>
          </p:spPr>
        </p:cxnSp>
        <p:cxnSp>
          <p:nvCxnSpPr>
            <p:cNvPr id="22634" name=""/>
            <p:cNvCxnSpPr/>
            <p:nvPr/>
          </p:nvCxnSpPr>
          <p:spPr>
            <a:xfrm>
              <a:off x="990" y="1572"/>
              <a:ext cx="67" cy="12"/>
            </a:xfrm>
            <a:prstGeom prst="line">
              <a:avLst/>
            </a:prstGeom>
            <a:noFill/>
            <a:ln>
              <a:noFill/>
              <a:miter lim="800000"/>
            </a:ln>
            <a:effectLst/>
          </p:spPr>
        </p:cxnSp>
        <p:cxnSp>
          <p:nvCxnSpPr>
            <p:cNvPr id="22635" name=""/>
            <p:cNvCxnSpPr/>
            <p:nvPr/>
          </p:nvCxnSpPr>
          <p:spPr>
            <a:xfrm>
              <a:off x="990" y="1572"/>
              <a:ext cx="67" cy="12"/>
            </a:xfrm>
            <a:prstGeom prst="line">
              <a:avLst/>
            </a:prstGeom>
            <a:noFill/>
            <a:ln w="12700">
              <a:solidFill>
                <a:prstClr val="black"/>
              </a:solidFill>
              <a:miter lim="800000"/>
            </a:ln>
            <a:effectLst/>
          </p:spPr>
        </p:cxnSp>
        <p:cxnSp>
          <p:nvCxnSpPr>
            <p:cNvPr id="22636" name=""/>
            <p:cNvCxnSpPr/>
            <p:nvPr/>
          </p:nvCxnSpPr>
          <p:spPr>
            <a:xfrm>
              <a:off x="990" y="1584"/>
              <a:ext cx="67" cy="16"/>
            </a:xfrm>
            <a:prstGeom prst="line">
              <a:avLst/>
            </a:prstGeom>
            <a:noFill/>
            <a:ln>
              <a:noFill/>
              <a:miter lim="800000"/>
            </a:ln>
            <a:effectLst/>
          </p:spPr>
        </p:cxnSp>
        <p:cxnSp>
          <p:nvCxnSpPr>
            <p:cNvPr id="22637" name=""/>
            <p:cNvCxnSpPr/>
            <p:nvPr/>
          </p:nvCxnSpPr>
          <p:spPr>
            <a:xfrm>
              <a:off x="990" y="1584"/>
              <a:ext cx="67" cy="16"/>
            </a:xfrm>
            <a:prstGeom prst="line">
              <a:avLst/>
            </a:prstGeom>
            <a:noFill/>
            <a:ln w="12700">
              <a:solidFill>
                <a:prstClr val="black"/>
              </a:solidFill>
              <a:miter lim="800000"/>
            </a:ln>
            <a:effectLst/>
          </p:spPr>
        </p:cxnSp>
        <p:cxnSp>
          <p:nvCxnSpPr>
            <p:cNvPr id="22638" name=""/>
            <p:cNvCxnSpPr/>
            <p:nvPr/>
          </p:nvCxnSpPr>
          <p:spPr>
            <a:xfrm>
              <a:off x="990" y="1600"/>
              <a:ext cx="67" cy="16"/>
            </a:xfrm>
            <a:prstGeom prst="line">
              <a:avLst/>
            </a:prstGeom>
            <a:noFill/>
            <a:ln>
              <a:noFill/>
              <a:miter lim="800000"/>
            </a:ln>
            <a:effectLst/>
          </p:spPr>
        </p:cxnSp>
        <p:cxnSp>
          <p:nvCxnSpPr>
            <p:cNvPr id="22639" name=""/>
            <p:cNvCxnSpPr/>
            <p:nvPr/>
          </p:nvCxnSpPr>
          <p:spPr>
            <a:xfrm>
              <a:off x="990" y="1600"/>
              <a:ext cx="67" cy="16"/>
            </a:xfrm>
            <a:prstGeom prst="line">
              <a:avLst/>
            </a:prstGeom>
            <a:noFill/>
            <a:ln w="12700">
              <a:solidFill>
                <a:prstClr val="black"/>
              </a:solidFill>
              <a:miter lim="800000"/>
            </a:ln>
            <a:effectLst/>
          </p:spPr>
        </p:cxnSp>
        <p:cxnSp>
          <p:nvCxnSpPr>
            <p:cNvPr id="22640" name=""/>
            <p:cNvCxnSpPr/>
            <p:nvPr/>
          </p:nvCxnSpPr>
          <p:spPr>
            <a:xfrm>
              <a:off x="990" y="1616"/>
              <a:ext cx="67" cy="14"/>
            </a:xfrm>
            <a:prstGeom prst="line">
              <a:avLst/>
            </a:prstGeom>
            <a:noFill/>
            <a:ln>
              <a:noFill/>
              <a:miter lim="800000"/>
            </a:ln>
            <a:effectLst/>
          </p:spPr>
        </p:cxnSp>
        <p:cxnSp>
          <p:nvCxnSpPr>
            <p:cNvPr id="22641" name=""/>
            <p:cNvCxnSpPr/>
            <p:nvPr/>
          </p:nvCxnSpPr>
          <p:spPr>
            <a:xfrm>
              <a:off x="990" y="1616"/>
              <a:ext cx="67" cy="14"/>
            </a:xfrm>
            <a:prstGeom prst="line">
              <a:avLst/>
            </a:prstGeom>
            <a:noFill/>
            <a:ln w="12700">
              <a:solidFill>
                <a:prstClr val="black"/>
              </a:solidFill>
              <a:miter lim="800000"/>
            </a:ln>
            <a:effectLst/>
          </p:spPr>
        </p:cxnSp>
        <p:cxnSp>
          <p:nvCxnSpPr>
            <p:cNvPr id="22642" name=""/>
            <p:cNvCxnSpPr/>
            <p:nvPr/>
          </p:nvCxnSpPr>
          <p:spPr>
            <a:xfrm>
              <a:off x="990" y="1630"/>
              <a:ext cx="67" cy="14"/>
            </a:xfrm>
            <a:prstGeom prst="line">
              <a:avLst/>
            </a:prstGeom>
            <a:noFill/>
            <a:ln>
              <a:noFill/>
              <a:miter lim="800000"/>
            </a:ln>
            <a:effectLst/>
          </p:spPr>
        </p:cxnSp>
        <p:cxnSp>
          <p:nvCxnSpPr>
            <p:cNvPr id="22643" name=""/>
            <p:cNvCxnSpPr/>
            <p:nvPr/>
          </p:nvCxnSpPr>
          <p:spPr>
            <a:xfrm>
              <a:off x="990" y="1630"/>
              <a:ext cx="67" cy="14"/>
            </a:xfrm>
            <a:prstGeom prst="line">
              <a:avLst/>
            </a:prstGeom>
            <a:noFill/>
            <a:ln w="12700">
              <a:solidFill>
                <a:prstClr val="black"/>
              </a:solidFill>
              <a:miter lim="800000"/>
            </a:ln>
            <a:effectLst/>
          </p:spPr>
        </p:cxnSp>
        <p:cxnSp>
          <p:nvCxnSpPr>
            <p:cNvPr id="22644" name=""/>
            <p:cNvCxnSpPr/>
            <p:nvPr/>
          </p:nvCxnSpPr>
          <p:spPr>
            <a:xfrm>
              <a:off x="990" y="1644"/>
              <a:ext cx="67" cy="20"/>
            </a:xfrm>
            <a:prstGeom prst="line">
              <a:avLst/>
            </a:prstGeom>
            <a:noFill/>
            <a:ln>
              <a:noFill/>
              <a:miter lim="800000"/>
            </a:ln>
            <a:effectLst/>
          </p:spPr>
        </p:cxnSp>
        <p:cxnSp>
          <p:nvCxnSpPr>
            <p:cNvPr id="22645" name=""/>
            <p:cNvCxnSpPr/>
            <p:nvPr/>
          </p:nvCxnSpPr>
          <p:spPr>
            <a:xfrm>
              <a:off x="990" y="1644"/>
              <a:ext cx="67" cy="20"/>
            </a:xfrm>
            <a:prstGeom prst="line">
              <a:avLst/>
            </a:prstGeom>
            <a:noFill/>
            <a:ln w="12700">
              <a:solidFill>
                <a:prstClr val="black"/>
              </a:solidFill>
              <a:miter lim="800000"/>
            </a:ln>
            <a:effectLst/>
          </p:spPr>
        </p:cxnSp>
        <p:cxnSp>
          <p:nvCxnSpPr>
            <p:cNvPr id="22646" name=""/>
            <p:cNvCxnSpPr/>
            <p:nvPr/>
          </p:nvCxnSpPr>
          <p:spPr>
            <a:xfrm>
              <a:off x="990" y="1664"/>
              <a:ext cx="67" cy="0"/>
            </a:xfrm>
            <a:prstGeom prst="line">
              <a:avLst/>
            </a:prstGeom>
            <a:noFill/>
            <a:ln>
              <a:noFill/>
              <a:miter lim="800000"/>
            </a:ln>
            <a:effectLst/>
          </p:spPr>
        </p:cxnSp>
        <p:cxnSp>
          <p:nvCxnSpPr>
            <p:cNvPr id="22647" name=""/>
            <p:cNvCxnSpPr/>
            <p:nvPr/>
          </p:nvCxnSpPr>
          <p:spPr>
            <a:xfrm>
              <a:off x="990" y="1664"/>
              <a:ext cx="67" cy="0"/>
            </a:xfrm>
            <a:prstGeom prst="line">
              <a:avLst/>
            </a:prstGeom>
            <a:noFill/>
            <a:ln w="12700">
              <a:solidFill>
                <a:prstClr val="black"/>
              </a:solidFill>
              <a:miter lim="800000"/>
            </a:ln>
            <a:effectLst/>
          </p:spPr>
        </p:cxnSp>
        <p:cxnSp>
          <p:nvCxnSpPr>
            <p:cNvPr id="22648" name=""/>
            <p:cNvCxnSpPr/>
            <p:nvPr/>
          </p:nvCxnSpPr>
          <p:spPr>
            <a:xfrm>
              <a:off x="990" y="1678"/>
              <a:ext cx="67" cy="0"/>
            </a:xfrm>
            <a:prstGeom prst="line">
              <a:avLst/>
            </a:prstGeom>
            <a:noFill/>
            <a:ln>
              <a:noFill/>
              <a:miter lim="800000"/>
            </a:ln>
            <a:effectLst/>
          </p:spPr>
        </p:cxnSp>
        <p:cxnSp>
          <p:nvCxnSpPr>
            <p:cNvPr id="22649" name=""/>
            <p:cNvCxnSpPr/>
            <p:nvPr/>
          </p:nvCxnSpPr>
          <p:spPr>
            <a:xfrm>
              <a:off x="990" y="1678"/>
              <a:ext cx="67" cy="0"/>
            </a:xfrm>
            <a:prstGeom prst="line">
              <a:avLst/>
            </a:prstGeom>
            <a:noFill/>
            <a:ln w="12700">
              <a:solidFill>
                <a:prstClr val="black"/>
              </a:solidFill>
              <a:miter lim="800000"/>
            </a:ln>
            <a:effectLst/>
          </p:spPr>
        </p:cxnSp>
        <p:cxnSp>
          <p:nvCxnSpPr>
            <p:cNvPr id="22650" name=""/>
            <p:cNvCxnSpPr/>
            <p:nvPr/>
          </p:nvCxnSpPr>
          <p:spPr>
            <a:xfrm>
              <a:off x="990" y="1678"/>
              <a:ext cx="67" cy="14"/>
            </a:xfrm>
            <a:prstGeom prst="line">
              <a:avLst/>
            </a:prstGeom>
            <a:noFill/>
            <a:ln>
              <a:noFill/>
              <a:miter lim="800000"/>
            </a:ln>
            <a:effectLst/>
          </p:spPr>
        </p:cxnSp>
        <p:cxnSp>
          <p:nvCxnSpPr>
            <p:cNvPr id="22651" name=""/>
            <p:cNvCxnSpPr/>
            <p:nvPr/>
          </p:nvCxnSpPr>
          <p:spPr>
            <a:xfrm>
              <a:off x="990" y="1678"/>
              <a:ext cx="67" cy="14"/>
            </a:xfrm>
            <a:prstGeom prst="line">
              <a:avLst/>
            </a:prstGeom>
            <a:noFill/>
            <a:ln w="12700">
              <a:solidFill>
                <a:prstClr val="black"/>
              </a:solidFill>
              <a:miter lim="800000"/>
            </a:ln>
            <a:effectLst/>
          </p:spPr>
        </p:cxnSp>
        <p:sp>
          <p:nvSpPr>
            <p:cNvPr id="22652" name=""/>
            <p:cNvSpPr/>
            <p:nvPr/>
          </p:nvSpPr>
          <p:spPr>
            <a:xfrm>
              <a:off x="1584" y="1584"/>
              <a:ext cx="118" cy="293"/>
            </a:xfrm>
            <a:custGeom>
              <a:pathLst>
                <a:path w="118" h="293">
                  <a:moveTo>
                    <a:pt x="0" y="14"/>
                  </a:moveTo>
                  <a:lnTo>
                    <a:pt x="117" y="0"/>
                  </a:lnTo>
                  <a:lnTo>
                    <a:pt x="117" y="259"/>
                  </a:lnTo>
                  <a:lnTo>
                    <a:pt x="0" y="292"/>
                  </a:lnTo>
                  <a:lnTo>
                    <a:pt x="0" y="14"/>
                  </a:lnTo>
                </a:path>
              </a:pathLst>
            </a:custGeom>
            <a:solidFill>
              <a:srgbClr val="000000"/>
            </a:solidFill>
            <a:ln w="12700" cap="rnd" cmpd="sng">
              <a:solidFill>
                <a:srgbClr val="000000"/>
              </a:solidFill>
              <a:prstDash val="solid"/>
              <a:round/>
            </a:ln>
            <a:effectLst/>
          </p:spPr>
        </p:sp>
        <p:cxnSp>
          <p:nvCxnSpPr>
            <p:cNvPr id="22653" name=""/>
            <p:cNvCxnSpPr/>
            <p:nvPr/>
          </p:nvCxnSpPr>
          <p:spPr>
            <a:xfrm flipV="1">
              <a:off x="1594" y="1600"/>
              <a:ext cx="86" cy="16"/>
            </a:xfrm>
            <a:prstGeom prst="line">
              <a:avLst/>
            </a:prstGeom>
            <a:noFill/>
            <a:ln w="12700">
              <a:solidFill>
                <a:prstClr val="black"/>
              </a:solidFill>
              <a:miter lim="800000"/>
            </a:ln>
            <a:effectLst/>
          </p:spPr>
        </p:cxnSp>
        <p:sp>
          <p:nvSpPr>
            <p:cNvPr id="22654" name=""/>
            <p:cNvSpPr/>
            <p:nvPr/>
          </p:nvSpPr>
          <p:spPr>
            <a:xfrm>
              <a:off x="1594" y="1616"/>
              <a:ext cx="76" cy="45"/>
            </a:xfrm>
            <a:custGeom>
              <a:pathLst>
                <a:path w="76" h="45">
                  <a:moveTo>
                    <a:pt x="0" y="22"/>
                  </a:moveTo>
                  <a:lnTo>
                    <a:pt x="75" y="0"/>
                  </a:lnTo>
                  <a:lnTo>
                    <a:pt x="75" y="22"/>
                  </a:lnTo>
                  <a:lnTo>
                    <a:pt x="0" y="44"/>
                  </a:lnTo>
                  <a:lnTo>
                    <a:pt x="0" y="22"/>
                  </a:lnTo>
                </a:path>
              </a:pathLst>
            </a:custGeom>
            <a:solidFill>
              <a:srgbClr val="808080"/>
            </a:solidFill>
            <a:ln w="12700" cap="rnd" cmpd="sng">
              <a:solidFill>
                <a:srgbClr val="000000"/>
              </a:solidFill>
              <a:prstDash val="solid"/>
              <a:round/>
            </a:ln>
            <a:effectLst/>
          </p:spPr>
        </p:sp>
        <p:sp>
          <p:nvSpPr>
            <p:cNvPr id="22655" name=""/>
            <p:cNvSpPr/>
            <p:nvPr/>
          </p:nvSpPr>
          <p:spPr>
            <a:xfrm>
              <a:off x="1594" y="1644"/>
              <a:ext cx="64" cy="47"/>
            </a:xfrm>
            <a:custGeom>
              <a:pathLst>
                <a:path w="64" h="47">
                  <a:moveTo>
                    <a:pt x="0" y="0"/>
                  </a:moveTo>
                  <a:lnTo>
                    <a:pt x="0" y="46"/>
                  </a:lnTo>
                  <a:lnTo>
                    <a:pt x="63" y="46"/>
                  </a:lnTo>
                  <a:lnTo>
                    <a:pt x="63" y="0"/>
                  </a:lnTo>
                  <a:lnTo>
                    <a:pt x="0" y="0"/>
                  </a:lnTo>
                </a:path>
              </a:pathLst>
            </a:custGeom>
            <a:solidFill>
              <a:srgbClr val="808080"/>
            </a:solidFill>
            <a:ln w="12700" cap="rnd" cmpd="sng">
              <a:solidFill>
                <a:srgbClr val="000000"/>
              </a:solidFill>
              <a:prstDash val="solid"/>
              <a:round/>
            </a:ln>
            <a:effectLst/>
          </p:spPr>
        </p:sp>
        <p:sp>
          <p:nvSpPr>
            <p:cNvPr id="22656" name=""/>
            <p:cNvSpPr/>
            <p:nvPr/>
          </p:nvSpPr>
          <p:spPr>
            <a:xfrm>
              <a:off x="1637" y="1678"/>
              <a:ext cx="21" cy="45"/>
            </a:xfrm>
            <a:custGeom>
              <a:pathLst>
                <a:path w="21" h="45">
                  <a:moveTo>
                    <a:pt x="0" y="0"/>
                  </a:moveTo>
                  <a:lnTo>
                    <a:pt x="0" y="44"/>
                  </a:lnTo>
                  <a:lnTo>
                    <a:pt x="20" y="19"/>
                  </a:lnTo>
                  <a:lnTo>
                    <a:pt x="20" y="0"/>
                  </a:lnTo>
                  <a:lnTo>
                    <a:pt x="0" y="0"/>
                  </a:lnTo>
                </a:path>
              </a:pathLst>
            </a:custGeom>
            <a:solidFill>
              <a:srgbClr val="D5006C"/>
            </a:solidFill>
            <a:ln w="12700" cap="rnd" cmpd="sng">
              <a:solidFill>
                <a:srgbClr val="000000"/>
              </a:solidFill>
              <a:prstDash val="solid"/>
              <a:round/>
            </a:ln>
            <a:effectLst/>
          </p:spPr>
        </p:sp>
        <p:sp>
          <p:nvSpPr>
            <p:cNvPr id="22657" name=""/>
            <p:cNvSpPr/>
            <p:nvPr/>
          </p:nvSpPr>
          <p:spPr>
            <a:xfrm>
              <a:off x="1755" y="1280"/>
              <a:ext cx="22" cy="933"/>
            </a:xfrm>
            <a:custGeom>
              <a:pathLst>
                <a:path w="22" h="933">
                  <a:moveTo>
                    <a:pt x="0" y="13"/>
                  </a:moveTo>
                  <a:lnTo>
                    <a:pt x="21" y="0"/>
                  </a:lnTo>
                  <a:lnTo>
                    <a:pt x="21" y="914"/>
                  </a:lnTo>
                  <a:lnTo>
                    <a:pt x="0" y="932"/>
                  </a:lnTo>
                  <a:lnTo>
                    <a:pt x="0" y="13"/>
                  </a:lnTo>
                </a:path>
              </a:pathLst>
            </a:custGeom>
            <a:solidFill>
              <a:srgbClr val="D5006C"/>
            </a:solidFill>
            <a:ln w="12700" cap="rnd" cmpd="sng">
              <a:solidFill>
                <a:srgbClr val="000000"/>
              </a:solidFill>
              <a:prstDash val="solid"/>
              <a:round/>
            </a:ln>
            <a:effectLst/>
          </p:spPr>
        </p:sp>
        <p:sp>
          <p:nvSpPr>
            <p:cNvPr id="22658" name=""/>
            <p:cNvSpPr/>
            <p:nvPr/>
          </p:nvSpPr>
          <p:spPr>
            <a:xfrm>
              <a:off x="1723" y="1327"/>
              <a:ext cx="23" cy="46"/>
            </a:xfrm>
            <a:custGeom>
              <a:pathLst>
                <a:path w="23" h="46">
                  <a:moveTo>
                    <a:pt x="0" y="0"/>
                  </a:moveTo>
                  <a:lnTo>
                    <a:pt x="22" y="0"/>
                  </a:lnTo>
                  <a:lnTo>
                    <a:pt x="22" y="45"/>
                  </a:lnTo>
                  <a:lnTo>
                    <a:pt x="0" y="45"/>
                  </a:lnTo>
                  <a:lnTo>
                    <a:pt x="0" y="0"/>
                  </a:lnTo>
                </a:path>
              </a:pathLst>
            </a:custGeom>
            <a:solidFill>
              <a:srgbClr val="D5006C"/>
            </a:solidFill>
            <a:ln w="12700" cap="rnd" cmpd="sng">
              <a:solidFill>
                <a:srgbClr val="000000"/>
              </a:solidFill>
              <a:prstDash val="solid"/>
              <a:round/>
            </a:ln>
            <a:effectLst/>
          </p:spPr>
        </p:sp>
        <p:sp>
          <p:nvSpPr>
            <p:cNvPr id="22659" name=""/>
            <p:cNvSpPr/>
            <p:nvPr/>
          </p:nvSpPr>
          <p:spPr>
            <a:xfrm>
              <a:off x="1497" y="1327"/>
              <a:ext cx="21" cy="947"/>
            </a:xfrm>
            <a:custGeom>
              <a:pathLst>
                <a:path w="21" h="947">
                  <a:moveTo>
                    <a:pt x="0" y="0"/>
                  </a:moveTo>
                  <a:lnTo>
                    <a:pt x="20" y="0"/>
                  </a:lnTo>
                  <a:lnTo>
                    <a:pt x="20" y="946"/>
                  </a:lnTo>
                  <a:lnTo>
                    <a:pt x="0" y="946"/>
                  </a:lnTo>
                  <a:lnTo>
                    <a:pt x="0" y="0"/>
                  </a:lnTo>
                </a:path>
              </a:pathLst>
            </a:custGeom>
            <a:solidFill>
              <a:srgbClr val="D5006C"/>
            </a:solidFill>
            <a:ln w="12700" cap="rnd" cmpd="sng">
              <a:solidFill>
                <a:srgbClr val="000000"/>
              </a:solidFill>
              <a:prstDash val="solid"/>
              <a:round/>
            </a:ln>
            <a:effectLst/>
          </p:spPr>
        </p:sp>
      </p:grpSp>
      <p:sp>
        <p:nvSpPr>
          <p:cNvPr id="22660" name="Date Placeholder 2"/>
          <p:cNvSpPr>
            <a:spLocks noGrp="1"/>
          </p:cNvSpPr>
          <p:nvPr>
            <p:ph type="dt" sz="half" idx="10"/>
          </p:nvPr>
        </p:nvSpPr>
        <p:spPr/>
        <p:txBody>
          <a:bodyPr/>
          <a:lstStyle/>
          <a:p>
            <a:pPr lvl="0"/>
            <a:endParaRPr sz="1400"/>
          </a:p>
        </p:txBody>
      </p:sp>
      <p:sp>
        <p:nvSpPr>
          <p:cNvPr id="22661" name="Footer Placeholder 3"/>
          <p:cNvSpPr>
            <a:spLocks noGrp="1"/>
          </p:cNvSpPr>
          <p:nvPr>
            <p:ph type="ftr" sz="quarter" idx="11"/>
          </p:nvPr>
        </p:nvSpPr>
        <p:spPr/>
        <p:txBody>
          <a:bodyPr/>
          <a:lstStyle/>
          <a:p>
            <a:pPr lvl="0" algn="ctr"/>
            <a:fld id="{A8892A9A-52D3-4E8F-B4C2-72DF896AF890}" type="footer">
              <a:rPr sz="1400"/>
              <a:t/>
            </a:fld>
            <a:endParaRPr sz="1400"/>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9218"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Attractiveness to SAG NA: Positive</a:t>
            </a:r>
          </a:p>
        </p:txBody>
      </p:sp>
      <p:sp>
        <p:nvSpPr>
          <p:cNvPr id="9219"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Insurance is one of the “</a:t>
            </a:r>
            <a:r>
              <a:t>biggie</a:t>
            </a:r>
            <a:r>
              <a:t>” markets</a:t>
            </a:r>
          </a:p>
          <a:p>
            <a:pPr lvl="1"/>
            <a:r>
              <a:t>Industry focus by IBM, HP, Sun, SAP, and Microsoft</a:t>
            </a:r>
          </a:p>
          <a:p>
            <a:pPr lvl="1"/>
            <a:r>
              <a:t>Large, readily identifiable list of prospects.  Geographic distribution across the country.</a:t>
            </a:r>
          </a:p>
          <a:p>
            <a:pPr lvl="0"/>
            <a:r>
              <a:t>Business drivers and trends are compelling rapid changes in it to support new business initiatives</a:t>
            </a:r>
          </a:p>
          <a:p>
            <a:pPr lvl="0"/>
            <a:r>
              <a:t>Application issues are U.S-centric:  globalization does not matter much</a:t>
            </a:r>
          </a:p>
        </p:txBody>
      </p:sp>
      <p:sp>
        <p:nvSpPr>
          <p:cNvPr id="9220" name="Slide Number Placeholder 5"/>
          <p:cNvSpPr>
            <a:spLocks noGrp="1"/>
          </p:cNvSpPr>
          <p:nvPr>
            <p:ph type="sldNum" sz="quarter" idx="12"/>
          </p:nvPr>
        </p:nvSpPr>
        <p:spPr/>
        <p:txBody>
          <a:bodyPr/>
          <a:lstStyle/>
          <a:p>
            <a:pPr lvl="0" algn="r"/>
            <a:fld id="{28AADA83-8C81-4EB4-9991-EFB9A30E067D}" type="slidenum">
              <a:rPr sz="1400"/>
              <a:t>14</a:t>
            </a:fld>
            <a:endParaRPr lang="en-US"/>
          </a:p>
        </p:txBody>
      </p:sp>
      <p:sp>
        <p:nvSpPr>
          <p:cNvPr id="9221" name="Footer Placeholder 4"/>
          <p:cNvSpPr>
            <a:spLocks noGrp="1"/>
          </p:cNvSpPr>
          <p:nvPr>
            <p:ph type="ftr" sz="quarter" idx="11"/>
          </p:nvPr>
        </p:nvSpPr>
        <p:spPr/>
        <p:txBody>
          <a:bodyPr/>
          <a:lstStyle/>
          <a:p>
            <a:pPr lvl="0" algn="ctr"/>
            <a:fld id="{3DED663A-BC5E-493B-93B0-8245C4CB601E}" type="footer">
              <a:rPr sz="1400"/>
              <a:t>(c) Aberdeen Group, Inc.</a:t>
            </a:fld>
            <a:endParaRPr sz="1400"/>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5602"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Attractiveness to SAG NA: Positive</a:t>
            </a:r>
          </a:p>
        </p:txBody>
      </p:sp>
      <p:sp>
        <p:nvSpPr>
          <p:cNvPr id="25603"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Emergence of an electronic insurance supply chain is inevitable but will not happen over night</a:t>
            </a:r>
          </a:p>
          <a:p>
            <a:pPr lvl="1"/>
            <a:r>
              <a:t>Yes, software solutions connecting insurers, agencies, </a:t>
            </a:r>
            <a:r>
              <a:t>reinsurers</a:t>
            </a:r>
            <a:r>
              <a:t>, etc. are high value</a:t>
            </a:r>
          </a:p>
          <a:p>
            <a:pPr lvl="0"/>
            <a:r>
              <a:t>Major, long-standing appreciation of RAS, scalability, interoperability, security issues</a:t>
            </a:r>
          </a:p>
          <a:p>
            <a:pPr lvl="0"/>
            <a:r>
              <a:t>Large volumes of complex data and business processes: difficult data management problems</a:t>
            </a:r>
          </a:p>
          <a:p>
            <a:pPr lvl="0"/>
            <a:r>
              <a:t>Still a tendency to make rather than buy</a:t>
            </a:r>
          </a:p>
        </p:txBody>
      </p:sp>
      <p:sp>
        <p:nvSpPr>
          <p:cNvPr id="25604" name="Slide Number Placeholder 5"/>
          <p:cNvSpPr>
            <a:spLocks noGrp="1"/>
          </p:cNvSpPr>
          <p:nvPr>
            <p:ph type="sldNum" sz="quarter" idx="12"/>
          </p:nvPr>
        </p:nvSpPr>
        <p:spPr/>
        <p:txBody>
          <a:bodyPr/>
          <a:lstStyle/>
          <a:p>
            <a:pPr lvl="0" algn="r"/>
            <a:fld id="{2FF07EB1-8881-433B-8A72-2473FC7DA01F}" type="slidenum">
              <a:rPr sz="1400"/>
              <a:t>15</a:t>
            </a:fld>
            <a:endParaRPr lang="en-US"/>
          </a:p>
        </p:txBody>
      </p:sp>
      <p:sp>
        <p:nvSpPr>
          <p:cNvPr id="25605" name="Footer Placeholder 4"/>
          <p:cNvSpPr>
            <a:spLocks noGrp="1"/>
          </p:cNvSpPr>
          <p:nvPr>
            <p:ph type="ftr" sz="quarter" idx="11"/>
          </p:nvPr>
        </p:nvSpPr>
        <p:spPr/>
        <p:txBody>
          <a:bodyPr/>
          <a:lstStyle/>
          <a:p>
            <a:pPr lvl="0" algn="ctr"/>
            <a:fld id="{4AF4993A-23D1-4090-BFD0-26CE00C7E491}" type="footer">
              <a:rPr sz="1400"/>
              <a:t>(c) Aberdeen Group, Inc.</a:t>
            </a:fld>
            <a:endParaRPr sz="1400"/>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6626"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Attractiveness to SAG NA: Negative</a:t>
            </a:r>
          </a:p>
        </p:txBody>
      </p:sp>
      <p:sp>
        <p:nvSpPr>
          <p:cNvPr id="26627"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t>Where does SAG fit among legacy and new-breed data management and </a:t>
            </a:r>
            <a:r>
              <a:t>middleware</a:t>
            </a:r>
            <a:r>
              <a:t> choices?</a:t>
            </a:r>
          </a:p>
          <a:p>
            <a:pPr lvl="1"/>
            <a:r>
              <a:t>No new mainframe database managers</a:t>
            </a:r>
          </a:p>
          <a:p>
            <a:pPr lvl="1"/>
            <a:r>
              <a:t>Fighting SQL Server/DCOM head on</a:t>
            </a:r>
          </a:p>
          <a:p>
            <a:pPr lvl="0"/>
            <a:r>
              <a:t>New application projects typically involve $10 million to $200 million in costs (IT only part).  Take years to complete.  Outside integrators.</a:t>
            </a:r>
          </a:p>
          <a:p>
            <a:pPr lvl="0"/>
            <a:r>
              <a:t>Middleware standard-based products are immature</a:t>
            </a:r>
          </a:p>
          <a:p>
            <a:pPr lvl="0"/>
            <a:r>
              <a:t>Need for ISV support</a:t>
            </a:r>
          </a:p>
        </p:txBody>
      </p:sp>
      <p:sp>
        <p:nvSpPr>
          <p:cNvPr id="26628" name="Slide Number Placeholder 5"/>
          <p:cNvSpPr>
            <a:spLocks noGrp="1"/>
          </p:cNvSpPr>
          <p:nvPr>
            <p:ph type="sldNum" sz="quarter" idx="12"/>
          </p:nvPr>
        </p:nvSpPr>
        <p:spPr/>
        <p:txBody>
          <a:bodyPr/>
          <a:lstStyle/>
          <a:p>
            <a:pPr lvl="0" algn="r"/>
            <a:fld id="{9ACF651F-8725-4602-8190-2E1D0CF3AC05}" type="slidenum">
              <a:rPr sz="1400"/>
              <a:t>16</a:t>
            </a:fld>
            <a:endParaRPr lang="en-US"/>
          </a:p>
        </p:txBody>
      </p:sp>
      <p:sp>
        <p:nvSpPr>
          <p:cNvPr id="26629" name="Footer Placeholder 4"/>
          <p:cNvSpPr>
            <a:spLocks noGrp="1"/>
          </p:cNvSpPr>
          <p:nvPr>
            <p:ph type="ftr" sz="quarter" idx="11"/>
          </p:nvPr>
        </p:nvSpPr>
        <p:spPr/>
        <p:txBody>
          <a:bodyPr/>
          <a:lstStyle/>
          <a:p>
            <a:pPr lvl="0" algn="ctr"/>
            <a:fld id="{1BBC3345-EE9F-4123-8A45-DBE50A8A1441}" type="footer">
              <a:rPr sz="1400"/>
              <a:t>(c) Aberdeen Group, Inc.</a:t>
            </a:fld>
            <a:endParaRPr sz="1400"/>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8674"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Questions Insurers Will Ask</a:t>
            </a:r>
          </a:p>
        </p:txBody>
      </p:sp>
      <p:sp>
        <p:nvSpPr>
          <p:cNvPr id="28675"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lnSpc>
                <a:spcPct val="90000"/>
              </a:lnSpc>
            </a:pPr>
            <a:r>
              <a:t>Where has SOM been in operation for a year at an insurance company?</a:t>
            </a:r>
          </a:p>
          <a:p>
            <a:pPr lvl="0">
              <a:lnSpc>
                <a:spcPct val="90000"/>
              </a:lnSpc>
            </a:pPr>
            <a:r>
              <a:t>How could SOM possibly be plug-and-play into my legacy applications?  That’s ridiculous.</a:t>
            </a:r>
          </a:p>
          <a:p>
            <a:pPr lvl="0">
              <a:lnSpc>
                <a:spcPct val="90000"/>
              </a:lnSpc>
            </a:pPr>
            <a:r>
              <a:t>I cannot afford the [network bandwidth/security/ response time penalty/etc.] of SOM.</a:t>
            </a:r>
          </a:p>
          <a:p>
            <a:pPr lvl="0">
              <a:lnSpc>
                <a:spcPct val="90000"/>
              </a:lnSpc>
            </a:pPr>
            <a:r>
              <a:t>I only deal with six [five, ten] strategic suppliers and SAGA is not on the list.</a:t>
            </a:r>
          </a:p>
          <a:p>
            <a:pPr lvl="0">
              <a:lnSpc>
                <a:spcPct val="90000"/>
              </a:lnSpc>
            </a:pPr>
            <a:r>
              <a:t>What makes you think that SAGA can out </a:t>
            </a:r>
            <a:r>
              <a:t>middleware </a:t>
            </a:r>
            <a:r>
              <a:t>IBM and Microsoft?</a:t>
            </a:r>
          </a:p>
        </p:txBody>
      </p:sp>
      <p:sp>
        <p:nvSpPr>
          <p:cNvPr id="28676" name="Slide Number Placeholder 5"/>
          <p:cNvSpPr>
            <a:spLocks noGrp="1"/>
          </p:cNvSpPr>
          <p:nvPr>
            <p:ph type="sldNum" sz="quarter" idx="12"/>
          </p:nvPr>
        </p:nvSpPr>
        <p:spPr/>
        <p:txBody>
          <a:bodyPr/>
          <a:lstStyle/>
          <a:p>
            <a:pPr lvl="0" algn="r"/>
            <a:fld id="{ECECBA60-A516-4159-A148-6463385F04B8}" type="slidenum">
              <a:rPr sz="1400"/>
              <a:t>17</a:t>
            </a:fld>
            <a:endParaRPr lang="en-US"/>
          </a:p>
        </p:txBody>
      </p:sp>
      <p:sp>
        <p:nvSpPr>
          <p:cNvPr id="28677" name="Footer Placeholder 4"/>
          <p:cNvSpPr>
            <a:spLocks noGrp="1"/>
          </p:cNvSpPr>
          <p:nvPr>
            <p:ph type="ftr" sz="quarter" idx="11"/>
          </p:nvPr>
        </p:nvSpPr>
        <p:spPr/>
        <p:txBody>
          <a:bodyPr/>
          <a:lstStyle/>
          <a:p>
            <a:pPr lvl="0" algn="ctr"/>
            <a:fld id="{8C57A8A2-218E-4B2D-8610-6FC4D3FC369B}" type="footer">
              <a:rPr sz="1400"/>
              <a:t>(c) Aberdeen Group, Inc.</a:t>
            </a:fld>
            <a:endParaRPr sz="1400"/>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7650" name=""/>
          <p:cNvSpPr/>
          <p:nvPr>
            <p:ph type="title"/>
          </p:nvPr>
        </p:nvSpPr>
        <p:spPr>
          <a:xfrm>
            <a:off x="685800" y="609600"/>
            <a:ext cx="7772400" cy="1143000"/>
          </a:xfrm>
          <a:noFill/>
          <a:ln>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baseline="0">
                <a:solidFill>
                  <a:schemeClr val="tx2"/>
                </a:solidFill>
                <a:effectLst/>
                <a:latin typeface="Times New Roman" pitchFamily="18" charset="0"/>
              </a:defRPr>
            </a:lvl1pPr>
          </a:lstStyle>
          <a:p>
            <a:pPr lvl="0"/>
            <a:r>
              <a:t>Partner Possibilities</a:t>
            </a:r>
          </a:p>
        </p:txBody>
      </p:sp>
      <p:sp>
        <p:nvSpPr>
          <p:cNvPr id="27651" name=""/>
          <p:cNvSpPr/>
          <p:nvPr>
            <p:ph type="body" idx="1"/>
          </p:nvPr>
        </p:nvSpPr>
        <p:spPr>
          <a:xfrm>
            <a:off x="685800" y="1981200"/>
            <a:ext cx="7772400" cy="4114800"/>
          </a:xfrm>
          <a:noFill/>
          <a:ln>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Times New Roman" pitchFamily="18"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Times New Roman" pitchFamily="18"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Times New Roman" pitchFamily="18"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1800" b="0" i="0" u="none" baseline="0">
                <a:solidFill>
                  <a:schemeClr val="tx1"/>
                </a:solidFill>
                <a:effectLst/>
                <a:latin typeface="Times New Roman" pitchFamily="18" charset="0"/>
              </a:defRPr>
            </a:lvl5pPr>
          </a:lstStyle>
          <a:p>
            <a:pPr lvl="0"/>
            <a:r>
              <a:rPr sz="2000"/>
              <a:t>Property &amp; Casualty</a:t>
            </a:r>
            <a:endParaRPr sz="2000"/>
          </a:p>
          <a:p>
            <a:pPr lvl="1"/>
            <a:r>
              <a:rPr sz="1800"/>
              <a:t>Agena	</a:t>
            </a:r>
            <a:r>
              <a:rPr sz="1800"/>
              <a:t>		PRC</a:t>
            </a:r>
            <a:endParaRPr sz="1800"/>
          </a:p>
          <a:p>
            <a:pPr lvl="1"/>
            <a:r>
              <a:rPr sz="1800"/>
              <a:t>AMS			</a:t>
            </a:r>
            <a:r>
              <a:rPr sz="1800"/>
              <a:t>Allenbrook</a:t>
            </a:r>
            <a:endParaRPr sz="1800"/>
          </a:p>
          <a:p>
            <a:pPr lvl="1"/>
            <a:r>
              <a:rPr sz="1800"/>
              <a:t>Applied			PMSC</a:t>
            </a:r>
            <a:endParaRPr sz="1800"/>
          </a:p>
          <a:p>
            <a:pPr lvl="0"/>
            <a:r>
              <a:rPr sz="2000"/>
              <a:t>Life</a:t>
            </a:r>
            <a:endParaRPr sz="2000"/>
          </a:p>
          <a:p>
            <a:pPr lvl="1"/>
            <a:r>
              <a:rPr sz="1800"/>
              <a:t>Continuum		</a:t>
            </a:r>
            <a:r>
              <a:rPr sz="1800"/>
              <a:t>	Cybertek</a:t>
            </a:r>
            <a:endParaRPr sz="1800"/>
          </a:p>
          <a:p>
            <a:pPr lvl="1"/>
            <a:r>
              <a:rPr sz="1800"/>
              <a:t>FDP			EZ Data</a:t>
            </a:r>
            <a:endParaRPr sz="1800"/>
          </a:p>
          <a:p>
            <a:pPr lvl="1"/>
            <a:r>
              <a:rPr sz="1800"/>
              <a:t>Sterling </a:t>
            </a:r>
            <a:r>
              <a:rPr sz="1800"/>
              <a:t>Wentworth	</a:t>
            </a:r>
            <a:r>
              <a:rPr sz="1800"/>
              <a:t>	ECTA</a:t>
            </a:r>
            <a:endParaRPr sz="1800"/>
          </a:p>
          <a:p>
            <a:pPr lvl="0"/>
            <a:r>
              <a:rPr sz="2000"/>
              <a:t>Integrators</a:t>
            </a:r>
            <a:endParaRPr sz="2000"/>
          </a:p>
          <a:p>
            <a:pPr lvl="1"/>
            <a:r>
              <a:rPr sz="1800"/>
              <a:t>Andersen			EDS</a:t>
            </a:r>
            <a:endParaRPr sz="1800"/>
          </a:p>
          <a:p>
            <a:pPr lvl="1"/>
            <a:r>
              <a:rPr sz="1800"/>
              <a:t>Deloitte </a:t>
            </a:r>
            <a:r>
              <a:rPr sz="1800"/>
              <a:t>&amp; </a:t>
            </a:r>
            <a:r>
              <a:rPr sz="1800"/>
              <a:t>Touche	</a:t>
            </a:r>
            <a:r>
              <a:rPr sz="1800"/>
              <a:t>	MCI SHL</a:t>
            </a:r>
            <a:endParaRPr sz="1800"/>
          </a:p>
        </p:txBody>
      </p:sp>
      <p:sp>
        <p:nvSpPr>
          <p:cNvPr id="27652" name="Slide Number Placeholder 5"/>
          <p:cNvSpPr>
            <a:spLocks noGrp="1"/>
          </p:cNvSpPr>
          <p:nvPr>
            <p:ph type="sldNum" sz="quarter" idx="12"/>
          </p:nvPr>
        </p:nvSpPr>
        <p:spPr/>
        <p:txBody>
          <a:bodyPr/>
          <a:lstStyle/>
          <a:p>
            <a:pPr lvl="0" algn="r"/>
            <a:fld id="{6F0F92FE-B4E5-4C44-9C17-7BD41520B325}" type="slidenum">
              <a:rPr sz="1400"/>
              <a:t>18</a:t>
            </a:fld>
            <a:endParaRPr lang="en-US"/>
          </a:p>
        </p:txBody>
      </p:sp>
      <p:sp>
        <p:nvSpPr>
          <p:cNvPr id="27653" name="Footer Placeholder 4"/>
          <p:cNvSpPr>
            <a:spLocks noGrp="1"/>
          </p:cNvSpPr>
          <p:nvPr>
            <p:ph type="ftr" sz="quarter" idx="11"/>
          </p:nvPr>
        </p:nvSpPr>
        <p:spPr/>
        <p:txBody>
          <a:bodyPr/>
          <a:lstStyle/>
          <a:p>
            <a:pPr lvl="0" algn="ctr"/>
            <a:fld id="{FC93B748-3E18-4A04-A37B-B165FAA63433}" type="footer">
              <a:rPr sz="1400"/>
              <a:t>(c) Aberdeen Group, Inc.</a:t>
            </a:fld>
            <a:endParaRPr sz="1400"/>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0.06.14"/>
  <p:tag name="AS_TITLE" val="Aspose.Slides for .NET 2.0"/>
  <p:tag name="AS_VERSION" val="20.6"/>
</p:tagLst>
</file>

<file path=ppt/theme/theme1.xml><?xml version="1.0" encoding="utf-8"?>
<a:theme xmlns:r="http://schemas.openxmlformats.org/officeDocument/2006/relationships" xmlns:a="http://schemas.openxmlformats.org/drawingml/2006/main" name="Blank Presentation.pot">
  <a:themeElements>
    <a:clrScheme name="Blank Presentation.pot 1">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Blank Presentation.pot">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9BBB59"/>
        </a:accent3>
        <a:accent4>
          <a:srgbClr val="8064A2"/>
        </a:accent4>
        <a:accent5>
          <a:srgbClr val="4BACC6"/>
        </a:accent5>
        <a:accent6>
          <a:srgbClr val="F79646"/>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9BBB59"/>
        </a:accent3>
        <a:accent4>
          <a:srgbClr val="8064A2"/>
        </a:accent4>
        <a:accent5>
          <a:srgbClr val="4BACC6"/>
        </a:accent5>
        <a:accent6>
          <a:srgbClr val="F79646"/>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9BBB59"/>
        </a:accent3>
        <a:accent4>
          <a:srgbClr val="8064A2"/>
        </a:accent4>
        <a:accent5>
          <a:srgbClr val="4BACC6"/>
        </a:accent5>
        <a:accent6>
          <a:srgbClr val="F79646"/>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9BBB59"/>
        </a:accent3>
        <a:accent4>
          <a:srgbClr val="8064A2"/>
        </a:accent4>
        <a:accent5>
          <a:srgbClr val="4BACC6"/>
        </a:accent5>
        <a:accent6>
          <a:srgbClr val="F79646"/>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9BBB59"/>
        </a:accent3>
        <a:accent4>
          <a:srgbClr val="8064A2"/>
        </a:accent4>
        <a:accent5>
          <a:srgbClr val="4BACC6"/>
        </a:accent5>
        <a:accent6>
          <a:srgbClr val="F79646"/>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9BBB59"/>
        </a:accent3>
        <a:accent4>
          <a:srgbClr val="8064A2"/>
        </a:accent4>
        <a:accent5>
          <a:srgbClr val="4BACC6"/>
        </a:accent5>
        <a:accent6>
          <a:srgbClr val="F79646"/>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Aberdeen Group, Inc.</Company>
  <PresentationFormat>Letter Paper (8.5x11 in)</PresentationFormat>
  <Paragraphs>162</Paragraphs>
  <Slides>18</Slides>
  <Notes>3</Notes>
  <TotalTime>573</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18</vt:i4>
      </vt:variant>
    </vt:vector>
  </HeadingPairs>
  <TitlesOfParts>
    <vt:vector baseType="lpstr" size="23">
      <vt:lpstr>Arial</vt:lpstr>
      <vt:lpstr>Times New Roman</vt:lpstr>
      <vt:lpstr>Book Antiqua</vt:lpstr>
      <vt:lpstr>Calibri</vt:lpstr>
      <vt:lpstr>Blank Presentation.pot</vt:lpstr>
      <vt:lpstr>U.S. Insurance Industry Overview</vt:lpstr>
      <vt:lpstr>Agenda</vt:lpstr>
      <vt:lpstr>Market Segmentation</vt:lpstr>
      <vt:lpstr>Business Drivers</vt:lpstr>
      <vt:lpstr>Business Drivers	</vt:lpstr>
      <vt:lpstr>Industry Trends</vt:lpstr>
      <vt:lpstr>Industry Trends</vt:lpstr>
      <vt:lpstr>Technology in Insurance</vt:lpstr>
      <vt:lpstr>Technology in Insurance</vt:lpstr>
      <vt:lpstr>Technology in Insurance</vt:lpstr>
      <vt:lpstr>Technology Problem Example</vt:lpstr>
      <vt:lpstr>3-Tier Application Example:Insurance Claims</vt:lpstr>
      <vt:lpstr>3-Tier Application Example:Information Flow</vt:lpstr>
      <vt:lpstr>Attractiveness to SAG NA: Positive</vt:lpstr>
      <vt:lpstr>Attractiveness to SAG NA: Positive</vt:lpstr>
      <vt:lpstr>Attractiveness to SAG NA: Negative</vt:lpstr>
      <vt:lpstr>Questions Insurers Will Ask</vt:lpstr>
      <vt:lpstr>Partner Possibilities</vt:lpstr>
    </vt:vector>
  </TitlesOfParts>
  <LinksUpToDate>0</LinksUpToDate>
  <SharedDoc>0</SharedDoc>
  <HyperlinksChanged>0</HyperlinksChanged>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U.S. Insurance Industry Overview</dc:title>
  <cp:category>overview client presentation</cp:category>
  <cp:keywords>insurance SAG SAGNA vertical</cp:keywords>
  <cp:revision>5</cp:revision>
  <cp:lastPrinted>1998-08-25T21:20:43.250</cp:lastPrinted>
  <dcterms:created xsi:type="dcterms:W3CDTF">1998-08-25T11:54:12Z</dcterms:created>
  <dcterms:modified xsi:type="dcterms:W3CDTF">2024-06-14T01:49:19Z</dcterms:modified>
</cp:coreProperties>
</file>